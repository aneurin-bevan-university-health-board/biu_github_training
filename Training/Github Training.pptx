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40"/>
  </p:notesMasterIdLst>
  <p:sldIdLst>
    <p:sldId id="275" r:id="rId5"/>
    <p:sldId id="257" r:id="rId6"/>
    <p:sldId id="281" r:id="rId7"/>
    <p:sldId id="276" r:id="rId8"/>
    <p:sldId id="277" r:id="rId9"/>
    <p:sldId id="278" r:id="rId10"/>
    <p:sldId id="310" r:id="rId11"/>
    <p:sldId id="279" r:id="rId12"/>
    <p:sldId id="291" r:id="rId13"/>
    <p:sldId id="280" r:id="rId14"/>
    <p:sldId id="282" r:id="rId15"/>
    <p:sldId id="283" r:id="rId16"/>
    <p:sldId id="284" r:id="rId17"/>
    <p:sldId id="285" r:id="rId18"/>
    <p:sldId id="286" r:id="rId19"/>
    <p:sldId id="289" r:id="rId20"/>
    <p:sldId id="287" r:id="rId21"/>
    <p:sldId id="302" r:id="rId22"/>
    <p:sldId id="304" r:id="rId23"/>
    <p:sldId id="305" r:id="rId24"/>
    <p:sldId id="306" r:id="rId25"/>
    <p:sldId id="290" r:id="rId26"/>
    <p:sldId id="292" r:id="rId27"/>
    <p:sldId id="293" r:id="rId28"/>
    <p:sldId id="296" r:id="rId29"/>
    <p:sldId id="295" r:id="rId30"/>
    <p:sldId id="297" r:id="rId31"/>
    <p:sldId id="298" r:id="rId32"/>
    <p:sldId id="299" r:id="rId33"/>
    <p:sldId id="303" r:id="rId34"/>
    <p:sldId id="300" r:id="rId35"/>
    <p:sldId id="301" r:id="rId36"/>
    <p:sldId id="309" r:id="rId37"/>
    <p:sldId id="307" r:id="rId38"/>
    <p:sldId id="308" r:id="rId3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DAF75"/>
    <a:srgbClr val="0B385B"/>
    <a:srgbClr val="FAD776"/>
    <a:srgbClr val="63519D"/>
    <a:srgbClr val="E49BC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00" autoAdjust="0"/>
    <p:restoredTop sz="94694"/>
  </p:normalViewPr>
  <p:slideViewPr>
    <p:cSldViewPr snapToGrid="0">
      <p:cViewPr varScale="1">
        <p:scale>
          <a:sx n="84" d="100"/>
          <a:sy n="84" d="100"/>
        </p:scale>
        <p:origin x="86" y="21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viewProps" Target="viewProp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41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theme" Target="theme/theme1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32262E1-CA21-AE4E-AE29-A941BAF2DC72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EFCD1ED-23FB-224B-B8BA-A58BC26816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65002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9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 option (dark) no photo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85E0CB-D8FB-C00F-8107-B01AC13E8323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58704" y="2427434"/>
            <a:ext cx="6439776" cy="1661993"/>
          </a:xfrm>
        </p:spPr>
        <p:txBody>
          <a:bodyPr wrap="square" anchor="t" anchorCtr="0"/>
          <a:lstStyle>
            <a:lvl1pPr algn="l">
              <a:defRPr sz="6000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PowerPoint </a:t>
            </a:r>
            <a:br>
              <a:rPr lang="en-GB" dirty="0"/>
            </a:br>
            <a:r>
              <a:rPr lang="en-GB" dirty="0"/>
              <a:t>Presentation Title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317533-EFA9-EA0B-1841-A6DA2710B1E9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58705" y="1830388"/>
            <a:ext cx="6439775" cy="387798"/>
          </a:xfrm>
        </p:spPr>
        <p:txBody>
          <a:bodyPr wrap="square" lIns="0" tIns="0" rIns="0" bIns="0">
            <a:sp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en-GB" smtClean="0">
                <a:solidFill>
                  <a:srgbClr val="FAD776"/>
                </a:solidFill>
                <a:effectLst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>
                <a:effectLst/>
                <a:latin typeface="Helvetica Neue" panose="02000503000000020004" pitchFamily="2" charset="0"/>
              </a:rPr>
              <a:t>Aneurin Bevan University Health Board</a:t>
            </a:r>
            <a:endParaRPr lang="en-US" dirty="0"/>
          </a:p>
        </p:txBody>
      </p:sp>
      <p:pic>
        <p:nvPicPr>
          <p:cNvPr id="11" name="Picture 10" descr="A black and white logo&#10;&#10;AI-generated content may be incorrect.">
            <a:extLst>
              <a:ext uri="{FF2B5EF4-FFF2-40B4-BE49-F238E27FC236}">
                <a16:creationId xmlns:a16="http://schemas.microsoft.com/office/drawing/2014/main" id="{23B2AB24-CA51-8D23-49C3-8D67F07820A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900" y="432105"/>
            <a:ext cx="2644321" cy="757159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C51AFF80-D9DE-5C46-0B11-12822EF42B3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2835797" y="5321039"/>
            <a:ext cx="23729487" cy="1501228"/>
          </a:xfrm>
          <a:prstGeom prst="rect">
            <a:avLst/>
          </a:prstGeom>
        </p:spPr>
      </p:pic>
      <p:pic>
        <p:nvPicPr>
          <p:cNvPr id="23" name="Picture 22" descr="A black background with white text&#10;&#10;AI-generated content may be incorrect.">
            <a:extLst>
              <a:ext uri="{FF2B5EF4-FFF2-40B4-BE49-F238E27FC236}">
                <a16:creationId xmlns:a16="http://schemas.microsoft.com/office/drawing/2014/main" id="{44A5E99E-4B26-A376-69F2-FE25CECD1203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9541809" y="405330"/>
            <a:ext cx="2053291" cy="79049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A2BFC18-856D-5CBD-0918-7748DEB5A0C7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4706815" y="443852"/>
            <a:ext cx="2778370" cy="733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25907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 option (light) no photo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85E0CB-D8FB-C00F-8107-B01AC13E8323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58704" y="2427434"/>
            <a:ext cx="6439776" cy="1661993"/>
          </a:xfrm>
        </p:spPr>
        <p:txBody>
          <a:bodyPr wrap="square" anchor="t" anchorCtr="0"/>
          <a:lstStyle>
            <a:lvl1pPr algn="l">
              <a:defRPr sz="600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PowerPoint </a:t>
            </a:r>
            <a:br>
              <a:rPr lang="en-GB" dirty="0"/>
            </a:br>
            <a:r>
              <a:rPr lang="en-GB" dirty="0"/>
              <a:t>Presentation Title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317533-EFA9-EA0B-1841-A6DA2710B1E9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58705" y="1830388"/>
            <a:ext cx="7364759" cy="387798"/>
          </a:xfrm>
        </p:spPr>
        <p:txBody>
          <a:bodyPr wrap="square" lIns="0" tIns="0" rIns="0" bIns="0">
            <a:sp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en-GB" smtClean="0">
                <a:solidFill>
                  <a:schemeClr val="accent1"/>
                </a:solidFill>
                <a:effectLst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>
                <a:effectLst/>
                <a:latin typeface="Helvetica Neue" panose="02000503000000020004" pitchFamily="2" charset="0"/>
              </a:rPr>
              <a:t>Aneurin Bevan University Health Board</a:t>
            </a:r>
            <a:endParaRPr lang="en-US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3B2AB24-CA51-8D23-49C3-8D67F07820A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596900" y="432105"/>
            <a:ext cx="2644320" cy="75715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5286814-48D4-B22F-0E52-B1F83C5623F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 flipH="1">
            <a:off x="-91417" y="5989430"/>
            <a:ext cx="12283417" cy="75715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698FEBA1-31B0-6AC1-A261-11A3ED6DA979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8886371" y="3771900"/>
            <a:ext cx="3305629" cy="330562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080FA61-AA35-4648-B51B-4E12FE8CBE32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rcRect/>
          <a:stretch/>
        </p:blipFill>
        <p:spPr>
          <a:xfrm>
            <a:off x="9541809" y="405330"/>
            <a:ext cx="2053290" cy="79049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1DAF3F5-5953-7939-9748-B1A3181E39C0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4742809" y="453357"/>
            <a:ext cx="2706382" cy="7146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86046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option (light) with photo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6289C33A-DB41-56FF-AFEF-307981591E8D}"/>
              </a:ext>
            </a:extLst>
          </p:cNvPr>
          <p:cNvSpPr>
            <a:spLocks noGrp="1"/>
          </p:cNvSpPr>
          <p:nvPr>
            <p:ph type="pic" idx="10"/>
          </p:nvPr>
        </p:nvSpPr>
        <p:spPr>
          <a:xfrm>
            <a:off x="70" y="-3"/>
            <a:ext cx="6095930" cy="6706895"/>
          </a:xfrm>
          <a:prstGeom prst="round1Rect">
            <a:avLst>
              <a:gd name="adj" fmla="val 50000"/>
            </a:avLst>
          </a:prstGeom>
          <a:solidFill>
            <a:srgbClr val="FAD776"/>
          </a:solidFill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485E0CB-D8FB-C00F-8107-B01AC13E8323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621024" y="2427434"/>
            <a:ext cx="4819136" cy="3089446"/>
          </a:xfrm>
        </p:spPr>
        <p:txBody>
          <a:bodyPr wrap="square" anchor="t" anchorCtr="0"/>
          <a:lstStyle>
            <a:lvl1pPr algn="l">
              <a:defRPr sz="600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PowerPoint </a:t>
            </a:r>
            <a:br>
              <a:rPr lang="en-GB" dirty="0"/>
            </a:br>
            <a:r>
              <a:rPr lang="en-GB" dirty="0"/>
              <a:t>Presentation Title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317533-EFA9-EA0B-1841-A6DA2710B1E9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621025" y="1830388"/>
            <a:ext cx="4819135" cy="276999"/>
          </a:xfrm>
        </p:spPr>
        <p:txBody>
          <a:bodyPr wrap="square" lIns="0" tIns="0" rIns="0" bIns="0">
            <a:sp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en-GB" sz="2000" smtClean="0">
                <a:solidFill>
                  <a:schemeClr val="accent1"/>
                </a:solidFill>
                <a:effectLst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>
                <a:effectLst/>
                <a:latin typeface="Helvetica Neue" panose="02000503000000020004" pitchFamily="2" charset="0"/>
              </a:rPr>
              <a:t>Aneurin Bevan University Health Board</a:t>
            </a:r>
            <a:endParaRPr lang="en-US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3B2AB24-CA51-8D23-49C3-8D67F07820A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6459220" y="432105"/>
            <a:ext cx="2644320" cy="75715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5286814-48D4-B22F-0E52-B1F83C5623F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 flipH="1">
            <a:off x="-91417" y="5989430"/>
            <a:ext cx="12283417" cy="75715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2631792-8D3A-463A-6DD3-1A42DEF4D5E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9357941" y="453357"/>
            <a:ext cx="2706382" cy="7146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86598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option (dark) with photo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FD395C-5094-16BA-B866-A9ED30B1F73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096000" y="1"/>
            <a:ext cx="6096000" cy="6711884"/>
          </a:xfrm>
          <a:prstGeom prst="snipRoundRect">
            <a:avLst>
              <a:gd name="adj1" fmla="val 50000"/>
              <a:gd name="adj2" fmla="val 0"/>
            </a:avLst>
          </a:prstGeom>
          <a:solidFill>
            <a:srgbClr val="FAD776"/>
          </a:solidFill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E3FE22-FEEC-E123-EBEA-B0E8520638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12DB22-CD1B-7D4A-9134-ED9E1C953465}" type="slidenum">
              <a:rPr lang="en-US" smtClean="0"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5ECAB12-408B-9A06-65BD-830E6E0A645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58704" y="2427434"/>
            <a:ext cx="4941056" cy="3028486"/>
          </a:xfrm>
        </p:spPr>
        <p:txBody>
          <a:bodyPr wrap="square" anchor="t" anchorCtr="0"/>
          <a:lstStyle>
            <a:lvl1pPr algn="l">
              <a:defRPr sz="6000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PowerPoint </a:t>
            </a:r>
            <a:br>
              <a:rPr lang="en-GB" dirty="0"/>
            </a:br>
            <a:r>
              <a:rPr lang="en-GB" dirty="0"/>
              <a:t>Presentation Title</a:t>
            </a:r>
            <a:endParaRPr lang="en-US" dirty="0"/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376C3EB0-2C86-E39B-4469-BB0D2EEBD64D}"/>
              </a:ext>
            </a:extLst>
          </p:cNvPr>
          <p:cNvSpPr>
            <a:spLocks noGrp="1"/>
          </p:cNvSpPr>
          <p:nvPr>
            <p:ph type="subTitle" idx="13" hasCustomPrompt="1"/>
          </p:nvPr>
        </p:nvSpPr>
        <p:spPr>
          <a:xfrm>
            <a:off x="758705" y="1830389"/>
            <a:ext cx="4504175" cy="276999"/>
          </a:xfrm>
        </p:spPr>
        <p:txBody>
          <a:bodyPr wrap="square" lIns="0" tIns="0" rIns="0" bIns="0">
            <a:sp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en-GB" sz="2000" smtClean="0">
                <a:solidFill>
                  <a:srgbClr val="FAD776"/>
                </a:solidFill>
                <a:effectLst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>
                <a:effectLst/>
                <a:latin typeface="Helvetica Neue" panose="02000503000000020004" pitchFamily="2" charset="0"/>
              </a:rPr>
              <a:t>Aneurin Bevan University Health Board</a:t>
            </a:r>
            <a:endParaRPr lang="en-US" dirty="0"/>
          </a:p>
        </p:txBody>
      </p:sp>
      <p:pic>
        <p:nvPicPr>
          <p:cNvPr id="5" name="Picture 4" descr="A black and white logo&#10;&#10;AI-generated content may be incorrect.">
            <a:extLst>
              <a:ext uri="{FF2B5EF4-FFF2-40B4-BE49-F238E27FC236}">
                <a16:creationId xmlns:a16="http://schemas.microsoft.com/office/drawing/2014/main" id="{D5B8DBDA-E8E2-15C5-CC34-3689522DEE4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900" y="432105"/>
            <a:ext cx="2644321" cy="75715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3C4C54B-22FC-E090-FC75-BA3A380940A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3425596" y="5822841"/>
            <a:ext cx="15315850" cy="96894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EB833A0-B39F-F35C-D346-B4680D668C3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3801207" y="443852"/>
            <a:ext cx="2778370" cy="733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34329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x bullet slide with single graph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FD395C-5094-16BA-B866-A9ED30B1F73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4100" y="1880579"/>
            <a:ext cx="4423799" cy="405723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E3FE22-FEEC-E123-EBEA-B0E8520638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12DB22-CD1B-7D4A-9134-ED9E1C953465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30C4A556-4255-638B-687F-64A72B9327D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264" y="1880579"/>
            <a:ext cx="2471895" cy="317367"/>
          </a:xfrm>
        </p:spPr>
        <p:txBody>
          <a:bodyPr wrap="square">
            <a:noAutofit/>
          </a:bodyPr>
          <a:lstStyle>
            <a:lvl1pPr>
              <a:defRPr sz="1800" b="1">
                <a:solidFill>
                  <a:schemeClr val="accent6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3" name="Text Placeholder 5">
            <a:extLst>
              <a:ext uri="{FF2B5EF4-FFF2-40B4-BE49-F238E27FC236}">
                <a16:creationId xmlns:a16="http://schemas.microsoft.com/office/drawing/2014/main" id="{C1CC5098-97E1-9DE1-7210-434D630124C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37934" y="2297913"/>
            <a:ext cx="2471894" cy="740442"/>
          </a:xfrm>
        </p:spPr>
        <p:txBody>
          <a:bodyPr wrap="square">
            <a:noAutofit/>
          </a:bodyPr>
          <a:lstStyle>
            <a:lvl1pPr>
              <a:defRPr sz="1400"/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28" name="Title Placeholder 1">
            <a:extLst>
              <a:ext uri="{FF2B5EF4-FFF2-40B4-BE49-F238E27FC236}">
                <a16:creationId xmlns:a16="http://schemas.microsoft.com/office/drawing/2014/main" id="{1A222C92-A3C6-6AAE-9009-24FAA96673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04455"/>
            <a:ext cx="6360716" cy="498598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9" name="Text Placeholder 3">
            <a:extLst>
              <a:ext uri="{FF2B5EF4-FFF2-40B4-BE49-F238E27FC236}">
                <a16:creationId xmlns:a16="http://schemas.microsoft.com/office/drawing/2014/main" id="{6CB6D972-E386-76E5-62A4-40145CE8D886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38264" y="3338989"/>
            <a:ext cx="2471895" cy="317367"/>
          </a:xfrm>
        </p:spPr>
        <p:txBody>
          <a:bodyPr wrap="square">
            <a:noAutofit/>
          </a:bodyPr>
          <a:lstStyle>
            <a:lvl1pPr>
              <a:defRPr sz="1800" b="1">
                <a:solidFill>
                  <a:schemeClr val="accent6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0" name="Text Placeholder 5">
            <a:extLst>
              <a:ext uri="{FF2B5EF4-FFF2-40B4-BE49-F238E27FC236}">
                <a16:creationId xmlns:a16="http://schemas.microsoft.com/office/drawing/2014/main" id="{4A8932F6-EE2D-94AF-624D-83A4F26D9B93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37934" y="3798071"/>
            <a:ext cx="2471894" cy="740442"/>
          </a:xfrm>
        </p:spPr>
        <p:txBody>
          <a:bodyPr wrap="square">
            <a:noAutofit/>
          </a:bodyPr>
          <a:lstStyle>
            <a:lvl1pPr>
              <a:defRPr sz="1400"/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1" name="Text Placeholder 3">
            <a:extLst>
              <a:ext uri="{FF2B5EF4-FFF2-40B4-BE49-F238E27FC236}">
                <a16:creationId xmlns:a16="http://schemas.microsoft.com/office/drawing/2014/main" id="{F964AB2C-80B6-3776-AFFA-B0BCF41E37AE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838264" y="4797399"/>
            <a:ext cx="2471895" cy="317367"/>
          </a:xfrm>
        </p:spPr>
        <p:txBody>
          <a:bodyPr wrap="square">
            <a:noAutofit/>
          </a:bodyPr>
          <a:lstStyle>
            <a:lvl1pPr>
              <a:defRPr sz="1800" b="1">
                <a:solidFill>
                  <a:schemeClr val="accent6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2" name="Text Placeholder 5">
            <a:extLst>
              <a:ext uri="{FF2B5EF4-FFF2-40B4-BE49-F238E27FC236}">
                <a16:creationId xmlns:a16="http://schemas.microsoft.com/office/drawing/2014/main" id="{6AEFD41F-9490-6DA5-246F-881A550D26D4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837934" y="5217546"/>
            <a:ext cx="2471894" cy="740442"/>
          </a:xfrm>
        </p:spPr>
        <p:txBody>
          <a:bodyPr wrap="square">
            <a:noAutofit/>
          </a:bodyPr>
          <a:lstStyle>
            <a:lvl1pPr>
              <a:defRPr sz="1400"/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3" name="Text Placeholder 3">
            <a:extLst>
              <a:ext uri="{FF2B5EF4-FFF2-40B4-BE49-F238E27FC236}">
                <a16:creationId xmlns:a16="http://schemas.microsoft.com/office/drawing/2014/main" id="{A484361A-8FF6-137E-1E60-288206AF8C93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882669" y="1880579"/>
            <a:ext cx="2471895" cy="317367"/>
          </a:xfrm>
        </p:spPr>
        <p:txBody>
          <a:bodyPr wrap="square">
            <a:noAutofit/>
          </a:bodyPr>
          <a:lstStyle>
            <a:lvl1pPr>
              <a:defRPr sz="1800" b="1">
                <a:solidFill>
                  <a:schemeClr val="accent6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4" name="Text Placeholder 5">
            <a:extLst>
              <a:ext uri="{FF2B5EF4-FFF2-40B4-BE49-F238E27FC236}">
                <a16:creationId xmlns:a16="http://schemas.microsoft.com/office/drawing/2014/main" id="{C1A502BF-E04F-A511-D3E5-E1C5BE5C99D1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882339" y="2312301"/>
            <a:ext cx="2471894" cy="740442"/>
          </a:xfrm>
        </p:spPr>
        <p:txBody>
          <a:bodyPr wrap="square">
            <a:noAutofit/>
          </a:bodyPr>
          <a:lstStyle>
            <a:lvl1pPr>
              <a:defRPr sz="1400"/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5" name="Text Placeholder 3">
            <a:extLst>
              <a:ext uri="{FF2B5EF4-FFF2-40B4-BE49-F238E27FC236}">
                <a16:creationId xmlns:a16="http://schemas.microsoft.com/office/drawing/2014/main" id="{CEBD845B-9411-4175-7B57-DDC605A51F30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8882669" y="3338989"/>
            <a:ext cx="2471895" cy="317367"/>
          </a:xfrm>
        </p:spPr>
        <p:txBody>
          <a:bodyPr wrap="square">
            <a:noAutofit/>
          </a:bodyPr>
          <a:lstStyle>
            <a:lvl1pPr>
              <a:defRPr sz="1800" b="1">
                <a:solidFill>
                  <a:schemeClr val="accent6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6" name="Text Placeholder 5">
            <a:extLst>
              <a:ext uri="{FF2B5EF4-FFF2-40B4-BE49-F238E27FC236}">
                <a16:creationId xmlns:a16="http://schemas.microsoft.com/office/drawing/2014/main" id="{B9FC9085-8B6C-9B25-8517-366BACDB2E0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8882339" y="3770711"/>
            <a:ext cx="2471894" cy="740442"/>
          </a:xfrm>
        </p:spPr>
        <p:txBody>
          <a:bodyPr wrap="square">
            <a:noAutofit/>
          </a:bodyPr>
          <a:lstStyle>
            <a:lvl1pPr>
              <a:defRPr sz="1400"/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7" name="Text Placeholder 3">
            <a:extLst>
              <a:ext uri="{FF2B5EF4-FFF2-40B4-BE49-F238E27FC236}">
                <a16:creationId xmlns:a16="http://schemas.microsoft.com/office/drawing/2014/main" id="{181783EB-0D32-7E00-CB9E-6EEC6C89207A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882669" y="4797399"/>
            <a:ext cx="2471895" cy="317367"/>
          </a:xfrm>
        </p:spPr>
        <p:txBody>
          <a:bodyPr wrap="square">
            <a:noAutofit/>
          </a:bodyPr>
          <a:lstStyle>
            <a:lvl1pPr>
              <a:defRPr sz="1800" b="1">
                <a:solidFill>
                  <a:schemeClr val="accent6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8" name="Text Placeholder 5">
            <a:extLst>
              <a:ext uri="{FF2B5EF4-FFF2-40B4-BE49-F238E27FC236}">
                <a16:creationId xmlns:a16="http://schemas.microsoft.com/office/drawing/2014/main" id="{4B8EB114-8553-715A-62ED-0557797978BC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882339" y="5229121"/>
            <a:ext cx="2471894" cy="740442"/>
          </a:xfrm>
        </p:spPr>
        <p:txBody>
          <a:bodyPr wrap="square">
            <a:noAutofit/>
          </a:bodyPr>
          <a:lstStyle>
            <a:lvl1pPr>
              <a:defRPr sz="1400"/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9" name="Footer Placeholder 4">
            <a:extLst>
              <a:ext uri="{FF2B5EF4-FFF2-40B4-BE49-F238E27FC236}">
                <a16:creationId xmlns:a16="http://schemas.microsoft.com/office/drawing/2014/main" id="{B2CA19BC-587E-020B-CA45-BD4FFABE90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324031"/>
            <a:ext cx="1242328" cy="184666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l">
              <a:defRPr sz="12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 err="1"/>
              <a:t>abuhb.nhs.wales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41867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ight bullet slide with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FD395C-5094-16BA-B866-A9ED30B1F73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837934" y="1694812"/>
            <a:ext cx="757348" cy="740443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E3FE22-FEEC-E123-EBEA-B0E8520638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12DB22-CD1B-7D4A-9134-ED9E1C953465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30C4A556-4255-638B-687F-64A72B9327D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264" y="2659572"/>
            <a:ext cx="2147371" cy="317367"/>
          </a:xfrm>
        </p:spPr>
        <p:txBody>
          <a:bodyPr wrap="square">
            <a:noAutofit/>
          </a:bodyPr>
          <a:lstStyle>
            <a:lvl1pPr>
              <a:defRPr sz="1800" b="1">
                <a:solidFill>
                  <a:schemeClr val="accent5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3" name="Text Placeholder 5">
            <a:extLst>
              <a:ext uri="{FF2B5EF4-FFF2-40B4-BE49-F238E27FC236}">
                <a16:creationId xmlns:a16="http://schemas.microsoft.com/office/drawing/2014/main" id="{C1CC5098-97E1-9DE1-7210-434D630124C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37934" y="3048643"/>
            <a:ext cx="2147370" cy="533107"/>
          </a:xfrm>
        </p:spPr>
        <p:txBody>
          <a:bodyPr wrap="square">
            <a:noAutofit/>
          </a:bodyPr>
          <a:lstStyle>
            <a:lvl1pPr>
              <a:defRPr sz="1400"/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28" name="Title Placeholder 1">
            <a:extLst>
              <a:ext uri="{FF2B5EF4-FFF2-40B4-BE49-F238E27FC236}">
                <a16:creationId xmlns:a16="http://schemas.microsoft.com/office/drawing/2014/main" id="{1A222C92-A3C6-6AAE-9009-24FAA96673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04455"/>
            <a:ext cx="6360716" cy="498598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1D4C2F88-BF1D-D6E9-6FB5-469B88E6D74F}"/>
              </a:ext>
            </a:extLst>
          </p:cNvPr>
          <p:cNvSpPr>
            <a:spLocks noGrp="1"/>
          </p:cNvSpPr>
          <p:nvPr>
            <p:ph type="pic" idx="18"/>
          </p:nvPr>
        </p:nvSpPr>
        <p:spPr>
          <a:xfrm>
            <a:off x="3627433" y="1694812"/>
            <a:ext cx="757348" cy="740443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F6682E4-3A0C-CE13-8546-E9E18CACC5E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627763" y="2659572"/>
            <a:ext cx="2147371" cy="317367"/>
          </a:xfrm>
        </p:spPr>
        <p:txBody>
          <a:bodyPr wrap="square">
            <a:noAutofit/>
          </a:bodyPr>
          <a:lstStyle>
            <a:lvl1pPr>
              <a:defRPr sz="1800" b="1">
                <a:solidFill>
                  <a:schemeClr val="accent5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Text Placeholder 5">
            <a:extLst>
              <a:ext uri="{FF2B5EF4-FFF2-40B4-BE49-F238E27FC236}">
                <a16:creationId xmlns:a16="http://schemas.microsoft.com/office/drawing/2014/main" id="{97EC2551-0C89-BFA5-9CCE-DDE6284ECBF7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627433" y="3048643"/>
            <a:ext cx="2147370" cy="533107"/>
          </a:xfrm>
        </p:spPr>
        <p:txBody>
          <a:bodyPr wrap="square">
            <a:noAutofit/>
          </a:bodyPr>
          <a:lstStyle>
            <a:lvl1pPr>
              <a:defRPr sz="1400"/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Picture Placeholder 2">
            <a:extLst>
              <a:ext uri="{FF2B5EF4-FFF2-40B4-BE49-F238E27FC236}">
                <a16:creationId xmlns:a16="http://schemas.microsoft.com/office/drawing/2014/main" id="{15F60A58-8588-1CBC-A369-25388F18D1BC}"/>
              </a:ext>
            </a:extLst>
          </p:cNvPr>
          <p:cNvSpPr>
            <a:spLocks noGrp="1"/>
          </p:cNvSpPr>
          <p:nvPr>
            <p:ph type="pic" idx="21"/>
          </p:nvPr>
        </p:nvSpPr>
        <p:spPr>
          <a:xfrm>
            <a:off x="6416932" y="1694812"/>
            <a:ext cx="757348" cy="740443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F32248A4-40FC-534B-5EFB-749A70E539F5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417262" y="2659572"/>
            <a:ext cx="2147371" cy="317367"/>
          </a:xfrm>
        </p:spPr>
        <p:txBody>
          <a:bodyPr wrap="square">
            <a:noAutofit/>
          </a:bodyPr>
          <a:lstStyle>
            <a:lvl1pPr>
              <a:defRPr sz="1800" b="1">
                <a:solidFill>
                  <a:schemeClr val="accent5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035226F3-0E1D-256B-97B9-6C98BD4EDB30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416932" y="3048643"/>
            <a:ext cx="2147370" cy="533107"/>
          </a:xfrm>
        </p:spPr>
        <p:txBody>
          <a:bodyPr wrap="square">
            <a:noAutofit/>
          </a:bodyPr>
          <a:lstStyle>
            <a:lvl1pPr>
              <a:defRPr sz="1400"/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C4CAF251-B777-064D-A243-1D03BACCF314}"/>
              </a:ext>
            </a:extLst>
          </p:cNvPr>
          <p:cNvSpPr>
            <a:spLocks noGrp="1"/>
          </p:cNvSpPr>
          <p:nvPr>
            <p:ph type="pic" idx="24"/>
          </p:nvPr>
        </p:nvSpPr>
        <p:spPr>
          <a:xfrm>
            <a:off x="9206430" y="1694812"/>
            <a:ext cx="757348" cy="740443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8C05FD25-71FA-22D1-FB9C-55B4F45166EF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9206760" y="2659572"/>
            <a:ext cx="2147371" cy="317367"/>
          </a:xfrm>
        </p:spPr>
        <p:txBody>
          <a:bodyPr wrap="square">
            <a:noAutofit/>
          </a:bodyPr>
          <a:lstStyle>
            <a:lvl1pPr>
              <a:defRPr sz="1800" b="1">
                <a:solidFill>
                  <a:schemeClr val="accent5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A0645B0A-1B26-A7A3-291C-1ABB84D9992E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9206430" y="3048643"/>
            <a:ext cx="2147370" cy="533107"/>
          </a:xfrm>
        </p:spPr>
        <p:txBody>
          <a:bodyPr wrap="square">
            <a:noAutofit/>
          </a:bodyPr>
          <a:lstStyle>
            <a:lvl1pPr>
              <a:defRPr sz="1400"/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9" name="Picture Placeholder 2">
            <a:extLst>
              <a:ext uri="{FF2B5EF4-FFF2-40B4-BE49-F238E27FC236}">
                <a16:creationId xmlns:a16="http://schemas.microsoft.com/office/drawing/2014/main" id="{828348CD-ACD2-DFF4-800E-F274AFAAC30B}"/>
              </a:ext>
            </a:extLst>
          </p:cNvPr>
          <p:cNvSpPr>
            <a:spLocks noGrp="1"/>
          </p:cNvSpPr>
          <p:nvPr>
            <p:ph type="pic" idx="27"/>
          </p:nvPr>
        </p:nvSpPr>
        <p:spPr>
          <a:xfrm>
            <a:off x="837934" y="4021324"/>
            <a:ext cx="757348" cy="740443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0" name="Text Placeholder 3">
            <a:extLst>
              <a:ext uri="{FF2B5EF4-FFF2-40B4-BE49-F238E27FC236}">
                <a16:creationId xmlns:a16="http://schemas.microsoft.com/office/drawing/2014/main" id="{63FBB9C1-D4DE-B676-DB13-4DDA71407D09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838264" y="4986084"/>
            <a:ext cx="2147371" cy="317367"/>
          </a:xfrm>
        </p:spPr>
        <p:txBody>
          <a:bodyPr wrap="square">
            <a:noAutofit/>
          </a:bodyPr>
          <a:lstStyle>
            <a:lvl1pPr>
              <a:defRPr sz="1800" b="1">
                <a:solidFill>
                  <a:schemeClr val="accent5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41" name="Text Placeholder 5">
            <a:extLst>
              <a:ext uri="{FF2B5EF4-FFF2-40B4-BE49-F238E27FC236}">
                <a16:creationId xmlns:a16="http://schemas.microsoft.com/office/drawing/2014/main" id="{759BCFA5-4A16-4E19-55C6-01EEBF421A1D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837934" y="5385315"/>
            <a:ext cx="2147370" cy="533107"/>
          </a:xfrm>
        </p:spPr>
        <p:txBody>
          <a:bodyPr wrap="square">
            <a:noAutofit/>
          </a:bodyPr>
          <a:lstStyle>
            <a:lvl1pPr>
              <a:defRPr sz="1400"/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42" name="Picture Placeholder 2">
            <a:extLst>
              <a:ext uri="{FF2B5EF4-FFF2-40B4-BE49-F238E27FC236}">
                <a16:creationId xmlns:a16="http://schemas.microsoft.com/office/drawing/2014/main" id="{995ED2D2-FD2C-D2A6-0303-D2D27B53B838}"/>
              </a:ext>
            </a:extLst>
          </p:cNvPr>
          <p:cNvSpPr>
            <a:spLocks noGrp="1"/>
          </p:cNvSpPr>
          <p:nvPr>
            <p:ph type="pic" idx="30"/>
          </p:nvPr>
        </p:nvSpPr>
        <p:spPr>
          <a:xfrm>
            <a:off x="3627433" y="4021324"/>
            <a:ext cx="757348" cy="740443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3" name="Text Placeholder 3">
            <a:extLst>
              <a:ext uri="{FF2B5EF4-FFF2-40B4-BE49-F238E27FC236}">
                <a16:creationId xmlns:a16="http://schemas.microsoft.com/office/drawing/2014/main" id="{6ADAF9CA-0AFA-16CC-37E1-C752D6306FE1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3627763" y="4986084"/>
            <a:ext cx="2147371" cy="317367"/>
          </a:xfrm>
        </p:spPr>
        <p:txBody>
          <a:bodyPr wrap="square">
            <a:noAutofit/>
          </a:bodyPr>
          <a:lstStyle>
            <a:lvl1pPr>
              <a:defRPr sz="1800" b="1">
                <a:solidFill>
                  <a:schemeClr val="accent5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44" name="Text Placeholder 5">
            <a:extLst>
              <a:ext uri="{FF2B5EF4-FFF2-40B4-BE49-F238E27FC236}">
                <a16:creationId xmlns:a16="http://schemas.microsoft.com/office/drawing/2014/main" id="{56DD63EE-2DE1-DA7B-DB1D-B5F5E41F055E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3627433" y="5385315"/>
            <a:ext cx="2147370" cy="533107"/>
          </a:xfrm>
        </p:spPr>
        <p:txBody>
          <a:bodyPr wrap="square">
            <a:noAutofit/>
          </a:bodyPr>
          <a:lstStyle>
            <a:lvl1pPr>
              <a:defRPr sz="1400"/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45" name="Picture Placeholder 2">
            <a:extLst>
              <a:ext uri="{FF2B5EF4-FFF2-40B4-BE49-F238E27FC236}">
                <a16:creationId xmlns:a16="http://schemas.microsoft.com/office/drawing/2014/main" id="{37DCE758-429F-D421-57EE-69DE3E8F6DA5}"/>
              </a:ext>
            </a:extLst>
          </p:cNvPr>
          <p:cNvSpPr>
            <a:spLocks noGrp="1"/>
          </p:cNvSpPr>
          <p:nvPr>
            <p:ph type="pic" idx="33"/>
          </p:nvPr>
        </p:nvSpPr>
        <p:spPr>
          <a:xfrm>
            <a:off x="6416932" y="4021324"/>
            <a:ext cx="757348" cy="740443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6" name="Text Placeholder 3">
            <a:extLst>
              <a:ext uri="{FF2B5EF4-FFF2-40B4-BE49-F238E27FC236}">
                <a16:creationId xmlns:a16="http://schemas.microsoft.com/office/drawing/2014/main" id="{24BBF753-275C-C0A1-B02B-4EC1E237DA09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6417262" y="4986084"/>
            <a:ext cx="2147371" cy="317367"/>
          </a:xfrm>
        </p:spPr>
        <p:txBody>
          <a:bodyPr wrap="square">
            <a:noAutofit/>
          </a:bodyPr>
          <a:lstStyle>
            <a:lvl1pPr>
              <a:defRPr sz="1800" b="1">
                <a:solidFill>
                  <a:schemeClr val="accent5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47" name="Text Placeholder 5">
            <a:extLst>
              <a:ext uri="{FF2B5EF4-FFF2-40B4-BE49-F238E27FC236}">
                <a16:creationId xmlns:a16="http://schemas.microsoft.com/office/drawing/2014/main" id="{38A8196D-3BEF-9258-BBF1-8D6D32790FA4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6416932" y="5385315"/>
            <a:ext cx="2147370" cy="533107"/>
          </a:xfrm>
        </p:spPr>
        <p:txBody>
          <a:bodyPr wrap="square">
            <a:noAutofit/>
          </a:bodyPr>
          <a:lstStyle>
            <a:lvl1pPr>
              <a:defRPr sz="1400"/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48" name="Picture Placeholder 2">
            <a:extLst>
              <a:ext uri="{FF2B5EF4-FFF2-40B4-BE49-F238E27FC236}">
                <a16:creationId xmlns:a16="http://schemas.microsoft.com/office/drawing/2014/main" id="{A8C408E5-A54B-17F8-1B26-D78884AFE4F8}"/>
              </a:ext>
            </a:extLst>
          </p:cNvPr>
          <p:cNvSpPr>
            <a:spLocks noGrp="1"/>
          </p:cNvSpPr>
          <p:nvPr>
            <p:ph type="pic" idx="36"/>
          </p:nvPr>
        </p:nvSpPr>
        <p:spPr>
          <a:xfrm>
            <a:off x="9206430" y="4021324"/>
            <a:ext cx="757348" cy="740443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9" name="Text Placeholder 3">
            <a:extLst>
              <a:ext uri="{FF2B5EF4-FFF2-40B4-BE49-F238E27FC236}">
                <a16:creationId xmlns:a16="http://schemas.microsoft.com/office/drawing/2014/main" id="{B0CE0909-F2F5-6229-2A40-4200DB8F97F9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9206760" y="4986084"/>
            <a:ext cx="2147371" cy="317367"/>
          </a:xfrm>
        </p:spPr>
        <p:txBody>
          <a:bodyPr wrap="square">
            <a:noAutofit/>
          </a:bodyPr>
          <a:lstStyle>
            <a:lvl1pPr>
              <a:defRPr sz="1800" b="1">
                <a:solidFill>
                  <a:schemeClr val="accent5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0" name="Text Placeholder 5">
            <a:extLst>
              <a:ext uri="{FF2B5EF4-FFF2-40B4-BE49-F238E27FC236}">
                <a16:creationId xmlns:a16="http://schemas.microsoft.com/office/drawing/2014/main" id="{24C3164E-A22B-243F-1FE3-8077B0E2105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9206430" y="5385315"/>
            <a:ext cx="2147370" cy="533107"/>
          </a:xfrm>
        </p:spPr>
        <p:txBody>
          <a:bodyPr wrap="square">
            <a:noAutofit/>
          </a:bodyPr>
          <a:lstStyle>
            <a:lvl1pPr>
              <a:defRPr sz="1400"/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1" name="Footer Placeholder 4">
            <a:extLst>
              <a:ext uri="{FF2B5EF4-FFF2-40B4-BE49-F238E27FC236}">
                <a16:creationId xmlns:a16="http://schemas.microsoft.com/office/drawing/2014/main" id="{39B9785F-F454-5161-3908-F5AA6EE966C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324031"/>
            <a:ext cx="1242328" cy="184666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l">
              <a:defRPr sz="12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 err="1"/>
              <a:t>abuhb.nhs.wales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37009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x bullet slide with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FD395C-5094-16BA-B866-A9ED30B1F73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837934" y="1694812"/>
            <a:ext cx="757348" cy="740443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E3FE22-FEEC-E123-EBEA-B0E8520638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12DB22-CD1B-7D4A-9134-ED9E1C953465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30C4A556-4255-638B-687F-64A72B9327D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264" y="2659572"/>
            <a:ext cx="3362712" cy="317367"/>
          </a:xfrm>
        </p:spPr>
        <p:txBody>
          <a:bodyPr wrap="square"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3" name="Text Placeholder 5">
            <a:extLst>
              <a:ext uri="{FF2B5EF4-FFF2-40B4-BE49-F238E27FC236}">
                <a16:creationId xmlns:a16="http://schemas.microsoft.com/office/drawing/2014/main" id="{C1CC5098-97E1-9DE1-7210-434D630124C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37933" y="3058803"/>
            <a:ext cx="3362711" cy="533107"/>
          </a:xfrm>
        </p:spPr>
        <p:txBody>
          <a:bodyPr wrap="square">
            <a:noAutofit/>
          </a:bodyPr>
          <a:lstStyle>
            <a:lvl1pPr>
              <a:defRPr sz="1400"/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28" name="Title Placeholder 1">
            <a:extLst>
              <a:ext uri="{FF2B5EF4-FFF2-40B4-BE49-F238E27FC236}">
                <a16:creationId xmlns:a16="http://schemas.microsoft.com/office/drawing/2014/main" id="{1A222C92-A3C6-6AAE-9009-24FAA96673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04455"/>
            <a:ext cx="6360716" cy="498598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Picture Placeholder 2">
            <a:extLst>
              <a:ext uri="{FF2B5EF4-FFF2-40B4-BE49-F238E27FC236}">
                <a16:creationId xmlns:a16="http://schemas.microsoft.com/office/drawing/2014/main" id="{5357B822-1F46-EF68-98AB-1266026A9F93}"/>
              </a:ext>
            </a:extLst>
          </p:cNvPr>
          <p:cNvSpPr>
            <a:spLocks noGrp="1"/>
          </p:cNvSpPr>
          <p:nvPr>
            <p:ph type="pic" idx="18"/>
          </p:nvPr>
        </p:nvSpPr>
        <p:spPr>
          <a:xfrm>
            <a:off x="4414511" y="1694812"/>
            <a:ext cx="757348" cy="740443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603ACB0B-D2D6-8793-6DDF-32DEDC9D1700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4414841" y="2659572"/>
            <a:ext cx="3362712" cy="317367"/>
          </a:xfrm>
        </p:spPr>
        <p:txBody>
          <a:bodyPr wrap="square"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7" name="Text Placeholder 5">
            <a:extLst>
              <a:ext uri="{FF2B5EF4-FFF2-40B4-BE49-F238E27FC236}">
                <a16:creationId xmlns:a16="http://schemas.microsoft.com/office/drawing/2014/main" id="{A5246C35-35AF-5747-3591-3B90326EC897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4414510" y="3058803"/>
            <a:ext cx="3362711" cy="533107"/>
          </a:xfrm>
        </p:spPr>
        <p:txBody>
          <a:bodyPr wrap="square">
            <a:noAutofit/>
          </a:bodyPr>
          <a:lstStyle>
            <a:lvl1pPr>
              <a:defRPr sz="1400"/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8" name="Picture Placeholder 2">
            <a:extLst>
              <a:ext uri="{FF2B5EF4-FFF2-40B4-BE49-F238E27FC236}">
                <a16:creationId xmlns:a16="http://schemas.microsoft.com/office/drawing/2014/main" id="{EB3C80A0-CEAE-4303-404B-BA29C03800CE}"/>
              </a:ext>
            </a:extLst>
          </p:cNvPr>
          <p:cNvSpPr>
            <a:spLocks noGrp="1"/>
          </p:cNvSpPr>
          <p:nvPr>
            <p:ph type="pic" idx="21"/>
          </p:nvPr>
        </p:nvSpPr>
        <p:spPr>
          <a:xfrm>
            <a:off x="7991089" y="1694812"/>
            <a:ext cx="757348" cy="740443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9" name="Text Placeholder 3">
            <a:extLst>
              <a:ext uri="{FF2B5EF4-FFF2-40B4-BE49-F238E27FC236}">
                <a16:creationId xmlns:a16="http://schemas.microsoft.com/office/drawing/2014/main" id="{7D6BF785-ECAA-AA70-0AE0-DA7FF9D3B66E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7991419" y="2659572"/>
            <a:ext cx="3362712" cy="317367"/>
          </a:xfrm>
        </p:spPr>
        <p:txBody>
          <a:bodyPr wrap="square"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20" name="Text Placeholder 5">
            <a:extLst>
              <a:ext uri="{FF2B5EF4-FFF2-40B4-BE49-F238E27FC236}">
                <a16:creationId xmlns:a16="http://schemas.microsoft.com/office/drawing/2014/main" id="{4BA32623-5265-29C3-5825-763BDB6B28D7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7991088" y="3058803"/>
            <a:ext cx="3362711" cy="533107"/>
          </a:xfrm>
        </p:spPr>
        <p:txBody>
          <a:bodyPr wrap="square">
            <a:noAutofit/>
          </a:bodyPr>
          <a:lstStyle>
            <a:lvl1pPr>
              <a:defRPr sz="1400"/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21" name="Picture Placeholder 2">
            <a:extLst>
              <a:ext uri="{FF2B5EF4-FFF2-40B4-BE49-F238E27FC236}">
                <a16:creationId xmlns:a16="http://schemas.microsoft.com/office/drawing/2014/main" id="{3915D3A1-7889-84BB-2617-E407080EE08C}"/>
              </a:ext>
            </a:extLst>
          </p:cNvPr>
          <p:cNvSpPr>
            <a:spLocks noGrp="1"/>
          </p:cNvSpPr>
          <p:nvPr>
            <p:ph type="pic" idx="24"/>
          </p:nvPr>
        </p:nvSpPr>
        <p:spPr>
          <a:xfrm>
            <a:off x="837934" y="3917151"/>
            <a:ext cx="757348" cy="740443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B549CD5A-107B-B40E-BA85-D262D217C7E2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838264" y="4881911"/>
            <a:ext cx="3362712" cy="317367"/>
          </a:xfrm>
        </p:spPr>
        <p:txBody>
          <a:bodyPr wrap="square"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23" name="Text Placeholder 5">
            <a:extLst>
              <a:ext uri="{FF2B5EF4-FFF2-40B4-BE49-F238E27FC236}">
                <a16:creationId xmlns:a16="http://schemas.microsoft.com/office/drawing/2014/main" id="{B68F5A9F-8220-9920-9E82-9E7442AB580F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37933" y="5281142"/>
            <a:ext cx="3362711" cy="533107"/>
          </a:xfrm>
        </p:spPr>
        <p:txBody>
          <a:bodyPr wrap="square">
            <a:noAutofit/>
          </a:bodyPr>
          <a:lstStyle>
            <a:lvl1pPr>
              <a:defRPr sz="1400"/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24" name="Picture Placeholder 2">
            <a:extLst>
              <a:ext uri="{FF2B5EF4-FFF2-40B4-BE49-F238E27FC236}">
                <a16:creationId xmlns:a16="http://schemas.microsoft.com/office/drawing/2014/main" id="{8F8C17CB-1C98-0900-AFA5-53F04EF6A463}"/>
              </a:ext>
            </a:extLst>
          </p:cNvPr>
          <p:cNvSpPr>
            <a:spLocks noGrp="1"/>
          </p:cNvSpPr>
          <p:nvPr>
            <p:ph type="pic" idx="27"/>
          </p:nvPr>
        </p:nvSpPr>
        <p:spPr>
          <a:xfrm>
            <a:off x="4414511" y="3917151"/>
            <a:ext cx="757348" cy="740443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5" name="Text Placeholder 3">
            <a:extLst>
              <a:ext uri="{FF2B5EF4-FFF2-40B4-BE49-F238E27FC236}">
                <a16:creationId xmlns:a16="http://schemas.microsoft.com/office/drawing/2014/main" id="{B06DE5A3-A38E-1BD7-F172-AB99F0DBBF4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414841" y="4881911"/>
            <a:ext cx="3362712" cy="317367"/>
          </a:xfrm>
        </p:spPr>
        <p:txBody>
          <a:bodyPr wrap="square"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26" name="Text Placeholder 5">
            <a:extLst>
              <a:ext uri="{FF2B5EF4-FFF2-40B4-BE49-F238E27FC236}">
                <a16:creationId xmlns:a16="http://schemas.microsoft.com/office/drawing/2014/main" id="{140DFA81-F9C1-5BE8-9790-1E7A6F3566E7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414510" y="5281142"/>
            <a:ext cx="3362711" cy="533107"/>
          </a:xfrm>
        </p:spPr>
        <p:txBody>
          <a:bodyPr wrap="square">
            <a:noAutofit/>
          </a:bodyPr>
          <a:lstStyle>
            <a:lvl1pPr>
              <a:defRPr sz="1400"/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29" name="Picture Placeholder 2">
            <a:extLst>
              <a:ext uri="{FF2B5EF4-FFF2-40B4-BE49-F238E27FC236}">
                <a16:creationId xmlns:a16="http://schemas.microsoft.com/office/drawing/2014/main" id="{4483088B-39F5-1949-7004-DCD8A82A1E2E}"/>
              </a:ext>
            </a:extLst>
          </p:cNvPr>
          <p:cNvSpPr>
            <a:spLocks noGrp="1"/>
          </p:cNvSpPr>
          <p:nvPr>
            <p:ph type="pic" idx="30"/>
          </p:nvPr>
        </p:nvSpPr>
        <p:spPr>
          <a:xfrm>
            <a:off x="7991089" y="3917151"/>
            <a:ext cx="757348" cy="740443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0" name="Text Placeholder 3">
            <a:extLst>
              <a:ext uri="{FF2B5EF4-FFF2-40B4-BE49-F238E27FC236}">
                <a16:creationId xmlns:a16="http://schemas.microsoft.com/office/drawing/2014/main" id="{FC87FE08-9EA5-A548-3C31-04A258ABC21B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7991419" y="4881911"/>
            <a:ext cx="3362712" cy="317367"/>
          </a:xfrm>
        </p:spPr>
        <p:txBody>
          <a:bodyPr wrap="square"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1" name="Text Placeholder 5">
            <a:extLst>
              <a:ext uri="{FF2B5EF4-FFF2-40B4-BE49-F238E27FC236}">
                <a16:creationId xmlns:a16="http://schemas.microsoft.com/office/drawing/2014/main" id="{742C4827-D280-318C-8AEE-43CAD6DC75B6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7991088" y="5281142"/>
            <a:ext cx="3362711" cy="533107"/>
          </a:xfrm>
        </p:spPr>
        <p:txBody>
          <a:bodyPr wrap="square">
            <a:noAutofit/>
          </a:bodyPr>
          <a:lstStyle>
            <a:lvl1pPr>
              <a:defRPr sz="1400"/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2" name="Footer Placeholder 4">
            <a:extLst>
              <a:ext uri="{FF2B5EF4-FFF2-40B4-BE49-F238E27FC236}">
                <a16:creationId xmlns:a16="http://schemas.microsoft.com/office/drawing/2014/main" id="{9F35571C-D369-12D3-EE1D-3003D6469CD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324031"/>
            <a:ext cx="1242328" cy="184666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l">
              <a:defRPr sz="12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 err="1"/>
              <a:t>abuhb.nhs.wales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61110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bullet slide with single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E3FE22-FEEC-E123-EBEA-B0E8520638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12DB22-CD1B-7D4A-9134-ED9E1C953465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30C4A556-4255-638B-687F-64A72B9327D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264" y="2238397"/>
            <a:ext cx="3362712" cy="317367"/>
          </a:xfrm>
        </p:spPr>
        <p:txBody>
          <a:bodyPr wrap="square"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3" name="Text Placeholder 5">
            <a:extLst>
              <a:ext uri="{FF2B5EF4-FFF2-40B4-BE49-F238E27FC236}">
                <a16:creationId xmlns:a16="http://schemas.microsoft.com/office/drawing/2014/main" id="{C1CC5098-97E1-9DE1-7210-434D630124C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37933" y="2637628"/>
            <a:ext cx="3362711" cy="533107"/>
          </a:xfrm>
        </p:spPr>
        <p:txBody>
          <a:bodyPr wrap="square">
            <a:noAutofit/>
          </a:bodyPr>
          <a:lstStyle>
            <a:lvl1pPr>
              <a:defRPr sz="1400"/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28" name="Title Placeholder 1">
            <a:extLst>
              <a:ext uri="{FF2B5EF4-FFF2-40B4-BE49-F238E27FC236}">
                <a16:creationId xmlns:a16="http://schemas.microsoft.com/office/drawing/2014/main" id="{1A222C92-A3C6-6AAE-9009-24FAA96673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04455"/>
            <a:ext cx="3705520" cy="997196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B549CD5A-107B-B40E-BA85-D262D217C7E2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838264" y="3535301"/>
            <a:ext cx="3362712" cy="317367"/>
          </a:xfrm>
        </p:spPr>
        <p:txBody>
          <a:bodyPr wrap="square"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23" name="Text Placeholder 5">
            <a:extLst>
              <a:ext uri="{FF2B5EF4-FFF2-40B4-BE49-F238E27FC236}">
                <a16:creationId xmlns:a16="http://schemas.microsoft.com/office/drawing/2014/main" id="{B68F5A9F-8220-9920-9E82-9E7442AB580F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37933" y="3934532"/>
            <a:ext cx="3362711" cy="533107"/>
          </a:xfrm>
        </p:spPr>
        <p:txBody>
          <a:bodyPr wrap="square">
            <a:noAutofit/>
          </a:bodyPr>
          <a:lstStyle>
            <a:lvl1pPr>
              <a:defRPr sz="1400"/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29" name="Picture Placeholder 2">
            <a:extLst>
              <a:ext uri="{FF2B5EF4-FFF2-40B4-BE49-F238E27FC236}">
                <a16:creationId xmlns:a16="http://schemas.microsoft.com/office/drawing/2014/main" id="{4483088B-39F5-1949-7004-DCD8A82A1E2E}"/>
              </a:ext>
            </a:extLst>
          </p:cNvPr>
          <p:cNvSpPr>
            <a:spLocks noGrp="1"/>
          </p:cNvSpPr>
          <p:nvPr>
            <p:ph type="pic" idx="30"/>
          </p:nvPr>
        </p:nvSpPr>
        <p:spPr>
          <a:xfrm>
            <a:off x="4864232" y="1"/>
            <a:ext cx="7327768" cy="671188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2" name="Footer Placeholder 4">
            <a:extLst>
              <a:ext uri="{FF2B5EF4-FFF2-40B4-BE49-F238E27FC236}">
                <a16:creationId xmlns:a16="http://schemas.microsoft.com/office/drawing/2014/main" id="{9F35571C-D369-12D3-EE1D-3003D6469CD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324031"/>
            <a:ext cx="1242328" cy="184666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l">
              <a:defRPr sz="12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 err="1"/>
              <a:t>abuhb.nhs.wales</a:t>
            </a:r>
            <a:endParaRPr lang="en-US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D71A9C36-F28A-2984-4E83-DBDD982406B5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838264" y="4836200"/>
            <a:ext cx="3362712" cy="317367"/>
          </a:xfrm>
        </p:spPr>
        <p:txBody>
          <a:bodyPr wrap="square"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4" name="Text Placeholder 5">
            <a:extLst>
              <a:ext uri="{FF2B5EF4-FFF2-40B4-BE49-F238E27FC236}">
                <a16:creationId xmlns:a16="http://schemas.microsoft.com/office/drawing/2014/main" id="{FA3678E8-3AC9-7667-B351-4DDC4A4EF038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837933" y="5235431"/>
            <a:ext cx="3362711" cy="533107"/>
          </a:xfrm>
        </p:spPr>
        <p:txBody>
          <a:bodyPr wrap="square">
            <a:noAutofit/>
          </a:bodyPr>
          <a:lstStyle>
            <a:lvl1pPr>
              <a:defRPr sz="1400"/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8774332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info slide with single graph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FD395C-5094-16BA-B866-A9ED30B1F73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837933" y="2012179"/>
            <a:ext cx="3392757" cy="331702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E3FE22-FEEC-E123-EBEA-B0E8520638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12DB22-CD1B-7D4A-9134-ED9E1C953465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30C4A556-4255-638B-687F-64A72B9327D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598600" y="2012179"/>
            <a:ext cx="6755200" cy="317367"/>
          </a:xfrm>
        </p:spPr>
        <p:txBody>
          <a:bodyPr wrap="square">
            <a:noAutofit/>
          </a:bodyPr>
          <a:lstStyle>
            <a:lvl1pPr>
              <a:defRPr sz="1800" b="1">
                <a:solidFill>
                  <a:schemeClr val="tx1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3" name="Text Placeholder 5">
            <a:extLst>
              <a:ext uri="{FF2B5EF4-FFF2-40B4-BE49-F238E27FC236}">
                <a16:creationId xmlns:a16="http://schemas.microsoft.com/office/drawing/2014/main" id="{C1CC5098-97E1-9DE1-7210-434D630124C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598269" y="2513010"/>
            <a:ext cx="6755531" cy="2816195"/>
          </a:xfrm>
        </p:spPr>
        <p:txBody>
          <a:bodyPr wrap="square">
            <a:noAutofit/>
          </a:bodyPr>
          <a:lstStyle>
            <a:lvl1pPr>
              <a:defRPr sz="1400"/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28" name="Title Placeholder 1">
            <a:extLst>
              <a:ext uri="{FF2B5EF4-FFF2-40B4-BE49-F238E27FC236}">
                <a16:creationId xmlns:a16="http://schemas.microsoft.com/office/drawing/2014/main" id="{1A222C92-A3C6-6AAE-9009-24FAA96673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04455"/>
            <a:ext cx="6360716" cy="498598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90C569E0-37B6-73C2-5F50-5ADF001595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324031"/>
            <a:ext cx="1242328" cy="184666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l">
              <a:defRPr sz="12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 err="1"/>
              <a:t>abuhb.nhs.wales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50858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page with single graphic V1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FD395C-5094-16BA-B866-A9ED30B1F73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7976034" y="1896655"/>
            <a:ext cx="3392757" cy="331702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E3FE22-FEEC-E123-EBEA-B0E8520638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F12DB22-CD1B-7D4A-9134-ED9E1C9534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8" name="Title Placeholder 1">
            <a:extLst>
              <a:ext uri="{FF2B5EF4-FFF2-40B4-BE49-F238E27FC236}">
                <a16:creationId xmlns:a16="http://schemas.microsoft.com/office/drawing/2014/main" id="{1A222C92-A3C6-6AAE-9009-24FAA96673A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1896655"/>
            <a:ext cx="3436838" cy="498598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Statement page</a:t>
            </a:r>
            <a:endParaRPr lang="en-US" dirty="0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90C569E0-37B6-73C2-5F50-5ADF001595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324031"/>
            <a:ext cx="1242328" cy="184666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l">
              <a:defRPr sz="12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 err="1"/>
              <a:t>abuhb.nhs.wales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751964-F9B3-582C-1138-6D1E48DC824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264" y="1453072"/>
            <a:ext cx="3362712" cy="317367"/>
          </a:xfrm>
        </p:spPr>
        <p:txBody>
          <a:bodyPr wrap="square">
            <a:noAutofit/>
          </a:bodyPr>
          <a:lstStyle>
            <a:lvl1pPr>
              <a:defRPr sz="1800" b="1">
                <a:solidFill>
                  <a:srgbClr val="FAD776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31578B1-7A9C-9501-1880-BD836E8648E1}"/>
              </a:ext>
            </a:extLst>
          </p:cNvPr>
          <p:cNvCxnSpPr/>
          <p:nvPr userDrawn="1"/>
        </p:nvCxnSpPr>
        <p:spPr>
          <a:xfrm>
            <a:off x="-38100" y="6718300"/>
            <a:ext cx="123063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006868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page with single graphic V2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FD395C-5094-16BA-B866-A9ED30B1F73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823241" y="1896655"/>
            <a:ext cx="3392757" cy="331702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E3FE22-FEEC-E123-EBEA-B0E8520638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F12DB22-CD1B-7D4A-9134-ED9E1C9534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8" name="Title Placeholder 1">
            <a:extLst>
              <a:ext uri="{FF2B5EF4-FFF2-40B4-BE49-F238E27FC236}">
                <a16:creationId xmlns:a16="http://schemas.microsoft.com/office/drawing/2014/main" id="{1A222C92-A3C6-6AAE-9009-24FAA96673A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86300" y="2340238"/>
            <a:ext cx="3436838" cy="498598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Statement page</a:t>
            </a:r>
            <a:endParaRPr lang="en-US" dirty="0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90C569E0-37B6-73C2-5F50-5ADF001595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324031"/>
            <a:ext cx="1242328" cy="184666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l">
              <a:defRPr sz="12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 err="1"/>
              <a:t>abuhb.nhs.wales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751964-F9B3-582C-1138-6D1E48DC824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86364" y="1896655"/>
            <a:ext cx="3362712" cy="317367"/>
          </a:xfrm>
        </p:spPr>
        <p:txBody>
          <a:bodyPr wrap="square">
            <a:noAutofit/>
          </a:bodyPr>
          <a:lstStyle>
            <a:lvl1pPr>
              <a:defRPr sz="1800" b="1">
                <a:solidFill>
                  <a:srgbClr val="FAD776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6AFC3CD-A577-A39E-B89C-3F9908016659}"/>
              </a:ext>
            </a:extLst>
          </p:cNvPr>
          <p:cNvCxnSpPr/>
          <p:nvPr userDrawn="1"/>
        </p:nvCxnSpPr>
        <p:spPr>
          <a:xfrm>
            <a:off x="-38100" y="6718300"/>
            <a:ext cx="123063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2697586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bullet slide with icons (coloured background)">
    <p:bg>
      <p:bgPr>
        <a:solidFill>
          <a:srgbClr val="63519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FD395C-5094-16BA-B866-A9ED30B1F73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1476669" y="1847684"/>
            <a:ext cx="1383769" cy="1352881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E3FE22-FEEC-E123-EBEA-B0E8520638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F12DB22-CD1B-7D4A-9134-ED9E1C9534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90C569E0-37B6-73C2-5F50-5ADF001595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324031"/>
            <a:ext cx="1242328" cy="184666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l">
              <a:defRPr sz="12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 err="1"/>
              <a:t>abuhb.nhs.wales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751964-F9B3-582C-1138-6D1E48DC824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022438" y="3544433"/>
            <a:ext cx="2292230" cy="332399"/>
          </a:xfrm>
        </p:spPr>
        <p:txBody>
          <a:bodyPr wrap="square" anchor="t" anchorCtr="0">
            <a:noAutofit/>
          </a:bodyPr>
          <a:lstStyle>
            <a:lvl1pPr algn="ctr">
              <a:defRPr sz="2200" b="1">
                <a:solidFill>
                  <a:srgbClr val="FAD776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F17A339C-ACC0-E5C9-1443-7F60488B4293}"/>
              </a:ext>
            </a:extLst>
          </p:cNvPr>
          <p:cNvSpPr>
            <a:spLocks noGrp="1"/>
          </p:cNvSpPr>
          <p:nvPr>
            <p:ph type="pic" idx="15"/>
          </p:nvPr>
        </p:nvSpPr>
        <p:spPr>
          <a:xfrm>
            <a:off x="5464469" y="1847684"/>
            <a:ext cx="1383769" cy="1352881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35049CDF-57FB-1E5B-0262-BB5A40F76D55}"/>
              </a:ext>
            </a:extLst>
          </p:cNvPr>
          <p:cNvSpPr>
            <a:spLocks noGrp="1"/>
          </p:cNvSpPr>
          <p:nvPr>
            <p:ph type="pic" idx="17"/>
          </p:nvPr>
        </p:nvSpPr>
        <p:spPr>
          <a:xfrm>
            <a:off x="9452269" y="1847684"/>
            <a:ext cx="1383769" cy="1352881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100011A0-9346-E922-AA1C-9048D9E693E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997538" y="3544433"/>
            <a:ext cx="2292230" cy="332399"/>
          </a:xfrm>
        </p:spPr>
        <p:txBody>
          <a:bodyPr wrap="square" anchor="t" anchorCtr="0">
            <a:noAutofit/>
          </a:bodyPr>
          <a:lstStyle>
            <a:lvl1pPr algn="ctr">
              <a:defRPr sz="2200" b="1">
                <a:solidFill>
                  <a:srgbClr val="FAD776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AD417083-05F1-3C98-F43B-328E59055E9D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010738" y="3544433"/>
            <a:ext cx="2292230" cy="332399"/>
          </a:xfrm>
        </p:spPr>
        <p:txBody>
          <a:bodyPr wrap="square" anchor="t" anchorCtr="0">
            <a:noAutofit/>
          </a:bodyPr>
          <a:lstStyle>
            <a:lvl1pPr algn="ctr">
              <a:defRPr sz="2200" b="1">
                <a:solidFill>
                  <a:srgbClr val="FAD776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48FBA7B5-423F-34B3-F9F2-15AD6E26DA13}"/>
              </a:ext>
            </a:extLst>
          </p:cNvPr>
          <p:cNvCxnSpPr/>
          <p:nvPr userDrawn="1"/>
        </p:nvCxnSpPr>
        <p:spPr>
          <a:xfrm>
            <a:off x="-38100" y="6718300"/>
            <a:ext cx="123063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B45651A2-600B-D4D0-8D9C-E208688E214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4997538" y="4011573"/>
            <a:ext cx="2292230" cy="281142"/>
          </a:xfrm>
        </p:spPr>
        <p:txBody>
          <a:bodyPr wrap="square" anchor="t" anchorCtr="0">
            <a:noAutofit/>
          </a:bodyPr>
          <a:lstStyle>
            <a:lvl1pPr algn="ctr">
              <a:defRPr sz="1600" b="1">
                <a:solidFill>
                  <a:schemeClr val="bg1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F86AC9F8-04E8-561D-A123-5BFB1BAC4E76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1021886" y="4011573"/>
            <a:ext cx="2292230" cy="281142"/>
          </a:xfrm>
        </p:spPr>
        <p:txBody>
          <a:bodyPr wrap="square" anchor="t" anchorCtr="0">
            <a:noAutofit/>
          </a:bodyPr>
          <a:lstStyle>
            <a:lvl1pPr algn="ctr">
              <a:defRPr sz="1600" b="1">
                <a:solidFill>
                  <a:schemeClr val="bg1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5844E616-3334-F1AB-B000-5844CEF92FD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9003008" y="4011573"/>
            <a:ext cx="2292230" cy="281142"/>
          </a:xfrm>
        </p:spPr>
        <p:txBody>
          <a:bodyPr wrap="square" anchor="t" anchorCtr="0">
            <a:noAutofit/>
          </a:bodyPr>
          <a:lstStyle>
            <a:lvl1pPr algn="ctr">
              <a:defRPr sz="1600" b="1">
                <a:solidFill>
                  <a:schemeClr val="bg1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4387460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x bullet slide with icons (coloured background)">
    <p:bg>
      <p:bgPr>
        <a:solidFill>
          <a:srgbClr val="FAD77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FD395C-5094-16BA-B866-A9ED30B1F73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1641769" y="1636825"/>
            <a:ext cx="1383769" cy="1352881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E3FE22-FEEC-E123-EBEA-B0E8520638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F12DB22-CD1B-7D4A-9134-ED9E1C9534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90C569E0-37B6-73C2-5F50-5ADF001595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324031"/>
            <a:ext cx="1242328" cy="184666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l">
              <a:defRPr sz="12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 err="1"/>
              <a:t>abuhb.nhs.wales</a:t>
            </a:r>
            <a:endParaRPr lang="en-US" dirty="0"/>
          </a:p>
        </p:txBody>
      </p:sp>
      <p:sp>
        <p:nvSpPr>
          <p:cNvPr id="8" name="Picture Placeholder 2">
            <a:extLst>
              <a:ext uri="{FF2B5EF4-FFF2-40B4-BE49-F238E27FC236}">
                <a16:creationId xmlns:a16="http://schemas.microsoft.com/office/drawing/2014/main" id="{571054DB-3976-92EF-E2D6-67FC1AB5A755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5404115" y="1636825"/>
            <a:ext cx="1383769" cy="1352881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5EFE25D5-16F3-5497-6392-9E456C889D28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8956969" y="1636825"/>
            <a:ext cx="1383769" cy="1352881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4141F3BA-8554-8C0E-E7AD-ABC40FA13C06}"/>
              </a:ext>
            </a:extLst>
          </p:cNvPr>
          <p:cNvSpPr>
            <a:spLocks noGrp="1"/>
          </p:cNvSpPr>
          <p:nvPr>
            <p:ph type="pic" idx="15"/>
          </p:nvPr>
        </p:nvSpPr>
        <p:spPr>
          <a:xfrm>
            <a:off x="1641769" y="3983741"/>
            <a:ext cx="1383769" cy="1352881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7" name="Picture Placeholder 2">
            <a:extLst>
              <a:ext uri="{FF2B5EF4-FFF2-40B4-BE49-F238E27FC236}">
                <a16:creationId xmlns:a16="http://schemas.microsoft.com/office/drawing/2014/main" id="{F38DE595-44F8-E854-4414-7EC53F655C63}"/>
              </a:ext>
            </a:extLst>
          </p:cNvPr>
          <p:cNvSpPr>
            <a:spLocks noGrp="1"/>
          </p:cNvSpPr>
          <p:nvPr>
            <p:ph type="pic" idx="16"/>
          </p:nvPr>
        </p:nvSpPr>
        <p:spPr>
          <a:xfrm>
            <a:off x="5404115" y="3983741"/>
            <a:ext cx="1383769" cy="1352881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0" name="Picture Placeholder 2">
            <a:extLst>
              <a:ext uri="{FF2B5EF4-FFF2-40B4-BE49-F238E27FC236}">
                <a16:creationId xmlns:a16="http://schemas.microsoft.com/office/drawing/2014/main" id="{7CB03A73-9FE7-F44F-B0E2-92D4FFFB75C8}"/>
              </a:ext>
            </a:extLst>
          </p:cNvPr>
          <p:cNvSpPr>
            <a:spLocks noGrp="1"/>
          </p:cNvSpPr>
          <p:nvPr>
            <p:ph type="pic" idx="17"/>
          </p:nvPr>
        </p:nvSpPr>
        <p:spPr>
          <a:xfrm>
            <a:off x="8956969" y="3983741"/>
            <a:ext cx="1383769" cy="1352881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7A45F617-15CC-CB7B-52FD-669CA42894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022438" y="955170"/>
            <a:ext cx="2292230" cy="332399"/>
          </a:xfrm>
        </p:spPr>
        <p:txBody>
          <a:bodyPr wrap="square" anchor="t" anchorCtr="0">
            <a:noAutofit/>
          </a:bodyPr>
          <a:lstStyle>
            <a:lvl1pPr algn="ctr">
              <a:defRPr sz="2200" b="1">
                <a:solidFill>
                  <a:schemeClr val="tx1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B878E1A-8FF7-4273-26A3-535FD35F62F4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1187538" y="3186952"/>
            <a:ext cx="2292230" cy="281142"/>
          </a:xfrm>
        </p:spPr>
        <p:txBody>
          <a:bodyPr wrap="square" anchor="t" anchorCtr="0">
            <a:noAutofit/>
          </a:bodyPr>
          <a:lstStyle>
            <a:lvl1pPr algn="ctr">
              <a:defRPr sz="1600" b="1">
                <a:solidFill>
                  <a:schemeClr val="tx1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EB82DC95-6B1B-D2FF-1D21-90881433624F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4954469" y="3186952"/>
            <a:ext cx="2292230" cy="281142"/>
          </a:xfrm>
        </p:spPr>
        <p:txBody>
          <a:bodyPr wrap="square" anchor="t" anchorCtr="0">
            <a:noAutofit/>
          </a:bodyPr>
          <a:lstStyle>
            <a:lvl1pPr algn="ctr">
              <a:defRPr sz="1600" b="1">
                <a:solidFill>
                  <a:schemeClr val="tx1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6E4C453B-838D-33D8-EB78-17F959D99033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502739" y="3186952"/>
            <a:ext cx="2292230" cy="281142"/>
          </a:xfrm>
        </p:spPr>
        <p:txBody>
          <a:bodyPr wrap="square" anchor="t" anchorCtr="0">
            <a:noAutofit/>
          </a:bodyPr>
          <a:lstStyle>
            <a:lvl1pPr algn="ctr">
              <a:defRPr sz="1600" b="1">
                <a:solidFill>
                  <a:schemeClr val="tx1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E214765C-B1F9-07BE-1A90-DE778F641222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1187538" y="5527242"/>
            <a:ext cx="2292230" cy="281142"/>
          </a:xfrm>
        </p:spPr>
        <p:txBody>
          <a:bodyPr wrap="square" anchor="t" anchorCtr="0">
            <a:noAutofit/>
          </a:bodyPr>
          <a:lstStyle>
            <a:lvl1pPr algn="ctr">
              <a:defRPr sz="1600" b="1">
                <a:solidFill>
                  <a:schemeClr val="tx1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3E7C791-5510-2628-B623-54B45DC76ACA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4954469" y="5527242"/>
            <a:ext cx="2292230" cy="281142"/>
          </a:xfrm>
        </p:spPr>
        <p:txBody>
          <a:bodyPr wrap="square" anchor="t" anchorCtr="0">
            <a:noAutofit/>
          </a:bodyPr>
          <a:lstStyle>
            <a:lvl1pPr algn="ctr">
              <a:defRPr sz="1600" b="1">
                <a:solidFill>
                  <a:schemeClr val="tx1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A682E466-FFA3-1722-D871-05A729FA967D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502739" y="5527242"/>
            <a:ext cx="2292230" cy="281142"/>
          </a:xfrm>
        </p:spPr>
        <p:txBody>
          <a:bodyPr wrap="square" anchor="t" anchorCtr="0">
            <a:noAutofit/>
          </a:bodyPr>
          <a:lstStyle>
            <a:lvl1pPr algn="ctr">
              <a:defRPr sz="1600" b="1">
                <a:solidFill>
                  <a:schemeClr val="tx1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78122130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r char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E3FE22-FEEC-E123-EBEA-B0E8520638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12DB22-CD1B-7D4A-9134-ED9E1C953465}" type="slidenum">
              <a:rPr lang="en-US" smtClean="0"/>
              <a:t>‹#›</a:t>
            </a:fld>
            <a:endParaRPr lang="en-US"/>
          </a:p>
        </p:txBody>
      </p:sp>
      <p:sp>
        <p:nvSpPr>
          <p:cNvPr id="28" name="Title Placeholder 1">
            <a:extLst>
              <a:ext uri="{FF2B5EF4-FFF2-40B4-BE49-F238E27FC236}">
                <a16:creationId xmlns:a16="http://schemas.microsoft.com/office/drawing/2014/main" id="{1A222C92-A3C6-6AAE-9009-24FAA96673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04455"/>
            <a:ext cx="6360716" cy="498598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3" name="Text Placeholder 3">
            <a:extLst>
              <a:ext uri="{FF2B5EF4-FFF2-40B4-BE49-F238E27FC236}">
                <a16:creationId xmlns:a16="http://schemas.microsoft.com/office/drawing/2014/main" id="{A484361A-8FF6-137E-1E60-288206AF8C93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096329" y="2071079"/>
            <a:ext cx="5258235" cy="317367"/>
          </a:xfrm>
        </p:spPr>
        <p:txBody>
          <a:bodyPr wrap="square">
            <a:noAutofit/>
          </a:bodyPr>
          <a:lstStyle>
            <a:lvl1pPr>
              <a:defRPr sz="1800" b="1">
                <a:solidFill>
                  <a:schemeClr val="accent6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4" name="Text Placeholder 5">
            <a:extLst>
              <a:ext uri="{FF2B5EF4-FFF2-40B4-BE49-F238E27FC236}">
                <a16:creationId xmlns:a16="http://schemas.microsoft.com/office/drawing/2014/main" id="{C1A502BF-E04F-A511-D3E5-E1C5BE5C99D1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096000" y="2502801"/>
            <a:ext cx="5258233" cy="3116838"/>
          </a:xfrm>
        </p:spPr>
        <p:txBody>
          <a:bodyPr wrap="square">
            <a:noAutofit/>
          </a:bodyPr>
          <a:lstStyle>
            <a:lvl1pPr>
              <a:defRPr sz="1400"/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9" name="Footer Placeholder 4">
            <a:extLst>
              <a:ext uri="{FF2B5EF4-FFF2-40B4-BE49-F238E27FC236}">
                <a16:creationId xmlns:a16="http://schemas.microsoft.com/office/drawing/2014/main" id="{B2CA19BC-587E-020B-CA45-BD4FFABE90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324031"/>
            <a:ext cx="1242328" cy="184666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l">
              <a:defRPr sz="12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 err="1"/>
              <a:t>abuhb.nhs.wales</a:t>
            </a:r>
            <a:endParaRPr lang="en-US" dirty="0"/>
          </a:p>
        </p:txBody>
      </p:sp>
      <p:sp>
        <p:nvSpPr>
          <p:cNvPr id="4" name="Chart Placeholder 3">
            <a:extLst>
              <a:ext uri="{FF2B5EF4-FFF2-40B4-BE49-F238E27FC236}">
                <a16:creationId xmlns:a16="http://schemas.microsoft.com/office/drawing/2014/main" id="{C82CD335-5366-4205-624D-AA1B4E304D9B}"/>
              </a:ext>
            </a:extLst>
          </p:cNvPr>
          <p:cNvSpPr>
            <a:spLocks noGrp="1"/>
          </p:cNvSpPr>
          <p:nvPr>
            <p:ph type="chart" sz="quarter" idx="24"/>
          </p:nvPr>
        </p:nvSpPr>
        <p:spPr>
          <a:xfrm>
            <a:off x="838200" y="1972314"/>
            <a:ext cx="4518025" cy="3647436"/>
          </a:xfrm>
        </p:spPr>
        <p:txBody>
          <a:bodyPr/>
          <a:lstStyle/>
          <a:p>
            <a:r>
              <a:rPr lang="en-US"/>
              <a:t>Click icon to add chart</a:t>
            </a:r>
          </a:p>
        </p:txBody>
      </p:sp>
    </p:spTree>
    <p:extLst>
      <p:ext uri="{BB962C8B-B14F-4D97-AF65-F5344CB8AC3E}">
        <p14:creationId xmlns:p14="http://schemas.microsoft.com/office/powerpoint/2010/main" val="313193038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e char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E3FE22-FEEC-E123-EBEA-B0E8520638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12DB22-CD1B-7D4A-9134-ED9E1C953465}" type="slidenum">
              <a:rPr lang="en-US" smtClean="0"/>
              <a:t>‹#›</a:t>
            </a:fld>
            <a:endParaRPr lang="en-US"/>
          </a:p>
        </p:txBody>
      </p:sp>
      <p:sp>
        <p:nvSpPr>
          <p:cNvPr id="28" name="Title Placeholder 1">
            <a:extLst>
              <a:ext uri="{FF2B5EF4-FFF2-40B4-BE49-F238E27FC236}">
                <a16:creationId xmlns:a16="http://schemas.microsoft.com/office/drawing/2014/main" id="{1A222C92-A3C6-6AAE-9009-24FAA96673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04455"/>
            <a:ext cx="6360716" cy="498598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9" name="Footer Placeholder 4">
            <a:extLst>
              <a:ext uri="{FF2B5EF4-FFF2-40B4-BE49-F238E27FC236}">
                <a16:creationId xmlns:a16="http://schemas.microsoft.com/office/drawing/2014/main" id="{B2CA19BC-587E-020B-CA45-BD4FFABE90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324031"/>
            <a:ext cx="1242328" cy="184666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l">
              <a:defRPr sz="12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 err="1"/>
              <a:t>abuhb.nhs.wales</a:t>
            </a:r>
            <a:endParaRPr lang="en-US" dirty="0"/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5651AD66-44B0-177B-F07B-76FE26E3B35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651064" y="5027474"/>
            <a:ext cx="3362712" cy="317367"/>
          </a:xfrm>
        </p:spPr>
        <p:txBody>
          <a:bodyPr wrap="square">
            <a:noAutofit/>
          </a:bodyPr>
          <a:lstStyle>
            <a:lvl1pPr algn="ctr">
              <a:defRPr sz="1800" b="1">
                <a:solidFill>
                  <a:schemeClr val="accent1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EF56FD95-047D-2EAF-9366-565662FB32B7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1650733" y="5426705"/>
            <a:ext cx="3362711" cy="533107"/>
          </a:xfrm>
        </p:spPr>
        <p:txBody>
          <a:bodyPr wrap="square">
            <a:noAutofit/>
          </a:bodyPr>
          <a:lstStyle>
            <a:lvl1pPr algn="ctr">
              <a:defRPr sz="1400"/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5A8FF431-2F43-3608-7E01-FDCE7DC8E839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7175564" y="5027474"/>
            <a:ext cx="3362712" cy="317367"/>
          </a:xfrm>
        </p:spPr>
        <p:txBody>
          <a:bodyPr wrap="square">
            <a:noAutofit/>
          </a:bodyPr>
          <a:lstStyle>
            <a:lvl1pPr algn="ctr">
              <a:defRPr sz="1800" b="1">
                <a:solidFill>
                  <a:schemeClr val="accent1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87E7DD5A-A646-C13D-59EE-4BE67CE84405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7175233" y="5426705"/>
            <a:ext cx="3362711" cy="533107"/>
          </a:xfrm>
        </p:spPr>
        <p:txBody>
          <a:bodyPr wrap="square">
            <a:noAutofit/>
          </a:bodyPr>
          <a:lstStyle>
            <a:lvl1pPr algn="ctr">
              <a:defRPr sz="1400"/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3" name="Chart Placeholder 12">
            <a:extLst>
              <a:ext uri="{FF2B5EF4-FFF2-40B4-BE49-F238E27FC236}">
                <a16:creationId xmlns:a16="http://schemas.microsoft.com/office/drawing/2014/main" id="{4266F819-BADB-9067-4306-3AC60C51DEA0}"/>
              </a:ext>
            </a:extLst>
          </p:cNvPr>
          <p:cNvSpPr>
            <a:spLocks noGrp="1"/>
          </p:cNvSpPr>
          <p:nvPr>
            <p:ph type="chart" sz="quarter" idx="20"/>
          </p:nvPr>
        </p:nvSpPr>
        <p:spPr>
          <a:xfrm>
            <a:off x="939666" y="1671638"/>
            <a:ext cx="4784843" cy="3082925"/>
          </a:xfrm>
        </p:spPr>
        <p:txBody>
          <a:bodyPr/>
          <a:lstStyle/>
          <a:p>
            <a:r>
              <a:rPr lang="en-US"/>
              <a:t>Click icon to add chart</a:t>
            </a:r>
          </a:p>
        </p:txBody>
      </p:sp>
      <p:sp>
        <p:nvSpPr>
          <p:cNvPr id="14" name="Chart Placeholder 12">
            <a:extLst>
              <a:ext uri="{FF2B5EF4-FFF2-40B4-BE49-F238E27FC236}">
                <a16:creationId xmlns:a16="http://schemas.microsoft.com/office/drawing/2014/main" id="{E388CCDD-A019-7F8F-8F0B-EB6D68BCF0F3}"/>
              </a:ext>
            </a:extLst>
          </p:cNvPr>
          <p:cNvSpPr>
            <a:spLocks noGrp="1"/>
          </p:cNvSpPr>
          <p:nvPr>
            <p:ph type="chart" sz="quarter" idx="21"/>
          </p:nvPr>
        </p:nvSpPr>
        <p:spPr>
          <a:xfrm>
            <a:off x="6464166" y="1671638"/>
            <a:ext cx="4784843" cy="3082925"/>
          </a:xfrm>
        </p:spPr>
        <p:txBody>
          <a:bodyPr/>
          <a:lstStyle/>
          <a:p>
            <a:r>
              <a:rPr lang="en-US"/>
              <a:t>Click icon to add chart</a:t>
            </a:r>
          </a:p>
        </p:txBody>
      </p:sp>
    </p:spTree>
    <p:extLst>
      <p:ext uri="{BB962C8B-B14F-4D97-AF65-F5344CB8AC3E}">
        <p14:creationId xmlns:p14="http://schemas.microsoft.com/office/powerpoint/2010/main" val="7536617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info slide with single photo (curved corner) right hand s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E3FE22-FEEC-E123-EBEA-B0E8520638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12DB22-CD1B-7D4A-9134-ED9E1C953465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30C4A556-4255-638B-687F-64A72B9327D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532" y="2209723"/>
            <a:ext cx="4798698" cy="317367"/>
          </a:xfrm>
        </p:spPr>
        <p:txBody>
          <a:bodyPr wrap="square"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3" name="Text Placeholder 5">
            <a:extLst>
              <a:ext uri="{FF2B5EF4-FFF2-40B4-BE49-F238E27FC236}">
                <a16:creationId xmlns:a16="http://schemas.microsoft.com/office/drawing/2014/main" id="{C1CC5098-97E1-9DE1-7210-434D630124C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38201" y="2710554"/>
            <a:ext cx="4799028" cy="3262757"/>
          </a:xfrm>
        </p:spPr>
        <p:txBody>
          <a:bodyPr wrap="square">
            <a:noAutofit/>
          </a:bodyPr>
          <a:lstStyle>
            <a:lvl1pPr>
              <a:defRPr sz="1400"/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28" name="Title Placeholder 1">
            <a:extLst>
              <a:ext uri="{FF2B5EF4-FFF2-40B4-BE49-F238E27FC236}">
                <a16:creationId xmlns:a16="http://schemas.microsoft.com/office/drawing/2014/main" id="{1A222C92-A3C6-6AAE-9009-24FAA96673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60156"/>
            <a:ext cx="4798698" cy="997196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472E3676-D4F7-1273-9BC3-AC5183A8CF6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096000" y="1844"/>
            <a:ext cx="6096000" cy="6701952"/>
          </a:xfrm>
          <a:prstGeom prst="snipRoundRect">
            <a:avLst>
              <a:gd name="adj1" fmla="val 50000"/>
              <a:gd name="adj2" fmla="val 0"/>
            </a:avLst>
          </a:prstGeom>
          <a:solidFill>
            <a:srgbClr val="FAD776"/>
          </a:solidFill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B81EFD77-D1FF-AA29-9071-E2E134F7A9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324031"/>
            <a:ext cx="1242328" cy="184666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l">
              <a:defRPr sz="12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 err="1"/>
              <a:t>abuhb.nhs.wales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194516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info slide with single photo (curved corner) left hand s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FD395C-5094-16BA-B866-A9ED30B1F73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70" y="-2"/>
            <a:ext cx="6095930" cy="6702460"/>
          </a:xfrm>
          <a:prstGeom prst="round1Rect">
            <a:avLst>
              <a:gd name="adj" fmla="val 50000"/>
            </a:avLst>
          </a:prstGeom>
          <a:solidFill>
            <a:srgbClr val="FAD776"/>
          </a:solidFill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E3FE22-FEEC-E123-EBEA-B0E8520638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12DB22-CD1B-7D4A-9134-ED9E1C953465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30C4A556-4255-638B-687F-64A72B9327D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548927" y="2209723"/>
            <a:ext cx="4804873" cy="317367"/>
          </a:xfrm>
        </p:spPr>
        <p:txBody>
          <a:bodyPr wrap="square"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3" name="Text Placeholder 5">
            <a:extLst>
              <a:ext uri="{FF2B5EF4-FFF2-40B4-BE49-F238E27FC236}">
                <a16:creationId xmlns:a16="http://schemas.microsoft.com/office/drawing/2014/main" id="{C1CC5098-97E1-9DE1-7210-434D630124C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548597" y="2710554"/>
            <a:ext cx="4805203" cy="3262757"/>
          </a:xfrm>
        </p:spPr>
        <p:txBody>
          <a:bodyPr wrap="square">
            <a:noAutofit/>
          </a:bodyPr>
          <a:lstStyle>
            <a:lvl1pPr>
              <a:defRPr sz="1400"/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28" name="Title Placeholder 1">
            <a:extLst>
              <a:ext uri="{FF2B5EF4-FFF2-40B4-BE49-F238E27FC236}">
                <a16:creationId xmlns:a16="http://schemas.microsoft.com/office/drawing/2014/main" id="{1A222C92-A3C6-6AAE-9009-24FAA96673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48596" y="760156"/>
            <a:ext cx="4804873" cy="997196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164192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info slide with single photo left hand s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FD395C-5094-16BA-B866-A9ED30B1F73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-1" y="-1"/>
            <a:ext cx="6096001" cy="6724892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E3FE22-FEEC-E123-EBEA-B0E8520638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12DB22-CD1B-7D4A-9134-ED9E1C953465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30C4A556-4255-638B-687F-64A72B9327D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361047" y="2209723"/>
            <a:ext cx="4992753" cy="317367"/>
          </a:xfrm>
        </p:spPr>
        <p:txBody>
          <a:bodyPr wrap="square"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3" name="Text Placeholder 5">
            <a:extLst>
              <a:ext uri="{FF2B5EF4-FFF2-40B4-BE49-F238E27FC236}">
                <a16:creationId xmlns:a16="http://schemas.microsoft.com/office/drawing/2014/main" id="{C1CC5098-97E1-9DE1-7210-434D630124C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360717" y="2710554"/>
            <a:ext cx="4992754" cy="3262757"/>
          </a:xfrm>
        </p:spPr>
        <p:txBody>
          <a:bodyPr wrap="square">
            <a:noAutofit/>
          </a:bodyPr>
          <a:lstStyle>
            <a:lvl1pPr>
              <a:defRPr sz="1400"/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28" name="Title Placeholder 1">
            <a:extLst>
              <a:ext uri="{FF2B5EF4-FFF2-40B4-BE49-F238E27FC236}">
                <a16:creationId xmlns:a16="http://schemas.microsoft.com/office/drawing/2014/main" id="{1A222C92-A3C6-6AAE-9009-24FAA96673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0716" y="760156"/>
            <a:ext cx="4993084" cy="997196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556444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info slide with single photo right hand s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FD395C-5094-16BA-B866-A9ED30B1F73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096000" y="-1"/>
            <a:ext cx="6096001" cy="6724892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E3FE22-FEEC-E123-EBEA-B0E8520638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12DB22-CD1B-7D4A-9134-ED9E1C953465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30C4A556-4255-638B-687F-64A72B9327D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530" y="2209723"/>
            <a:ext cx="4676479" cy="317367"/>
          </a:xfrm>
        </p:spPr>
        <p:txBody>
          <a:bodyPr wrap="square"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3" name="Text Placeholder 5">
            <a:extLst>
              <a:ext uri="{FF2B5EF4-FFF2-40B4-BE49-F238E27FC236}">
                <a16:creationId xmlns:a16="http://schemas.microsoft.com/office/drawing/2014/main" id="{C1CC5098-97E1-9DE1-7210-434D630124C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38200" y="2710554"/>
            <a:ext cx="4676480" cy="3262757"/>
          </a:xfrm>
        </p:spPr>
        <p:txBody>
          <a:bodyPr wrap="square">
            <a:noAutofit/>
          </a:bodyPr>
          <a:lstStyle>
            <a:lvl1pPr>
              <a:defRPr sz="1400"/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28" name="Title Placeholder 1">
            <a:extLst>
              <a:ext uri="{FF2B5EF4-FFF2-40B4-BE49-F238E27FC236}">
                <a16:creationId xmlns:a16="http://schemas.microsoft.com/office/drawing/2014/main" id="{1A222C92-A3C6-6AAE-9009-24FAA96673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760156"/>
            <a:ext cx="4676789" cy="997196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44050B81-65ED-63B6-37E7-CC2AB86449A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324031"/>
            <a:ext cx="1242328" cy="184666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l">
              <a:defRPr sz="12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 err="1"/>
              <a:t>abuhb.nhs.wales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623030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B406F310-2B8D-3C32-560C-686817E6B4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6249" y="1012175"/>
            <a:ext cx="11113008" cy="849793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64FD1A6D-2D8E-1FD1-C1AC-CB5E9D5A15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42375" y="110364"/>
            <a:ext cx="5276852" cy="365125"/>
          </a:xfrm>
        </p:spPr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FADE430-EE65-B675-F031-7651DE9D6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7305BC9-1670-00D4-5A66-F52444DA9C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23959" y="104649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9496" y="2115542"/>
            <a:ext cx="11013670" cy="4451514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365055779"/>
      </p:ext>
    </p:extLst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9020AE8-89C6-343D-E6CC-5BC29F67E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04455"/>
            <a:ext cx="6360716" cy="498598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918051-ACE4-9B66-E6A8-89F0375A94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722664"/>
            <a:ext cx="4752904" cy="1807674"/>
          </a:xfrm>
          <a:prstGeom prst="rect">
            <a:avLst/>
          </a:prstGeom>
        </p:spPr>
        <p:txBody>
          <a:bodyPr vert="horz" wrap="none" lIns="0" tIns="0" rIns="0" bIns="0" rtlCol="0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C24033-9A8E-5144-225E-212CF3D9A74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66249" y="6324031"/>
            <a:ext cx="187551" cy="184666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2F12DB22-CD1B-7D4A-9134-ED9E1C953465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9C6C8D88-4570-341C-1942-62BA4CC5FAEC}"/>
              </a:ext>
            </a:extLst>
          </p:cNvPr>
          <p:cNvGrpSpPr/>
          <p:nvPr userDrawn="1"/>
        </p:nvGrpSpPr>
        <p:grpSpPr>
          <a:xfrm>
            <a:off x="-48984" y="6711041"/>
            <a:ext cx="12319907" cy="163285"/>
            <a:chOff x="-48984" y="6711041"/>
            <a:chExt cx="12319907" cy="163285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ABE167C-9C3F-9B6B-D9F1-CC66CC4D3E6E}"/>
                </a:ext>
              </a:extLst>
            </p:cNvPr>
            <p:cNvSpPr/>
            <p:nvPr userDrawn="1"/>
          </p:nvSpPr>
          <p:spPr>
            <a:xfrm>
              <a:off x="-48984" y="6723740"/>
              <a:ext cx="1232807" cy="150586"/>
            </a:xfrm>
            <a:prstGeom prst="rect">
              <a:avLst/>
            </a:prstGeom>
            <a:solidFill>
              <a:srgbClr val="E49B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A19A124B-88F3-18BB-79EA-49272F538472}"/>
                </a:ext>
              </a:extLst>
            </p:cNvPr>
            <p:cNvSpPr/>
            <p:nvPr userDrawn="1"/>
          </p:nvSpPr>
          <p:spPr>
            <a:xfrm>
              <a:off x="1183823" y="6723740"/>
              <a:ext cx="1232807" cy="15058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41427AA3-D5AD-D56D-8886-0F5B3BFCAACE}"/>
                </a:ext>
              </a:extLst>
            </p:cNvPr>
            <p:cNvSpPr/>
            <p:nvPr userDrawn="1"/>
          </p:nvSpPr>
          <p:spPr>
            <a:xfrm>
              <a:off x="2416630" y="6723740"/>
              <a:ext cx="1232807" cy="150586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AF8B4CB5-88F2-7594-DB9D-9868E101E2D6}"/>
                </a:ext>
              </a:extLst>
            </p:cNvPr>
            <p:cNvSpPr/>
            <p:nvPr userDrawn="1"/>
          </p:nvSpPr>
          <p:spPr>
            <a:xfrm>
              <a:off x="3641273" y="6723740"/>
              <a:ext cx="1232807" cy="150586"/>
            </a:xfrm>
            <a:prstGeom prst="rect">
              <a:avLst/>
            </a:prstGeom>
            <a:solidFill>
              <a:srgbClr val="FAD77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06FB38EA-AE76-1FAC-7459-B9E5E31B29E7}"/>
                </a:ext>
              </a:extLst>
            </p:cNvPr>
            <p:cNvSpPr/>
            <p:nvPr userDrawn="1"/>
          </p:nvSpPr>
          <p:spPr>
            <a:xfrm>
              <a:off x="4874080" y="6723740"/>
              <a:ext cx="1232807" cy="150586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2CE83CA5-7FDB-D3B2-94CD-CE2B9A515400}"/>
                </a:ext>
              </a:extLst>
            </p:cNvPr>
            <p:cNvSpPr/>
            <p:nvPr userDrawn="1"/>
          </p:nvSpPr>
          <p:spPr>
            <a:xfrm>
              <a:off x="6106888" y="6723740"/>
              <a:ext cx="1232807" cy="150586"/>
            </a:xfrm>
            <a:prstGeom prst="rect">
              <a:avLst/>
            </a:prstGeom>
            <a:solidFill>
              <a:srgbClr val="2DAF7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2DC90443-7A67-D6D3-59C1-E76016A6367C}"/>
                </a:ext>
              </a:extLst>
            </p:cNvPr>
            <p:cNvSpPr/>
            <p:nvPr userDrawn="1"/>
          </p:nvSpPr>
          <p:spPr>
            <a:xfrm>
              <a:off x="7339695" y="6723740"/>
              <a:ext cx="1232807" cy="150586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82A54361-7357-9ED4-4FD4-4C668794CF3C}"/>
                </a:ext>
              </a:extLst>
            </p:cNvPr>
            <p:cNvSpPr/>
            <p:nvPr userDrawn="1"/>
          </p:nvSpPr>
          <p:spPr>
            <a:xfrm>
              <a:off x="8572502" y="6723740"/>
              <a:ext cx="1232807" cy="150586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864274A6-9666-47C1-AFE9-E237465E4688}"/>
                </a:ext>
              </a:extLst>
            </p:cNvPr>
            <p:cNvSpPr/>
            <p:nvPr userDrawn="1"/>
          </p:nvSpPr>
          <p:spPr>
            <a:xfrm>
              <a:off x="9805309" y="6723740"/>
              <a:ext cx="1232807" cy="150586"/>
            </a:xfrm>
            <a:prstGeom prst="rect">
              <a:avLst/>
            </a:prstGeom>
            <a:solidFill>
              <a:srgbClr val="63519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90786CD9-2EBC-1E3F-A197-772ACEBD902C}"/>
                </a:ext>
              </a:extLst>
            </p:cNvPr>
            <p:cNvSpPr/>
            <p:nvPr userDrawn="1"/>
          </p:nvSpPr>
          <p:spPr>
            <a:xfrm>
              <a:off x="11038116" y="6723740"/>
              <a:ext cx="1232807" cy="150586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669F5EF5-02A3-13C5-A920-536200E3C57F}"/>
                </a:ext>
              </a:extLst>
            </p:cNvPr>
            <p:cNvCxnSpPr/>
            <p:nvPr userDrawn="1"/>
          </p:nvCxnSpPr>
          <p:spPr>
            <a:xfrm>
              <a:off x="-48984" y="6711041"/>
              <a:ext cx="12319907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3" name="Footer Placeholder 4">
            <a:extLst>
              <a:ext uri="{FF2B5EF4-FFF2-40B4-BE49-F238E27FC236}">
                <a16:creationId xmlns:a16="http://schemas.microsoft.com/office/drawing/2014/main" id="{9CF2DA01-7562-47A7-E79D-F07BC71C27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324031"/>
            <a:ext cx="1242328" cy="184666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l">
              <a:defRPr sz="12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 err="1"/>
              <a:t>abuhb.nhs.wales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2564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1" r:id="rId2"/>
    <p:sldLayoutId id="2147483670" r:id="rId3"/>
    <p:sldLayoutId id="2147483668" r:id="rId4"/>
    <p:sldLayoutId id="2147483662" r:id="rId5"/>
    <p:sldLayoutId id="2147483663" r:id="rId6"/>
    <p:sldLayoutId id="2147483664" r:id="rId7"/>
    <p:sldLayoutId id="2147483672" r:id="rId8"/>
    <p:sldLayoutId id="2147483665" r:id="rId9"/>
    <p:sldLayoutId id="2147483673" r:id="rId10"/>
    <p:sldLayoutId id="2147483675" r:id="rId11"/>
    <p:sldLayoutId id="2147483674" r:id="rId12"/>
    <p:sldLayoutId id="2147483676" r:id="rId13"/>
    <p:sldLayoutId id="2147483677" r:id="rId14"/>
    <p:sldLayoutId id="2147483678" r:id="rId15"/>
    <p:sldLayoutId id="2147483666" r:id="rId16"/>
    <p:sldLayoutId id="2147483669" r:id="rId17"/>
    <p:sldLayoutId id="2147483667" r:id="rId18"/>
    <p:sldLayoutId id="2147483671" r:id="rId19"/>
    <p:sldLayoutId id="2147483679" r:id="rId20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Tx/>
        <a:buNone/>
        <a:defRPr sz="2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3000" b="1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2200" kern="1200">
          <a:solidFill>
            <a:schemeClr val="accent5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1800" b="1" kern="1200">
          <a:solidFill>
            <a:schemeClr val="accent6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1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0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0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0.xml"/><Relationship Id="rId6" Type="http://schemas.openxmlformats.org/officeDocument/2006/relationships/image" Target="../media/image17.jpeg"/><Relationship Id="rId5" Type="http://schemas.openxmlformats.org/officeDocument/2006/relationships/image" Target="../media/image16.png"/><Relationship Id="rId4" Type="http://schemas.openxmlformats.org/officeDocument/2006/relationships/image" Target="../media/image15.png"/><Relationship Id="rId9" Type="http://schemas.openxmlformats.org/officeDocument/2006/relationships/image" Target="../media/image20.jpe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neurin-Bevan-University-Health-Board/biu_GitHub_Training" TargetMode="External"/><Relationship Id="rId1" Type="http://schemas.openxmlformats.org/officeDocument/2006/relationships/slideLayout" Target="../slideLayouts/slideLayout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0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0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0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0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20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0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0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0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0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sv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0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0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0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gigcymru.github.io/Solutions-Exchange/solutions.html?sort=updated" TargetMode="External"/><Relationship Id="rId2" Type="http://schemas.openxmlformats.org/officeDocument/2006/relationships/hyperlink" Target="https://abuhb.haloitsm.com/portal/service?btn=103&amp;root_category=22&amp;autolog=true&amp;shownewticket=true&amp;categoryid=52&amp;id=456" TargetMode="External"/><Relationship Id="rId1" Type="http://schemas.openxmlformats.org/officeDocument/2006/relationships/slideLayout" Target="../slideLayouts/slideLayout20.xml"/><Relationship Id="rId4" Type="http://schemas.openxmlformats.org/officeDocument/2006/relationships/image" Target="../media/image39.jpeg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4918DD-3FB4-ECF1-7474-46B34CAE7F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58704" y="2427434"/>
            <a:ext cx="6439776" cy="830997"/>
          </a:xfrm>
        </p:spPr>
        <p:txBody>
          <a:bodyPr/>
          <a:lstStyle/>
          <a:p>
            <a:r>
              <a:rPr lang="en-GB" dirty="0" err="1"/>
              <a:t>Github</a:t>
            </a:r>
            <a:r>
              <a:rPr lang="en-GB" dirty="0"/>
              <a:t> Training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E87F23-C395-09E0-5E46-D147412EC7D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462600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F11F58-1B02-2B5E-16AB-F41892BB30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542" y="389565"/>
            <a:ext cx="8343789" cy="636062"/>
          </a:xfrm>
        </p:spPr>
        <p:txBody>
          <a:bodyPr>
            <a:normAutofit/>
          </a:bodyPr>
          <a:lstStyle/>
          <a:p>
            <a:r>
              <a:rPr lang="en-GB" sz="3200" b="1" u="sng" dirty="0"/>
              <a:t>Modules to be covered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9A6EDB-FD47-0120-E2F7-AE5FAB5706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0911" y="1204859"/>
            <a:ext cx="11013670" cy="4590059"/>
          </a:xfrm>
        </p:spPr>
        <p:txBody>
          <a:bodyPr vert="horz" lIns="91440" tIns="45720" rIns="91440" bIns="45720" rtlCol="0" anchor="t">
            <a:normAutofit fontScale="92500" lnSpcReduction="20000"/>
          </a:bodyPr>
          <a:lstStyle/>
          <a:p>
            <a:pPr marL="285750" indent="-285750">
              <a:buChar char="•"/>
            </a:pPr>
            <a:r>
              <a:rPr lang="en-GB" sz="2200" dirty="0"/>
              <a:t>GitHub Overview</a:t>
            </a:r>
            <a:br>
              <a:rPr lang="en-GB" sz="2200" dirty="0"/>
            </a:br>
            <a:endParaRPr lang="en-GB" sz="2200" dirty="0"/>
          </a:p>
          <a:p>
            <a:pPr marL="285750" indent="-285750">
              <a:buChar char="•"/>
            </a:pPr>
            <a:r>
              <a:rPr lang="en-GB" sz="2200" dirty="0"/>
              <a:t>Key Git Concepts</a:t>
            </a:r>
            <a:br>
              <a:rPr lang="en-GB" sz="2200" dirty="0"/>
            </a:br>
            <a:endParaRPr lang="en-GB" sz="2200" dirty="0"/>
          </a:p>
          <a:p>
            <a:pPr marL="285750" indent="-285750">
              <a:buChar char="•"/>
            </a:pPr>
            <a:r>
              <a:rPr lang="en-GB" sz="2200" dirty="0"/>
              <a:t>Other GitHub Features </a:t>
            </a:r>
            <a:endParaRPr lang="en-GB" sz="2200" b="0" dirty="0"/>
          </a:p>
          <a:p>
            <a:pPr marL="514350" lvl="1" indent="-285750">
              <a:buFont typeface="Courier New" panose="020B0604020202020204" pitchFamily="34" charset="0"/>
              <a:buChar char="o"/>
            </a:pPr>
            <a:endParaRPr lang="en-GB" sz="2200" b="0" dirty="0"/>
          </a:p>
          <a:p>
            <a:pPr marL="285750" indent="-285750">
              <a:buFont typeface="Arial,Sans-Serif" panose="020B0604020202020204" pitchFamily="34" charset="0"/>
              <a:buChar char="•"/>
            </a:pPr>
            <a:r>
              <a:rPr lang="en-GB" sz="2200" dirty="0"/>
              <a:t>Using </a:t>
            </a:r>
            <a:r>
              <a:rPr lang="en-GB" sz="2200" dirty="0" err="1"/>
              <a:t>CoPilot</a:t>
            </a:r>
            <a:r>
              <a:rPr lang="en-GB" sz="2200" dirty="0"/>
              <a:t> effectively</a:t>
            </a:r>
          </a:p>
          <a:p>
            <a:pPr marL="285750" indent="-285750">
              <a:buFont typeface="Arial,Sans-Serif" panose="020B0604020202020204" pitchFamily="34" charset="0"/>
              <a:buChar char="•"/>
            </a:pPr>
            <a:endParaRPr lang="en-GB" sz="2200" b="0" dirty="0"/>
          </a:p>
          <a:p>
            <a:pPr marL="285750" indent="-285750">
              <a:buFont typeface="Arial,Sans-Serif" panose="020B0604020202020204" pitchFamily="34" charset="0"/>
              <a:buChar char="•"/>
            </a:pPr>
            <a:r>
              <a:rPr lang="en-GB" sz="2200" b="0" dirty="0" err="1"/>
              <a:t>Codespaces</a:t>
            </a:r>
            <a:endParaRPr lang="en-GB" sz="2200" b="0" dirty="0"/>
          </a:p>
          <a:p>
            <a:pPr marL="285750" indent="-285750">
              <a:buFont typeface="Arial,Sans-Serif" panose="020B0604020202020204" pitchFamily="34" charset="0"/>
              <a:buChar char="•"/>
            </a:pPr>
            <a:endParaRPr lang="en-GB" sz="2200" b="0" dirty="0"/>
          </a:p>
          <a:p>
            <a:pPr marL="285750" indent="-285750">
              <a:buFont typeface="Arial,Sans-Serif" panose="020B0604020202020204" pitchFamily="34" charset="0"/>
              <a:buChar char="•"/>
            </a:pPr>
            <a:r>
              <a:rPr lang="en-GB" sz="2200" b="0" dirty="0"/>
              <a:t>Exploring other </a:t>
            </a:r>
            <a:r>
              <a:rPr lang="en-GB" sz="2200" b="0" dirty="0" err="1"/>
              <a:t>Github</a:t>
            </a:r>
            <a:r>
              <a:rPr lang="en-GB" sz="2200" b="0" dirty="0"/>
              <a:t> products</a:t>
            </a:r>
          </a:p>
          <a:p>
            <a:pPr marL="514350" lvl="1" indent="-285750">
              <a:buFont typeface="Courier New" panose="020B0604020202020204" pitchFamily="34" charset="0"/>
              <a:buChar char="o"/>
            </a:pPr>
            <a:endParaRPr lang="en-GB" dirty="0"/>
          </a:p>
          <a:p>
            <a:pPr lvl="1"/>
            <a:br>
              <a:rPr lang="en-GB" dirty="0"/>
            </a:br>
            <a:endParaRPr lang="en-GB" dirty="0"/>
          </a:p>
          <a:p>
            <a:pPr marL="285750" indent="-285750">
              <a:buChar char="•"/>
            </a:pPr>
            <a:endParaRPr lang="en-GB" dirty="0"/>
          </a:p>
          <a:p>
            <a:pPr marL="514350" lvl="1" indent="-285750">
              <a:buFont typeface="Courier New" panose="020B0604020202020204" pitchFamily="34" charset="0"/>
              <a:buChar char="o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</p:txBody>
      </p:sp>
      <p:pic>
        <p:nvPicPr>
          <p:cNvPr id="4" name="Picture 3" descr="Clipboard Clip Art at Clker.com - vector clip art online, royalty free &amp;  public domain">
            <a:extLst>
              <a:ext uri="{FF2B5EF4-FFF2-40B4-BE49-F238E27FC236}">
                <a16:creationId xmlns:a16="http://schemas.microsoft.com/office/drawing/2014/main" id="{B0E3B12E-F74D-B766-ADC4-E51E3EB957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2951" y="2033038"/>
            <a:ext cx="2903119" cy="2933700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521F9B-D9FC-06E8-07A8-52FCF5072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pPr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9095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4918DD-3FB4-ECF1-7474-46B34CAE7F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58704" y="2427434"/>
            <a:ext cx="6439776" cy="830997"/>
          </a:xfrm>
        </p:spPr>
        <p:txBody>
          <a:bodyPr/>
          <a:lstStyle/>
          <a:p>
            <a:r>
              <a:rPr lang="en-GB" dirty="0"/>
              <a:t>GitHub Overview</a:t>
            </a:r>
          </a:p>
        </p:txBody>
      </p:sp>
    </p:spTree>
    <p:extLst>
      <p:ext uri="{BB962C8B-B14F-4D97-AF65-F5344CB8AC3E}">
        <p14:creationId xmlns:p14="http://schemas.microsoft.com/office/powerpoint/2010/main" val="13945549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F11F58-1B02-2B5E-16AB-F41892BB30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542" y="389565"/>
            <a:ext cx="8343789" cy="636062"/>
          </a:xfrm>
        </p:spPr>
        <p:txBody>
          <a:bodyPr>
            <a:normAutofit/>
          </a:bodyPr>
          <a:lstStyle/>
          <a:p>
            <a:r>
              <a:rPr lang="en-GB" sz="3200" b="1" u="sng" dirty="0"/>
              <a:t>Git vs GitHub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9A6EDB-FD47-0120-E2F7-AE5FAB5706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0911" y="1204859"/>
            <a:ext cx="11013670" cy="4590059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514350" lvl="1" indent="-285750">
              <a:buFont typeface="Courier New" panose="020B0604020202020204" pitchFamily="34" charset="0"/>
              <a:buChar char="o"/>
            </a:pPr>
            <a:endParaRPr lang="en-GB" dirty="0"/>
          </a:p>
          <a:p>
            <a:pPr lvl="1"/>
            <a:br>
              <a:rPr lang="en-GB" dirty="0"/>
            </a:br>
            <a:endParaRPr lang="en-GB" dirty="0"/>
          </a:p>
          <a:p>
            <a:pPr marL="285750" indent="-285750">
              <a:buChar char="•"/>
            </a:pPr>
            <a:endParaRPr lang="en-GB" dirty="0"/>
          </a:p>
          <a:p>
            <a:pPr marL="514350" lvl="1" indent="-285750">
              <a:buFont typeface="Courier New" panose="020B0604020202020204" pitchFamily="34" charset="0"/>
              <a:buChar char="o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521F9B-D9FC-06E8-07A8-52FCF5072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pPr/>
              <a:t>4</a:t>
            </a:fld>
            <a:endParaRPr lang="en-GB"/>
          </a:p>
        </p:txBody>
      </p:sp>
      <p:pic>
        <p:nvPicPr>
          <p:cNvPr id="1026" name="Picture 2" descr="Git - Logo Downloads">
            <a:extLst>
              <a:ext uri="{FF2B5EF4-FFF2-40B4-BE49-F238E27FC236}">
                <a16:creationId xmlns:a16="http://schemas.microsoft.com/office/drawing/2014/main" id="{56E22239-CCA2-4E39-BDC9-1F34AEB8FE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0911" y="4911831"/>
            <a:ext cx="1409700" cy="1409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GitHub Logo, Git Hub Icon On White Background 16833872 ...">
            <a:extLst>
              <a:ext uri="{FF2B5EF4-FFF2-40B4-BE49-F238E27FC236}">
                <a16:creationId xmlns:a16="http://schemas.microsoft.com/office/drawing/2014/main" id="{0EBAD5EE-31A7-4981-AD91-73C20C0EB6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34356" y="4911831"/>
            <a:ext cx="1800225" cy="1409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BC22999-8ACD-415B-825B-81AEC5879DE4}"/>
              </a:ext>
            </a:extLst>
          </p:cNvPr>
          <p:cNvSpPr txBox="1"/>
          <p:nvPr/>
        </p:nvSpPr>
        <p:spPr>
          <a:xfrm>
            <a:off x="1049867" y="1160547"/>
            <a:ext cx="105032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Git keeps track of changes to a codebase or project. </a:t>
            </a:r>
            <a:r>
              <a:rPr lang="en-GB" dirty="0" err="1"/>
              <a:t>Github</a:t>
            </a:r>
            <a:r>
              <a:rPr lang="en-GB" dirty="0"/>
              <a:t> helps teams share and manage these changes.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</p:txBody>
      </p:sp>
      <p:sp>
        <p:nvSpPr>
          <p:cNvPr id="8" name="Speech Bubble: Oval 7">
            <a:extLst>
              <a:ext uri="{FF2B5EF4-FFF2-40B4-BE49-F238E27FC236}">
                <a16:creationId xmlns:a16="http://schemas.microsoft.com/office/drawing/2014/main" id="{86C84A21-09CA-4689-9A3D-42C21CC5D247}"/>
              </a:ext>
            </a:extLst>
          </p:cNvPr>
          <p:cNvSpPr/>
          <p:nvPr/>
        </p:nvSpPr>
        <p:spPr>
          <a:xfrm>
            <a:off x="1699876" y="2306159"/>
            <a:ext cx="3706283" cy="2498015"/>
          </a:xfrm>
          <a:prstGeom prst="wedgeEllipseCallout">
            <a:avLst>
              <a:gd name="adj1" fmla="val -47560"/>
              <a:gd name="adj2" fmla="val 68601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Created by Linus Torvalds in 2005, Git is a distributed version control system. </a:t>
            </a:r>
          </a:p>
          <a:p>
            <a:pPr algn="ctr"/>
            <a:endParaRPr lang="en-GB" sz="1200" dirty="0">
              <a:solidFill>
                <a:schemeClr val="tx1"/>
              </a:solidFill>
            </a:endParaRPr>
          </a:p>
          <a:p>
            <a:pPr algn="ctr"/>
            <a:r>
              <a:rPr lang="en-GB" sz="1200" dirty="0">
                <a:solidFill>
                  <a:schemeClr val="tx1"/>
                </a:solidFill>
              </a:rPr>
              <a:t>It operates locally and invoked through commands. </a:t>
            </a:r>
          </a:p>
          <a:p>
            <a:pPr algn="ctr"/>
            <a:endParaRPr lang="en-GB" sz="1200" dirty="0">
              <a:solidFill>
                <a:schemeClr val="tx1"/>
              </a:solidFill>
            </a:endParaRPr>
          </a:p>
          <a:p>
            <a:pPr algn="ctr"/>
            <a:r>
              <a:rPr lang="en-GB" sz="1200" dirty="0">
                <a:solidFill>
                  <a:schemeClr val="tx1"/>
                </a:solidFill>
              </a:rPr>
              <a:t>Git exists without </a:t>
            </a:r>
            <a:r>
              <a:rPr lang="en-GB" sz="1200" dirty="0" err="1">
                <a:solidFill>
                  <a:schemeClr val="tx1"/>
                </a:solidFill>
              </a:rPr>
              <a:t>Github</a:t>
            </a:r>
            <a:r>
              <a:rPr lang="en-GB" sz="1200" dirty="0">
                <a:solidFill>
                  <a:schemeClr val="tx1"/>
                </a:solidFill>
              </a:rPr>
              <a:t>. </a:t>
            </a:r>
          </a:p>
        </p:txBody>
      </p:sp>
      <p:sp>
        <p:nvSpPr>
          <p:cNvPr id="11" name="Speech Bubble: Oval 10">
            <a:extLst>
              <a:ext uri="{FF2B5EF4-FFF2-40B4-BE49-F238E27FC236}">
                <a16:creationId xmlns:a16="http://schemas.microsoft.com/office/drawing/2014/main" id="{DE663009-7A1C-4BFD-9236-ACA387EA2CF6}"/>
              </a:ext>
            </a:extLst>
          </p:cNvPr>
          <p:cNvSpPr/>
          <p:nvPr/>
        </p:nvSpPr>
        <p:spPr>
          <a:xfrm>
            <a:off x="5717116" y="2207475"/>
            <a:ext cx="3706283" cy="3033392"/>
          </a:xfrm>
          <a:prstGeom prst="wedgeEllipseCallout">
            <a:avLst>
              <a:gd name="adj1" fmla="val 66431"/>
              <a:gd name="adj2" fmla="val 51355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Developed by Microsoft, </a:t>
            </a:r>
            <a:r>
              <a:rPr lang="en-GB" sz="1200" dirty="0" err="1">
                <a:solidFill>
                  <a:schemeClr val="tx1"/>
                </a:solidFill>
              </a:rPr>
              <a:t>Github</a:t>
            </a:r>
            <a:r>
              <a:rPr lang="en-GB" sz="1200" dirty="0">
                <a:solidFill>
                  <a:schemeClr val="tx1"/>
                </a:solidFill>
              </a:rPr>
              <a:t> provides an online space to store repositories and foster collaboration amongst teams. </a:t>
            </a:r>
          </a:p>
          <a:p>
            <a:pPr algn="ctr"/>
            <a:endParaRPr lang="en-GB" sz="1200" dirty="0">
              <a:solidFill>
                <a:schemeClr val="tx1"/>
              </a:solidFill>
            </a:endParaRPr>
          </a:p>
          <a:p>
            <a:pPr algn="ctr"/>
            <a:r>
              <a:rPr lang="en-GB" sz="1200" dirty="0">
                <a:solidFill>
                  <a:schemeClr val="tx1"/>
                </a:solidFill>
              </a:rPr>
              <a:t>Enhances Git with additional features including seamless integration with other online tools. </a:t>
            </a:r>
          </a:p>
          <a:p>
            <a:pPr algn="ctr"/>
            <a:endParaRPr lang="en-GB" sz="1200" dirty="0">
              <a:solidFill>
                <a:schemeClr val="tx1"/>
              </a:solidFill>
            </a:endParaRPr>
          </a:p>
          <a:p>
            <a:pPr algn="ctr"/>
            <a:r>
              <a:rPr lang="en-GB" sz="1200" dirty="0" err="1">
                <a:solidFill>
                  <a:schemeClr val="tx1"/>
                </a:solidFill>
              </a:rPr>
              <a:t>Github</a:t>
            </a:r>
            <a:r>
              <a:rPr lang="en-GB" sz="1200" dirty="0">
                <a:solidFill>
                  <a:schemeClr val="tx1"/>
                </a:solidFill>
              </a:rPr>
              <a:t> </a:t>
            </a:r>
            <a:r>
              <a:rPr lang="en-GB" sz="1200" b="1" dirty="0">
                <a:solidFill>
                  <a:schemeClr val="tx1"/>
                </a:solidFill>
              </a:rPr>
              <a:t>cannot work </a:t>
            </a:r>
            <a:r>
              <a:rPr lang="en-GB" sz="1200" dirty="0">
                <a:solidFill>
                  <a:schemeClr val="tx1"/>
                </a:solidFill>
              </a:rPr>
              <a:t>with Git. </a:t>
            </a:r>
          </a:p>
        </p:txBody>
      </p:sp>
    </p:spTree>
    <p:extLst>
      <p:ext uri="{BB962C8B-B14F-4D97-AF65-F5344CB8AC3E}">
        <p14:creationId xmlns:p14="http://schemas.microsoft.com/office/powerpoint/2010/main" val="37735209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F11F58-1B02-2B5E-16AB-F41892BB30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0911" y="427020"/>
            <a:ext cx="8343789" cy="636062"/>
          </a:xfrm>
        </p:spPr>
        <p:txBody>
          <a:bodyPr>
            <a:normAutofit/>
          </a:bodyPr>
          <a:lstStyle/>
          <a:p>
            <a:r>
              <a:rPr lang="en-GB" sz="3200" b="1" u="sng" dirty="0" err="1"/>
              <a:t>Github</a:t>
            </a:r>
            <a:r>
              <a:rPr lang="en-GB" sz="3200" b="1" u="sng" dirty="0"/>
              <a:t> Enterprise Cloud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9A6EDB-FD47-0120-E2F7-AE5FAB5706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0911" y="1204859"/>
            <a:ext cx="11013670" cy="4590059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514350" lvl="1" indent="-285750">
              <a:buFont typeface="Courier New" panose="020B0604020202020204" pitchFamily="34" charset="0"/>
              <a:buChar char="o"/>
            </a:pPr>
            <a:endParaRPr lang="en-GB" dirty="0"/>
          </a:p>
          <a:p>
            <a:pPr lvl="1"/>
            <a:br>
              <a:rPr lang="en-GB" dirty="0"/>
            </a:br>
            <a:endParaRPr lang="en-GB" dirty="0"/>
          </a:p>
          <a:p>
            <a:pPr marL="285750" indent="-285750">
              <a:buChar char="•"/>
            </a:pPr>
            <a:endParaRPr lang="en-GB" dirty="0"/>
          </a:p>
          <a:p>
            <a:pPr marL="514350" lvl="1" indent="-285750">
              <a:buFont typeface="Courier New" panose="020B0604020202020204" pitchFamily="34" charset="0"/>
              <a:buChar char="o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521F9B-D9FC-06E8-07A8-52FCF5072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pPr/>
              <a:t>5</a:t>
            </a:fld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BC22999-8ACD-415B-825B-81AEC5879DE4}"/>
              </a:ext>
            </a:extLst>
          </p:cNvPr>
          <p:cNvSpPr txBox="1"/>
          <p:nvPr/>
        </p:nvSpPr>
        <p:spPr>
          <a:xfrm>
            <a:off x="520911" y="1475001"/>
            <a:ext cx="10503299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 dirty="0"/>
              <a:t>ABUHB uses </a:t>
            </a:r>
            <a:r>
              <a:rPr lang="en-GB" b="1" dirty="0" err="1"/>
              <a:t>Github</a:t>
            </a:r>
            <a:r>
              <a:rPr lang="en-GB" b="1" dirty="0"/>
              <a:t> Enterprise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dirty="0"/>
              <a:t>Our organisation differs from a personal </a:t>
            </a:r>
            <a:r>
              <a:rPr lang="en-GB" dirty="0" err="1"/>
              <a:t>Github</a:t>
            </a:r>
            <a:r>
              <a:rPr lang="en-GB" dirty="0"/>
              <a:t> free account.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dirty="0"/>
              <a:t>Access is controlled through the organisation and admins set policies for repositories, </a:t>
            </a:r>
            <a:r>
              <a:rPr lang="en-GB" dirty="0" err="1"/>
              <a:t>codespaces</a:t>
            </a:r>
            <a:r>
              <a:rPr lang="en-GB" dirty="0"/>
              <a:t>, </a:t>
            </a:r>
            <a:r>
              <a:rPr lang="en-GB" dirty="0" err="1"/>
              <a:t>CoPilot</a:t>
            </a:r>
            <a:r>
              <a:rPr lang="en-GB" dirty="0"/>
              <a:t> usage and other features.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 dirty="0"/>
              <a:t>What </a:t>
            </a:r>
            <a:r>
              <a:rPr lang="en-GB" b="1" dirty="0" err="1"/>
              <a:t>Github</a:t>
            </a:r>
            <a:r>
              <a:rPr lang="en-GB" b="1" dirty="0"/>
              <a:t> Enterprise provides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dirty="0"/>
              <a:t>Ability to enforce branch protection and need for reviews on private repositories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dirty="0"/>
              <a:t>Centralised user management and permissions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dirty="0"/>
              <a:t>Full auditability of log-ins and compliance reporting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dirty="0"/>
              <a:t>Increased governance over code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928642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F11F58-1B02-2B5E-16AB-F41892BB30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0911" y="427020"/>
            <a:ext cx="8343789" cy="636062"/>
          </a:xfrm>
        </p:spPr>
        <p:txBody>
          <a:bodyPr>
            <a:normAutofit/>
          </a:bodyPr>
          <a:lstStyle/>
          <a:p>
            <a:r>
              <a:rPr lang="en-GB" sz="3200" b="1" u="sng" dirty="0"/>
              <a:t>Why </a:t>
            </a:r>
            <a:r>
              <a:rPr lang="en-GB" sz="3200" b="1" u="sng" dirty="0" err="1"/>
              <a:t>Github</a:t>
            </a:r>
            <a:r>
              <a:rPr lang="en-GB" sz="3200" b="1" u="sng" dirty="0"/>
              <a:t> fo</a:t>
            </a:r>
            <a:r>
              <a:rPr lang="en-GB" sz="3200" u="sng" dirty="0"/>
              <a:t>r analytics?</a:t>
            </a:r>
            <a:endParaRPr lang="en-GB" sz="3200" b="1" u="sng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9A6EDB-FD47-0120-E2F7-AE5FAB5706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0911" y="1204859"/>
            <a:ext cx="11013670" cy="4590059"/>
          </a:xfrm>
        </p:spPr>
        <p:txBody>
          <a:bodyPr vert="horz" lIns="91440" tIns="45720" rIns="91440" bIns="45720" rtlCol="0" anchor="t">
            <a:normAutofit/>
          </a:bodyPr>
          <a:lstStyle/>
          <a:p>
            <a:pPr lvl="1"/>
            <a:br>
              <a:rPr lang="en-GB" dirty="0"/>
            </a:br>
            <a:endParaRPr lang="en-GB" dirty="0"/>
          </a:p>
          <a:p>
            <a:pPr marL="285750" indent="-285750">
              <a:buChar char="•"/>
            </a:pPr>
            <a:endParaRPr lang="en-GB" dirty="0"/>
          </a:p>
          <a:p>
            <a:pPr marL="514350" lvl="1" indent="-285750">
              <a:buFont typeface="Courier New" panose="020B0604020202020204" pitchFamily="34" charset="0"/>
              <a:buChar char="o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521F9B-D9FC-06E8-07A8-52FCF5072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pPr/>
              <a:t>6</a:t>
            </a:fld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825C012-3404-4C60-A760-764C43E567DF}"/>
              </a:ext>
            </a:extLst>
          </p:cNvPr>
          <p:cNvSpPr txBox="1"/>
          <p:nvPr/>
        </p:nvSpPr>
        <p:spPr>
          <a:xfrm>
            <a:off x="520911" y="1475001"/>
            <a:ext cx="10503299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 dirty="0"/>
              <a:t>Faster development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dirty="0"/>
              <a:t>Removes technical barriers for collaborative work.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dirty="0"/>
              <a:t>Ability to reuse shared codes and resources.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 dirty="0"/>
              <a:t>Enhanced security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dirty="0"/>
              <a:t>Share code securely within approved protocols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dirty="0"/>
              <a:t>Ability to add advanced security checks on code and analytics.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 dirty="0"/>
              <a:t>Collaboration and auditability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dirty="0"/>
              <a:t>All code lives in repositories – not emails, </a:t>
            </a:r>
            <a:r>
              <a:rPr lang="en-GB" dirty="0" err="1"/>
              <a:t>Sharepoint</a:t>
            </a:r>
            <a:r>
              <a:rPr lang="en-GB" dirty="0"/>
              <a:t> or personal folders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dirty="0"/>
              <a:t>Every change can be traceable and version history easily documented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dirty="0"/>
              <a:t>Ability to rollback changes – no need for manual backups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 dirty="0"/>
              <a:t>Single source of truth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dirty="0"/>
              <a:t>One canonical repository per project or product (with ability to fork/clone repos if required)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dirty="0"/>
              <a:t>Ability to add protection to production resources – only reviewed code can reach production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dirty="0"/>
              <a:t>Better quality assurance and knowledge transfer</a:t>
            </a:r>
          </a:p>
        </p:txBody>
      </p:sp>
    </p:spTree>
    <p:extLst>
      <p:ext uri="{BB962C8B-B14F-4D97-AF65-F5344CB8AC3E}">
        <p14:creationId xmlns:p14="http://schemas.microsoft.com/office/powerpoint/2010/main" val="31569967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F11F58-1B02-2B5E-16AB-F41892BB30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0911" y="427020"/>
            <a:ext cx="8343789" cy="636062"/>
          </a:xfrm>
        </p:spPr>
        <p:txBody>
          <a:bodyPr>
            <a:normAutofit/>
          </a:bodyPr>
          <a:lstStyle/>
          <a:p>
            <a:r>
              <a:rPr lang="en-GB" sz="3200" b="1" u="sng" dirty="0"/>
              <a:t>Why </a:t>
            </a:r>
            <a:r>
              <a:rPr lang="en-GB" sz="3200" b="1" u="sng" dirty="0" err="1"/>
              <a:t>Github</a:t>
            </a:r>
            <a:r>
              <a:rPr lang="en-GB" sz="3200" b="1" u="sng" dirty="0"/>
              <a:t> fo</a:t>
            </a:r>
            <a:r>
              <a:rPr lang="en-GB" sz="3200" u="sng" dirty="0"/>
              <a:t>r analytics?</a:t>
            </a:r>
            <a:endParaRPr lang="en-GB" sz="3200" b="1" u="sng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521F9B-D9FC-06E8-07A8-52FCF5072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pPr/>
              <a:t>7</a:t>
            </a:fld>
            <a:endParaRPr lang="en-GB"/>
          </a:p>
        </p:txBody>
      </p:sp>
      <p:pic>
        <p:nvPicPr>
          <p:cNvPr id="7170" name="Picture 2" descr="Google Cloud Platform Tutorial: From Zero to Hero with GCP">
            <a:extLst>
              <a:ext uri="{FF2B5EF4-FFF2-40B4-BE49-F238E27FC236}">
                <a16:creationId xmlns:a16="http://schemas.microsoft.com/office/drawing/2014/main" id="{A19C2F9B-C1CD-4FDA-93C6-00BA40CFE1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3932" y="1406046"/>
            <a:ext cx="3103938" cy="17417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2" name="Picture 4" descr="Amazon Web Services - Wikipedia">
            <a:extLst>
              <a:ext uri="{FF2B5EF4-FFF2-40B4-BE49-F238E27FC236}">
                <a16:creationId xmlns:a16="http://schemas.microsoft.com/office/drawing/2014/main" id="{1DEF9D55-3132-41EF-8890-467D28C0D0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5990" y="3710214"/>
            <a:ext cx="2161413" cy="12938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4" name="Picture 6" descr="Terraform - Visual Studio Marketplace">
            <a:extLst>
              <a:ext uri="{FF2B5EF4-FFF2-40B4-BE49-F238E27FC236}">
                <a16:creationId xmlns:a16="http://schemas.microsoft.com/office/drawing/2014/main" id="{02D2E044-D139-471B-8C85-41FB1F944C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19490" y="1188637"/>
            <a:ext cx="2161413" cy="21614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6" name="Picture 8" descr="Docker - Visual Studio Marketplace">
            <a:extLst>
              <a:ext uri="{FF2B5EF4-FFF2-40B4-BE49-F238E27FC236}">
                <a16:creationId xmlns:a16="http://schemas.microsoft.com/office/drawing/2014/main" id="{09F59136-F823-4162-812F-92B56C6327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41874" y="3395830"/>
            <a:ext cx="1901861" cy="16228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80" name="Picture 12" descr="Microsoft Teams - Wikipedia">
            <a:extLst>
              <a:ext uri="{FF2B5EF4-FFF2-40B4-BE49-F238E27FC236}">
                <a16:creationId xmlns:a16="http://schemas.microsoft.com/office/drawing/2014/main" id="{7A0271DC-D65E-42AD-B331-E2A137AD66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59086" y="1572970"/>
            <a:ext cx="1320396" cy="13927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82" name="Picture 14" descr="Distribute your Flutter Application with Azure DevOps and App Center | by Luke Moody | Level Up Coding">
            <a:extLst>
              <a:ext uri="{FF2B5EF4-FFF2-40B4-BE49-F238E27FC236}">
                <a16:creationId xmlns:a16="http://schemas.microsoft.com/office/drawing/2014/main" id="{1CF001B1-D964-42F8-B333-1D76BE43C0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92418" y="3429000"/>
            <a:ext cx="2641854" cy="16530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84" name="Picture 16" descr="Dependabot · GitHub">
            <a:extLst>
              <a:ext uri="{FF2B5EF4-FFF2-40B4-BE49-F238E27FC236}">
                <a16:creationId xmlns:a16="http://schemas.microsoft.com/office/drawing/2014/main" id="{3C567452-0870-4E00-9738-F7DABCAF6D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84184" y="1101415"/>
            <a:ext cx="2046372" cy="20463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86" name="Picture 18" descr="Microsoft Power Automate - Wikipedia">
            <a:extLst>
              <a:ext uri="{FF2B5EF4-FFF2-40B4-BE49-F238E27FC236}">
                <a16:creationId xmlns:a16="http://schemas.microsoft.com/office/drawing/2014/main" id="{1A841108-E423-492D-975F-A53C01549F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51181" y="3279028"/>
            <a:ext cx="1928424" cy="1952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784908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 tmFilter="0, 0; .2, .5; .8, .5; 1, 0"/>
                                        <p:tgtEl>
                                          <p:spTgt spid="7170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250" autoRev="1" fill="hold"/>
                                        <p:tgtEl>
                                          <p:spTgt spid="7170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8" presetID="2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500" tmFilter="0, 0; .2, .5; .8, .5; 1, 0"/>
                                        <p:tgtEl>
                                          <p:spTgt spid="717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0" dur="250" autoRev="1" fill="hold"/>
                                        <p:tgtEl>
                                          <p:spTgt spid="7172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1" presetID="2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 tmFilter="0, 0; .2, .5; .8, .5; 1, 0"/>
                                        <p:tgtEl>
                                          <p:spTgt spid="717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" dur="250" autoRev="1" fill="hold"/>
                                        <p:tgtEl>
                                          <p:spTgt spid="7174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4" presetID="2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" dur="500" tmFilter="0, 0; .2, .5; .8, .5; 1, 0"/>
                                        <p:tgtEl>
                                          <p:spTgt spid="717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6" dur="250" autoRev="1" fill="hold"/>
                                        <p:tgtEl>
                                          <p:spTgt spid="717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7" presetID="2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" dur="500" tmFilter="0, 0; .2, .5; .8, .5; 1, 0"/>
                                        <p:tgtEl>
                                          <p:spTgt spid="7180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9" dur="250" autoRev="1" fill="hold"/>
                                        <p:tgtEl>
                                          <p:spTgt spid="7180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20" presetID="2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500" tmFilter="0, 0; .2, .5; .8, .5; 1, 0"/>
                                        <p:tgtEl>
                                          <p:spTgt spid="718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2" dur="250" autoRev="1" fill="hold"/>
                                        <p:tgtEl>
                                          <p:spTgt spid="7182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23" presetID="2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500" tmFilter="0, 0; .2, .5; .8, .5; 1, 0"/>
                                        <p:tgtEl>
                                          <p:spTgt spid="718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5" dur="250" autoRev="1" fill="hold"/>
                                        <p:tgtEl>
                                          <p:spTgt spid="7184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26" presetID="2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500" tmFilter="0, 0; .2, .5; .8, .5; 1, 0"/>
                                        <p:tgtEl>
                                          <p:spTgt spid="718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8" dur="250" autoRev="1" fill="hold"/>
                                        <p:tgtEl>
                                          <p:spTgt spid="718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F11F58-1B02-2B5E-16AB-F41892BB30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0911" y="427020"/>
            <a:ext cx="8343789" cy="636062"/>
          </a:xfrm>
        </p:spPr>
        <p:txBody>
          <a:bodyPr>
            <a:normAutofit/>
          </a:bodyPr>
          <a:lstStyle/>
          <a:p>
            <a:r>
              <a:rPr lang="en-GB" sz="3200" b="1" u="sng" dirty="0" err="1"/>
              <a:t>Github</a:t>
            </a:r>
            <a:r>
              <a:rPr lang="en-GB" sz="3200" b="1" u="sng" dirty="0"/>
              <a:t> Usage Best Practices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9A6EDB-FD47-0120-E2F7-AE5FAB5706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0911" y="1204859"/>
            <a:ext cx="11013670" cy="4590059"/>
          </a:xfrm>
        </p:spPr>
        <p:txBody>
          <a:bodyPr vert="horz" lIns="91440" tIns="45720" rIns="91440" bIns="45720" rtlCol="0" anchor="t">
            <a:normAutofit/>
          </a:bodyPr>
          <a:lstStyle/>
          <a:p>
            <a:pPr lvl="1"/>
            <a:br>
              <a:rPr lang="en-GB" dirty="0"/>
            </a:br>
            <a:endParaRPr lang="en-GB" dirty="0"/>
          </a:p>
          <a:p>
            <a:pPr marL="285750" indent="-285750">
              <a:buChar char="•"/>
            </a:pPr>
            <a:endParaRPr lang="en-GB" dirty="0"/>
          </a:p>
          <a:p>
            <a:pPr marL="514350" lvl="1" indent="-285750">
              <a:buFont typeface="Courier New" panose="020B0604020202020204" pitchFamily="34" charset="0"/>
              <a:buChar char="o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521F9B-D9FC-06E8-07A8-52FCF5072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pPr/>
              <a:t>8</a:t>
            </a:fld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825C012-3404-4C60-A760-764C43E567DF}"/>
              </a:ext>
            </a:extLst>
          </p:cNvPr>
          <p:cNvSpPr txBox="1"/>
          <p:nvPr/>
        </p:nvSpPr>
        <p:spPr>
          <a:xfrm>
            <a:off x="520911" y="1475001"/>
            <a:ext cx="10503299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ctr">
              <a:buFont typeface="Wingdings" panose="05000000000000000000" pitchFamily="2" charset="2"/>
              <a:buChar char="ü"/>
            </a:pPr>
            <a:r>
              <a:rPr lang="en-GB" dirty="0"/>
              <a:t>Avoid making key changes in the main branch – develop in dedicated feature branches with consistent naming.</a:t>
            </a:r>
          </a:p>
          <a:p>
            <a:pPr algn="ctr"/>
            <a:r>
              <a:rPr lang="en-GB" dirty="0"/>
              <a:t> </a:t>
            </a:r>
          </a:p>
          <a:p>
            <a:pPr marL="285750" indent="-285750" algn="ctr">
              <a:buFont typeface="Wingdings" panose="05000000000000000000" pitchFamily="2" charset="2"/>
              <a:buChar char="ü"/>
            </a:pPr>
            <a:r>
              <a:rPr lang="en-GB" dirty="0"/>
              <a:t>Utilise pull requests (PRs) to improve code quality and knowledge sharing. </a:t>
            </a:r>
          </a:p>
          <a:p>
            <a:pPr algn="ctr"/>
            <a:endParaRPr lang="en-GB" dirty="0"/>
          </a:p>
          <a:p>
            <a:pPr marL="285750" indent="-285750" algn="ctr">
              <a:buFont typeface="Wingdings" panose="05000000000000000000" pitchFamily="2" charset="2"/>
              <a:buChar char="ü"/>
            </a:pPr>
            <a:r>
              <a:rPr lang="en-GB" dirty="0"/>
              <a:t>Write meaningful commit messages – makes versioning and history of code easier to understand</a:t>
            </a:r>
          </a:p>
          <a:p>
            <a:pPr algn="ctr"/>
            <a:endParaRPr lang="en-GB" dirty="0"/>
          </a:p>
          <a:p>
            <a:pPr marL="285750" indent="-285750" algn="ctr">
              <a:buFont typeface="Wingdings" panose="05000000000000000000" pitchFamily="2" charset="2"/>
              <a:buChar char="ü"/>
            </a:pPr>
            <a:r>
              <a:rPr lang="en-GB" dirty="0"/>
              <a:t>Every repository should have a README.md that explains: </a:t>
            </a:r>
          </a:p>
          <a:p>
            <a:pPr marL="285750" indent="-285750" algn="ctr">
              <a:buFont typeface="Wingdings" panose="05000000000000000000" pitchFamily="2" charset="2"/>
              <a:buChar char="§"/>
            </a:pPr>
            <a:r>
              <a:rPr lang="en-GB" dirty="0"/>
              <a:t>Purpose of the project</a:t>
            </a:r>
          </a:p>
          <a:p>
            <a:pPr marL="285750" indent="-285750" algn="ctr">
              <a:buFont typeface="Wingdings" panose="05000000000000000000" pitchFamily="2" charset="2"/>
              <a:buChar char="§"/>
            </a:pPr>
            <a:r>
              <a:rPr lang="en-GB" dirty="0"/>
              <a:t>How to run it and its dependencies</a:t>
            </a:r>
          </a:p>
          <a:p>
            <a:pPr marL="285750" indent="-285750" algn="ctr">
              <a:buFont typeface="Wingdings" panose="05000000000000000000" pitchFamily="2" charset="2"/>
              <a:buChar char="§"/>
            </a:pPr>
            <a:r>
              <a:rPr lang="en-GB" dirty="0"/>
              <a:t>Key contacts </a:t>
            </a:r>
          </a:p>
          <a:p>
            <a:pPr algn="ctr"/>
            <a:endParaRPr lang="en-GB" dirty="0"/>
          </a:p>
          <a:p>
            <a:pPr marL="285750" indent="-285750" algn="ctr">
              <a:buFont typeface="Wingdings" panose="05000000000000000000" pitchFamily="2" charset="2"/>
              <a:buChar char="ü"/>
            </a:pPr>
            <a:r>
              <a:rPr lang="en-GB" dirty="0"/>
              <a:t>Use Issues and Projects for clear collaborative tracking. </a:t>
            </a:r>
          </a:p>
        </p:txBody>
      </p:sp>
    </p:spTree>
    <p:extLst>
      <p:ext uri="{BB962C8B-B14F-4D97-AF65-F5344CB8AC3E}">
        <p14:creationId xmlns:p14="http://schemas.microsoft.com/office/powerpoint/2010/main" val="4822725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F11F58-1B02-2B5E-16AB-F41892BB30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0911" y="427020"/>
            <a:ext cx="8343789" cy="636062"/>
          </a:xfrm>
        </p:spPr>
        <p:txBody>
          <a:bodyPr>
            <a:normAutofit/>
          </a:bodyPr>
          <a:lstStyle/>
          <a:p>
            <a:r>
              <a:rPr lang="en-GB" sz="3200" u="sng" dirty="0"/>
              <a:t>Navigating a repository</a:t>
            </a:r>
            <a:endParaRPr lang="en-GB" sz="3200" b="1" u="sng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9A6EDB-FD47-0120-E2F7-AE5FAB5706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0911" y="1204859"/>
            <a:ext cx="11013670" cy="4590059"/>
          </a:xfrm>
        </p:spPr>
        <p:txBody>
          <a:bodyPr vert="horz" lIns="91440" tIns="45720" rIns="91440" bIns="45720" rtlCol="0" anchor="t">
            <a:normAutofit/>
          </a:bodyPr>
          <a:lstStyle/>
          <a:p>
            <a:pPr lvl="1"/>
            <a:br>
              <a:rPr lang="en-GB" dirty="0"/>
            </a:br>
            <a:endParaRPr lang="en-GB" dirty="0"/>
          </a:p>
          <a:p>
            <a:pPr marL="285750" indent="-285750">
              <a:buChar char="•"/>
            </a:pPr>
            <a:endParaRPr lang="en-GB" dirty="0"/>
          </a:p>
          <a:p>
            <a:pPr marL="514350" lvl="1" indent="-285750">
              <a:buFont typeface="Courier New" panose="020B0604020202020204" pitchFamily="34" charset="0"/>
              <a:buChar char="o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521F9B-D9FC-06E8-07A8-52FCF5072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pPr/>
              <a:t>9</a:t>
            </a:fld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E08AAA1-70A7-4D66-A851-03CCD3143A05}"/>
              </a:ext>
            </a:extLst>
          </p:cNvPr>
          <p:cNvSpPr txBox="1"/>
          <p:nvPr/>
        </p:nvSpPr>
        <p:spPr>
          <a:xfrm>
            <a:off x="520911" y="1352667"/>
            <a:ext cx="7200689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Key tabs: </a:t>
            </a:r>
          </a:p>
          <a:p>
            <a:endParaRPr lang="en-GB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Code – where all code and documentation is stored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Issues – raise bugs/tasks for developers to work 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Pull requests – review changes before merging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Agents – Ability to create custom agents to automate workflows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Actions – ability to add automated workflows and checks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Security &amp; Alerts – ability to add credential scanning, data quality and dependency checks</a:t>
            </a:r>
          </a:p>
          <a:p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Projects – Kanban board(s) for planning and tracking activities</a:t>
            </a:r>
          </a:p>
          <a:p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Insights – contributor and activity statistics</a:t>
            </a:r>
          </a:p>
        </p:txBody>
      </p:sp>
    </p:spTree>
    <p:extLst>
      <p:ext uri="{BB962C8B-B14F-4D97-AF65-F5344CB8AC3E}">
        <p14:creationId xmlns:p14="http://schemas.microsoft.com/office/powerpoint/2010/main" val="7000874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521F9B-D9FC-06E8-07A8-52FCF5072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pPr/>
              <a:t>10</a:t>
            </a:fld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0F11F58-1B02-2B5E-16AB-F41892BB30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16588"/>
            <a:ext cx="3436838" cy="498598"/>
          </a:xfrm>
        </p:spPr>
        <p:txBody>
          <a:bodyPr>
            <a:normAutofit/>
          </a:bodyPr>
          <a:lstStyle/>
          <a:p>
            <a:r>
              <a:rPr lang="en-GB" sz="3200" b="1" u="sng" dirty="0"/>
              <a:t>Exercise Checkpoint 1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9A6EDB-FD47-0120-E2F7-AE5FAB5706B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 vert="horz" lIns="91440" tIns="45720" rIns="91440" bIns="45720" rtlCol="0" anchor="t">
            <a:normAutofit fontScale="32500" lnSpcReduction="20000"/>
          </a:bodyPr>
          <a:lstStyle/>
          <a:p>
            <a:pPr lvl="1"/>
            <a:br>
              <a:rPr lang="en-GB" dirty="0"/>
            </a:br>
            <a:endParaRPr lang="en-GB" dirty="0"/>
          </a:p>
          <a:p>
            <a:pPr marL="285750" indent="-285750">
              <a:buChar char="•"/>
            </a:pPr>
            <a:endParaRPr lang="en-GB" dirty="0"/>
          </a:p>
          <a:p>
            <a:pPr marL="514350" lvl="1" indent="-285750">
              <a:buFont typeface="Courier New" panose="020B0604020202020204" pitchFamily="34" charset="0"/>
              <a:buChar char="o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D1779D3-41A0-4920-B5C8-8AA53282B9B8}"/>
              </a:ext>
            </a:extLst>
          </p:cNvPr>
          <p:cNvSpPr txBox="1"/>
          <p:nvPr/>
        </p:nvSpPr>
        <p:spPr>
          <a:xfrm>
            <a:off x="609600" y="1611755"/>
            <a:ext cx="5689600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 dirty="0">
                <a:solidFill>
                  <a:schemeClr val="bg1"/>
                </a:solidFill>
              </a:rPr>
              <a:t>Navigate through </a:t>
            </a:r>
            <a:r>
              <a:rPr lang="en-GB" b="1" dirty="0" err="1">
                <a:solidFill>
                  <a:schemeClr val="bg1"/>
                </a:solidFill>
              </a:rPr>
              <a:t>Github</a:t>
            </a:r>
            <a:r>
              <a:rPr lang="en-GB" b="1" dirty="0">
                <a:solidFill>
                  <a:schemeClr val="bg1"/>
                </a:solidFill>
              </a:rPr>
              <a:t> to find the training repo and your dedicated workspace. </a:t>
            </a:r>
          </a:p>
          <a:p>
            <a:endParaRPr lang="en-GB" b="1" dirty="0">
              <a:solidFill>
                <a:schemeClr val="bg1"/>
              </a:solidFill>
            </a:endParaRPr>
          </a:p>
          <a:p>
            <a:pPr marL="800100" lvl="1" indent="-342900">
              <a:buFont typeface="+mj-lt"/>
              <a:buAutoNum type="arabicPeriod"/>
            </a:pPr>
            <a:r>
              <a:rPr lang="en-GB" dirty="0">
                <a:solidFill>
                  <a:schemeClr val="bg1"/>
                </a:solidFill>
              </a:rPr>
              <a:t>Sign into </a:t>
            </a:r>
            <a:r>
              <a:rPr lang="en-GB" dirty="0" err="1">
                <a:solidFill>
                  <a:schemeClr val="bg1"/>
                </a:solidFill>
              </a:rPr>
              <a:t>Github</a:t>
            </a:r>
            <a:r>
              <a:rPr lang="en-GB" dirty="0">
                <a:solidFill>
                  <a:schemeClr val="bg1"/>
                </a:solidFill>
              </a:rPr>
              <a:t> with your account (you may be asked to authenticate via Microsoft Authenticator). 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GB" dirty="0">
                <a:solidFill>
                  <a:schemeClr val="bg1"/>
                </a:solidFill>
              </a:rPr>
              <a:t>Search for the following repository in ABUHB’s main page: </a:t>
            </a:r>
            <a:r>
              <a:rPr lang="en-GB" b="1" i="0" u="none" strike="noStrike" dirty="0" err="1">
                <a:solidFill>
                  <a:srgbClr val="1F2328"/>
                </a:solidFill>
                <a:effectLst/>
                <a:latin typeface="Mona Sans VF"/>
                <a:hlinkClick r:id="rId2"/>
              </a:rPr>
              <a:t>biu_GitHub_Training</a:t>
            </a:r>
            <a:endParaRPr lang="en-GB" b="1" i="0" u="none" strike="noStrike" dirty="0">
              <a:solidFill>
                <a:schemeClr val="bg1"/>
              </a:solidFill>
              <a:effectLst/>
              <a:latin typeface="Mona Sans VF"/>
            </a:endParaRPr>
          </a:p>
          <a:p>
            <a:pPr marL="800100" lvl="1" indent="-342900">
              <a:buFont typeface="+mj-lt"/>
              <a:buAutoNum type="arabicPeriod"/>
            </a:pPr>
            <a:r>
              <a:rPr lang="en-GB" dirty="0">
                <a:solidFill>
                  <a:schemeClr val="bg1"/>
                </a:solidFill>
                <a:latin typeface="Mona Sans VF"/>
              </a:rPr>
              <a:t>Open the participants folder and find your folder named </a:t>
            </a:r>
            <a:r>
              <a:rPr lang="en-GB" dirty="0" err="1">
                <a:solidFill>
                  <a:schemeClr val="bg1"/>
                </a:solidFill>
                <a:latin typeface="Mona Sans VF"/>
              </a:rPr>
              <a:t>firstname-lastname</a:t>
            </a:r>
            <a:r>
              <a:rPr lang="en-GB" dirty="0">
                <a:solidFill>
                  <a:schemeClr val="bg1"/>
                </a:solidFill>
                <a:latin typeface="Mona Sans VF"/>
              </a:rPr>
              <a:t>. </a:t>
            </a:r>
          </a:p>
          <a:p>
            <a:pPr marL="800100" lvl="1" indent="-342900">
              <a:buFont typeface="+mj-lt"/>
              <a:buAutoNum type="arabicPeriod"/>
            </a:pPr>
            <a:endParaRPr lang="en-GB" dirty="0">
              <a:solidFill>
                <a:schemeClr val="bg1"/>
              </a:solidFill>
              <a:latin typeface="Mona Sans VF"/>
            </a:endParaRPr>
          </a:p>
        </p:txBody>
      </p:sp>
    </p:spTree>
    <p:extLst>
      <p:ext uri="{BB962C8B-B14F-4D97-AF65-F5344CB8AC3E}">
        <p14:creationId xmlns:p14="http://schemas.microsoft.com/office/powerpoint/2010/main" val="38027579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4918DD-3FB4-ECF1-7474-46B34CAE7F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58704" y="2427434"/>
            <a:ext cx="6439776" cy="830997"/>
          </a:xfrm>
        </p:spPr>
        <p:txBody>
          <a:bodyPr/>
          <a:lstStyle/>
          <a:p>
            <a:r>
              <a:rPr lang="en-GB" dirty="0"/>
              <a:t>Key Git Concepts</a:t>
            </a:r>
          </a:p>
        </p:txBody>
      </p:sp>
    </p:spTree>
    <p:extLst>
      <p:ext uri="{BB962C8B-B14F-4D97-AF65-F5344CB8AC3E}">
        <p14:creationId xmlns:p14="http://schemas.microsoft.com/office/powerpoint/2010/main" val="32101469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F11F58-1B02-2B5E-16AB-F41892BB30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0911" y="427020"/>
            <a:ext cx="8343789" cy="636062"/>
          </a:xfrm>
        </p:spPr>
        <p:txBody>
          <a:bodyPr>
            <a:normAutofit/>
          </a:bodyPr>
          <a:lstStyle/>
          <a:p>
            <a:r>
              <a:rPr lang="en-GB" sz="3200" b="1" u="sng" dirty="0"/>
              <a:t>How Git Stores Your Work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9A6EDB-FD47-0120-E2F7-AE5FAB5706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0911" y="1204859"/>
            <a:ext cx="11013670" cy="4590059"/>
          </a:xfrm>
        </p:spPr>
        <p:txBody>
          <a:bodyPr vert="horz" lIns="91440" tIns="45720" rIns="91440" bIns="45720" rtlCol="0" anchor="t">
            <a:normAutofit/>
          </a:bodyPr>
          <a:lstStyle/>
          <a:p>
            <a:pPr lvl="1"/>
            <a:br>
              <a:rPr lang="en-GB" dirty="0"/>
            </a:br>
            <a:endParaRPr lang="en-GB" dirty="0"/>
          </a:p>
          <a:p>
            <a:pPr marL="285750" indent="-285750">
              <a:buChar char="•"/>
            </a:pPr>
            <a:endParaRPr lang="en-GB" dirty="0"/>
          </a:p>
          <a:p>
            <a:pPr marL="514350" lvl="1" indent="-285750">
              <a:buFont typeface="Courier New" panose="020B0604020202020204" pitchFamily="34" charset="0"/>
              <a:buChar char="o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521F9B-D9FC-06E8-07A8-52FCF5072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pPr/>
              <a:t>12</a:t>
            </a:fld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825C012-3404-4C60-A760-764C43E567DF}"/>
              </a:ext>
            </a:extLst>
          </p:cNvPr>
          <p:cNvSpPr txBox="1"/>
          <p:nvPr/>
        </p:nvSpPr>
        <p:spPr>
          <a:xfrm>
            <a:off x="520911" y="1475001"/>
            <a:ext cx="5117889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The Object Model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Blob – file content (your code)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Tree – directory structure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Commit – a snapshot of your code with metadata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GIT stores snapshots of the whole project, not just differences.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Objects are addressed by a SHA-1 Hash – all changes have a unique hash.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All changes are performed using underlying git CLI code. </a:t>
            </a:r>
          </a:p>
        </p:txBody>
      </p:sp>
      <p:pic>
        <p:nvPicPr>
          <p:cNvPr id="6" name="object_model.png" descr="Diagram: a commit points to a tree, which points to blobs and sub-trees">
            <a:extLst>
              <a:ext uri="{FF2B5EF4-FFF2-40B4-BE49-F238E27FC236}">
                <a16:creationId xmlns:a16="http://schemas.microsoft.com/office/drawing/2014/main" id="{A31D9058-7206-44D1-A834-7935F234A2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1290" y="1317082"/>
            <a:ext cx="5583291" cy="40013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59554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F11F58-1B02-2B5E-16AB-F41892BB30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0911" y="427020"/>
            <a:ext cx="8343789" cy="636062"/>
          </a:xfrm>
        </p:spPr>
        <p:txBody>
          <a:bodyPr>
            <a:normAutofit/>
          </a:bodyPr>
          <a:lstStyle/>
          <a:p>
            <a:r>
              <a:rPr lang="en-GB" sz="3200" b="1" u="sng" dirty="0"/>
              <a:t>How Git Stores Your Work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9A6EDB-FD47-0120-E2F7-AE5FAB5706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0911" y="1204859"/>
            <a:ext cx="11013670" cy="4590059"/>
          </a:xfrm>
        </p:spPr>
        <p:txBody>
          <a:bodyPr vert="horz" lIns="91440" tIns="45720" rIns="91440" bIns="45720" rtlCol="0" anchor="t">
            <a:normAutofit/>
          </a:bodyPr>
          <a:lstStyle/>
          <a:p>
            <a:pPr lvl="1"/>
            <a:br>
              <a:rPr lang="en-GB" dirty="0"/>
            </a:br>
            <a:endParaRPr lang="en-GB" dirty="0"/>
          </a:p>
          <a:p>
            <a:pPr marL="285750" indent="-285750">
              <a:buChar char="•"/>
            </a:pPr>
            <a:endParaRPr lang="en-GB" dirty="0"/>
          </a:p>
          <a:p>
            <a:pPr marL="514350" lvl="1" indent="-285750">
              <a:buFont typeface="Courier New" panose="020B0604020202020204" pitchFamily="34" charset="0"/>
              <a:buChar char="o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521F9B-D9FC-06E8-07A8-52FCF5072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pPr/>
              <a:t>13</a:t>
            </a:fld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825C012-3404-4C60-A760-764C43E567DF}"/>
              </a:ext>
            </a:extLst>
          </p:cNvPr>
          <p:cNvSpPr txBox="1"/>
          <p:nvPr/>
        </p:nvSpPr>
        <p:spPr>
          <a:xfrm>
            <a:off x="520911" y="1475001"/>
            <a:ext cx="5117889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Your files will live in three places: </a:t>
            </a:r>
          </a:p>
          <a:p>
            <a:endParaRPr lang="en-GB" b="1" dirty="0"/>
          </a:p>
          <a:p>
            <a:pPr marL="342900" indent="-342900">
              <a:buFont typeface="+mj-lt"/>
              <a:buAutoNum type="arabicPeriod"/>
            </a:pPr>
            <a:r>
              <a:rPr lang="en-GB" b="1" dirty="0"/>
              <a:t>Working directory </a:t>
            </a:r>
            <a:r>
              <a:rPr lang="en-GB" dirty="0"/>
              <a:t>– where you edit the files</a:t>
            </a:r>
          </a:p>
          <a:p>
            <a:pPr marL="342900" indent="-342900">
              <a:buFont typeface="+mj-lt"/>
              <a:buAutoNum type="arabicPeriod"/>
            </a:pPr>
            <a:r>
              <a:rPr lang="en-GB" b="1" dirty="0"/>
              <a:t>Staging area </a:t>
            </a:r>
            <a:r>
              <a:rPr lang="en-GB" dirty="0"/>
              <a:t>– you can control what changes can then go into the next commit </a:t>
            </a:r>
          </a:p>
          <a:p>
            <a:pPr marL="342900" indent="-342900">
              <a:buFont typeface="+mj-lt"/>
              <a:buAutoNum type="arabicPeriod"/>
            </a:pPr>
            <a:r>
              <a:rPr lang="en-GB" b="1" dirty="0"/>
              <a:t>Repository </a:t>
            </a:r>
            <a:r>
              <a:rPr lang="en-GB" dirty="0"/>
              <a:t>– what changes have been committed into history </a:t>
            </a:r>
            <a:endParaRPr lang="en-GB" b="1" dirty="0"/>
          </a:p>
        </p:txBody>
      </p:sp>
      <p:pic>
        <p:nvPicPr>
          <p:cNvPr id="8" name="three_trees.png" descr="Diagram: files move from working directory to staging area to repository">
            <a:extLst>
              <a:ext uri="{FF2B5EF4-FFF2-40B4-BE49-F238E27FC236}">
                <a16:creationId xmlns:a16="http://schemas.microsoft.com/office/drawing/2014/main" id="{67662F40-73F0-4D1E-96A1-A5D32C902B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7535" y="1534791"/>
            <a:ext cx="5583291" cy="36291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84187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F11F58-1B02-2B5E-16AB-F41892BB30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9146" y="332495"/>
            <a:ext cx="8343789" cy="636062"/>
          </a:xfrm>
        </p:spPr>
        <p:txBody>
          <a:bodyPr>
            <a:normAutofit/>
          </a:bodyPr>
          <a:lstStyle/>
          <a:p>
            <a:r>
              <a:rPr lang="en-GB" sz="3200" b="1" u="sng" dirty="0"/>
              <a:t>How Git Stores Your Work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521F9B-D9FC-06E8-07A8-52FCF5072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pPr/>
              <a:t>14</a:t>
            </a:fld>
            <a:endParaRPr lang="en-GB"/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43BC90AE-2E99-4DD5-85DC-1139652465F9}"/>
              </a:ext>
            </a:extLst>
          </p:cNvPr>
          <p:cNvGrpSpPr/>
          <p:nvPr/>
        </p:nvGrpSpPr>
        <p:grpSpPr>
          <a:xfrm>
            <a:off x="133001" y="1361177"/>
            <a:ext cx="11597964" cy="5234012"/>
            <a:chOff x="133001" y="1361177"/>
            <a:chExt cx="11597964" cy="5234012"/>
          </a:xfrm>
        </p:grpSpPr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25DBC184-A3D6-441D-B82F-3A85324ACC68}"/>
                </a:ext>
              </a:extLst>
            </p:cNvPr>
            <p:cNvGrpSpPr/>
            <p:nvPr/>
          </p:nvGrpSpPr>
          <p:grpSpPr>
            <a:xfrm>
              <a:off x="213299" y="1361177"/>
              <a:ext cx="11517666" cy="3152838"/>
              <a:chOff x="35500" y="2055444"/>
              <a:chExt cx="11517666" cy="3152838"/>
            </a:xfrm>
          </p:grpSpPr>
          <p:grpSp>
            <p:nvGrpSpPr>
              <p:cNvPr id="30" name="Group 29">
                <a:extLst>
                  <a:ext uri="{FF2B5EF4-FFF2-40B4-BE49-F238E27FC236}">
                    <a16:creationId xmlns:a16="http://schemas.microsoft.com/office/drawing/2014/main" id="{31423420-4DA3-4EF6-9F7A-9C8807B2C1BA}"/>
                  </a:ext>
                </a:extLst>
              </p:cNvPr>
              <p:cNvGrpSpPr/>
              <p:nvPr/>
            </p:nvGrpSpPr>
            <p:grpSpPr>
              <a:xfrm>
                <a:off x="35500" y="2787827"/>
                <a:ext cx="1436462" cy="1546272"/>
                <a:chOff x="375406" y="1281595"/>
                <a:chExt cx="1436462" cy="1546272"/>
              </a:xfrm>
            </p:grpSpPr>
            <p:sp>
              <p:nvSpPr>
                <p:cNvPr id="9" name="Scroll: Vertical 8">
                  <a:extLst>
                    <a:ext uri="{FF2B5EF4-FFF2-40B4-BE49-F238E27FC236}">
                      <a16:creationId xmlns:a16="http://schemas.microsoft.com/office/drawing/2014/main" id="{D4EEF7DE-C88F-44C9-A3A1-229284A2B91D}"/>
                    </a:ext>
                  </a:extLst>
                </p:cNvPr>
                <p:cNvSpPr/>
                <p:nvPr/>
              </p:nvSpPr>
              <p:spPr>
                <a:xfrm>
                  <a:off x="537059" y="1482552"/>
                  <a:ext cx="1113156" cy="972127"/>
                </a:xfrm>
                <a:prstGeom prst="verticalScroll">
                  <a:avLst/>
                </a:prstGeom>
              </p:spPr>
              <p:style>
                <a:lnRef idx="2">
                  <a:schemeClr val="accent4">
                    <a:shade val="50000"/>
                  </a:schemeClr>
                </a:lnRef>
                <a:fillRef idx="1">
                  <a:schemeClr val="accent4"/>
                </a:fillRef>
                <a:effectRef idx="0">
                  <a:schemeClr val="accent4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1200" dirty="0"/>
                    <a:t>Original document</a:t>
                  </a:r>
                </a:p>
              </p:txBody>
            </p:sp>
            <p:sp>
              <p:nvSpPr>
                <p:cNvPr id="20" name="Rectangle 19">
                  <a:extLst>
                    <a:ext uri="{FF2B5EF4-FFF2-40B4-BE49-F238E27FC236}">
                      <a16:creationId xmlns:a16="http://schemas.microsoft.com/office/drawing/2014/main" id="{A5641698-8760-4F07-B90E-B3CFED1AB60F}"/>
                    </a:ext>
                  </a:extLst>
                </p:cNvPr>
                <p:cNvSpPr/>
                <p:nvPr/>
              </p:nvSpPr>
              <p:spPr>
                <a:xfrm>
                  <a:off x="375406" y="1281595"/>
                  <a:ext cx="1436462" cy="1546272"/>
                </a:xfrm>
                <a:prstGeom prst="rect">
                  <a:avLst/>
                </a:prstGeom>
                <a:noFill/>
                <a:ln>
                  <a:solidFill>
                    <a:srgbClr val="63519D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CE0971DA-6C49-4487-AA00-75C8062D6F3D}"/>
                    </a:ext>
                  </a:extLst>
                </p:cNvPr>
                <p:cNvSpPr txBox="1"/>
                <p:nvPr/>
              </p:nvSpPr>
              <p:spPr>
                <a:xfrm>
                  <a:off x="471253" y="2513005"/>
                  <a:ext cx="1277743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GB" sz="1100" b="1" dirty="0"/>
                    <a:t>Main/Production</a:t>
                  </a:r>
                </a:p>
              </p:txBody>
            </p:sp>
          </p:grpSp>
          <p:grpSp>
            <p:nvGrpSpPr>
              <p:cNvPr id="31" name="Group 30">
                <a:extLst>
                  <a:ext uri="{FF2B5EF4-FFF2-40B4-BE49-F238E27FC236}">
                    <a16:creationId xmlns:a16="http://schemas.microsoft.com/office/drawing/2014/main" id="{BE07CA28-2E28-4461-872D-0E63CAC3BF07}"/>
                  </a:ext>
                </a:extLst>
              </p:cNvPr>
              <p:cNvGrpSpPr/>
              <p:nvPr/>
            </p:nvGrpSpPr>
            <p:grpSpPr>
              <a:xfrm>
                <a:off x="1426856" y="3317494"/>
                <a:ext cx="1715541" cy="455970"/>
                <a:chOff x="1973521" y="1598761"/>
                <a:chExt cx="1715541" cy="455970"/>
              </a:xfrm>
            </p:grpSpPr>
            <p:cxnSp>
              <p:nvCxnSpPr>
                <p:cNvPr id="14" name="Straight Arrow Connector 13">
                  <a:extLst>
                    <a:ext uri="{FF2B5EF4-FFF2-40B4-BE49-F238E27FC236}">
                      <a16:creationId xmlns:a16="http://schemas.microsoft.com/office/drawing/2014/main" id="{8DB04EB9-3D5A-43D3-A714-02E9CC5D07D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126323" y="2054731"/>
                  <a:ext cx="1409936" cy="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A5D9E9AF-F6FB-44DB-9A70-6F03142E969A}"/>
                    </a:ext>
                  </a:extLst>
                </p:cNvPr>
                <p:cNvSpPr txBox="1"/>
                <p:nvPr/>
              </p:nvSpPr>
              <p:spPr>
                <a:xfrm>
                  <a:off x="1973521" y="1598761"/>
                  <a:ext cx="1715541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GB" sz="1200" b="1" dirty="0"/>
                    <a:t>PULL into your branch</a:t>
                  </a:r>
                </a:p>
              </p:txBody>
            </p:sp>
          </p:grpSp>
          <p:pic>
            <p:nvPicPr>
              <p:cNvPr id="2050" name="Picture 2" descr="A guy is pulling all his strength the rope. 42847417 PNG">
                <a:extLst>
                  <a:ext uri="{FF2B5EF4-FFF2-40B4-BE49-F238E27FC236}">
                    <a16:creationId xmlns:a16="http://schemas.microsoft.com/office/drawing/2014/main" id="{9E612667-9571-4F35-893E-FC2B2D08180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flipH="1">
                <a:off x="1579894" y="3798582"/>
                <a:ext cx="1409700" cy="14097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grpSp>
            <p:nvGrpSpPr>
              <p:cNvPr id="32" name="Group 31">
                <a:extLst>
                  <a:ext uri="{FF2B5EF4-FFF2-40B4-BE49-F238E27FC236}">
                    <a16:creationId xmlns:a16="http://schemas.microsoft.com/office/drawing/2014/main" id="{56644267-6525-49A0-BD00-98B902EF75C4}"/>
                  </a:ext>
                </a:extLst>
              </p:cNvPr>
              <p:cNvGrpSpPr/>
              <p:nvPr/>
            </p:nvGrpSpPr>
            <p:grpSpPr>
              <a:xfrm>
                <a:off x="3256343" y="2890765"/>
                <a:ext cx="1436462" cy="1546272"/>
                <a:chOff x="375406" y="1281595"/>
                <a:chExt cx="1436462" cy="1546272"/>
              </a:xfrm>
            </p:grpSpPr>
            <p:sp>
              <p:nvSpPr>
                <p:cNvPr id="33" name="Scroll: Vertical 32">
                  <a:extLst>
                    <a:ext uri="{FF2B5EF4-FFF2-40B4-BE49-F238E27FC236}">
                      <a16:creationId xmlns:a16="http://schemas.microsoft.com/office/drawing/2014/main" id="{6F64A31B-F5F7-4A74-83BB-BF0464F040CC}"/>
                    </a:ext>
                  </a:extLst>
                </p:cNvPr>
                <p:cNvSpPr/>
                <p:nvPr/>
              </p:nvSpPr>
              <p:spPr>
                <a:xfrm>
                  <a:off x="537059" y="1424216"/>
                  <a:ext cx="1113156" cy="972127"/>
                </a:xfrm>
                <a:prstGeom prst="verticalScroll">
                  <a:avLst/>
                </a:prstGeom>
              </p:spPr>
              <p:style>
                <a:lnRef idx="2">
                  <a:schemeClr val="accent4">
                    <a:shade val="50000"/>
                  </a:schemeClr>
                </a:lnRef>
                <a:fillRef idx="1">
                  <a:schemeClr val="accent4"/>
                </a:fillRef>
                <a:effectRef idx="0">
                  <a:schemeClr val="accent4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1200" dirty="0"/>
                    <a:t>Copy of original document</a:t>
                  </a:r>
                </a:p>
              </p:txBody>
            </p:sp>
            <p:sp>
              <p:nvSpPr>
                <p:cNvPr id="34" name="Rectangle 33">
                  <a:extLst>
                    <a:ext uri="{FF2B5EF4-FFF2-40B4-BE49-F238E27FC236}">
                      <a16:creationId xmlns:a16="http://schemas.microsoft.com/office/drawing/2014/main" id="{C5BEEEA5-5A70-4C29-B11C-15FC35928321}"/>
                    </a:ext>
                  </a:extLst>
                </p:cNvPr>
                <p:cNvSpPr/>
                <p:nvPr/>
              </p:nvSpPr>
              <p:spPr>
                <a:xfrm>
                  <a:off x="375406" y="1281595"/>
                  <a:ext cx="1436462" cy="1546272"/>
                </a:xfrm>
                <a:prstGeom prst="rect">
                  <a:avLst/>
                </a:prstGeom>
                <a:noFill/>
                <a:ln>
                  <a:solidFill>
                    <a:srgbClr val="63519D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17C39B98-9A6D-453A-B3DC-D20244101320}"/>
                    </a:ext>
                  </a:extLst>
                </p:cNvPr>
                <p:cNvSpPr txBox="1"/>
                <p:nvPr/>
              </p:nvSpPr>
              <p:spPr>
                <a:xfrm>
                  <a:off x="474856" y="2427439"/>
                  <a:ext cx="1277743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GB" sz="1100" b="1" dirty="0"/>
                    <a:t>Your dev branch</a:t>
                  </a:r>
                </a:p>
              </p:txBody>
            </p:sp>
          </p:grpSp>
          <p:grpSp>
            <p:nvGrpSpPr>
              <p:cNvPr id="37" name="Group 36">
                <a:extLst>
                  <a:ext uri="{FF2B5EF4-FFF2-40B4-BE49-F238E27FC236}">
                    <a16:creationId xmlns:a16="http://schemas.microsoft.com/office/drawing/2014/main" id="{69E7D1A1-B03C-493C-A80F-A54A3186DD86}"/>
                  </a:ext>
                </a:extLst>
              </p:cNvPr>
              <p:cNvGrpSpPr/>
              <p:nvPr/>
            </p:nvGrpSpPr>
            <p:grpSpPr>
              <a:xfrm>
                <a:off x="4719312" y="3379625"/>
                <a:ext cx="1715541" cy="455970"/>
                <a:chOff x="1973521" y="1598761"/>
                <a:chExt cx="1715541" cy="455970"/>
              </a:xfrm>
            </p:grpSpPr>
            <p:cxnSp>
              <p:nvCxnSpPr>
                <p:cNvPr id="38" name="Straight Arrow Connector 37">
                  <a:extLst>
                    <a:ext uri="{FF2B5EF4-FFF2-40B4-BE49-F238E27FC236}">
                      <a16:creationId xmlns:a16="http://schemas.microsoft.com/office/drawing/2014/main" id="{3FA30884-5FA9-4690-9DA8-495EAD5E8CD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126323" y="2054731"/>
                  <a:ext cx="1409936" cy="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1E4C95B8-550B-476F-9D8A-A7A1C75E4852}"/>
                    </a:ext>
                  </a:extLst>
                </p:cNvPr>
                <p:cNvSpPr txBox="1"/>
                <p:nvPr/>
              </p:nvSpPr>
              <p:spPr>
                <a:xfrm>
                  <a:off x="1973521" y="1598761"/>
                  <a:ext cx="1715541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GB" sz="1200" b="1" dirty="0"/>
                    <a:t>Commit your changes</a:t>
                  </a:r>
                </a:p>
              </p:txBody>
            </p:sp>
          </p:grpSp>
          <p:grpSp>
            <p:nvGrpSpPr>
              <p:cNvPr id="40" name="Group 39">
                <a:extLst>
                  <a:ext uri="{FF2B5EF4-FFF2-40B4-BE49-F238E27FC236}">
                    <a16:creationId xmlns:a16="http://schemas.microsoft.com/office/drawing/2014/main" id="{3C9E3729-A1C3-47B3-9DE5-DA3E340C30AA}"/>
                  </a:ext>
                </a:extLst>
              </p:cNvPr>
              <p:cNvGrpSpPr/>
              <p:nvPr/>
            </p:nvGrpSpPr>
            <p:grpSpPr>
              <a:xfrm>
                <a:off x="6443703" y="2970390"/>
                <a:ext cx="1436462" cy="1546272"/>
                <a:chOff x="375406" y="1281595"/>
                <a:chExt cx="1436462" cy="1546272"/>
              </a:xfrm>
            </p:grpSpPr>
            <p:sp>
              <p:nvSpPr>
                <p:cNvPr id="41" name="Scroll: Vertical 40">
                  <a:extLst>
                    <a:ext uri="{FF2B5EF4-FFF2-40B4-BE49-F238E27FC236}">
                      <a16:creationId xmlns:a16="http://schemas.microsoft.com/office/drawing/2014/main" id="{B79A45D5-AC50-4EFF-858A-8D7E12D86423}"/>
                    </a:ext>
                  </a:extLst>
                </p:cNvPr>
                <p:cNvSpPr/>
                <p:nvPr/>
              </p:nvSpPr>
              <p:spPr>
                <a:xfrm>
                  <a:off x="537059" y="1424216"/>
                  <a:ext cx="1113156" cy="972127"/>
                </a:xfrm>
                <a:prstGeom prst="verticalScroll">
                  <a:avLst/>
                </a:prstGeom>
              </p:spPr>
              <p:style>
                <a:lnRef idx="2">
                  <a:schemeClr val="accent6">
                    <a:shade val="50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1200" dirty="0"/>
                    <a:t>Adjusted document</a:t>
                  </a:r>
                </a:p>
              </p:txBody>
            </p:sp>
            <p:sp>
              <p:nvSpPr>
                <p:cNvPr id="42" name="Rectangle 41">
                  <a:extLst>
                    <a:ext uri="{FF2B5EF4-FFF2-40B4-BE49-F238E27FC236}">
                      <a16:creationId xmlns:a16="http://schemas.microsoft.com/office/drawing/2014/main" id="{9B5C36B5-01B1-4B84-85A3-5E4FA1382A7D}"/>
                    </a:ext>
                  </a:extLst>
                </p:cNvPr>
                <p:cNvSpPr/>
                <p:nvPr/>
              </p:nvSpPr>
              <p:spPr>
                <a:xfrm>
                  <a:off x="375406" y="1281595"/>
                  <a:ext cx="1436462" cy="1546272"/>
                </a:xfrm>
                <a:prstGeom prst="rect">
                  <a:avLst/>
                </a:prstGeom>
                <a:noFill/>
                <a:ln>
                  <a:solidFill>
                    <a:srgbClr val="63519D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1C81BC2F-1E86-45B7-A551-EB05E5FC7966}"/>
                    </a:ext>
                  </a:extLst>
                </p:cNvPr>
                <p:cNvSpPr txBox="1"/>
                <p:nvPr/>
              </p:nvSpPr>
              <p:spPr>
                <a:xfrm>
                  <a:off x="474856" y="2427439"/>
                  <a:ext cx="1277743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GB" sz="1100" b="1" dirty="0"/>
                    <a:t>Your dev branch</a:t>
                  </a:r>
                </a:p>
              </p:txBody>
            </p:sp>
          </p:grpSp>
          <p:pic>
            <p:nvPicPr>
              <p:cNvPr id="2052" name="Picture 4">
                <a:extLst>
                  <a:ext uri="{FF2B5EF4-FFF2-40B4-BE49-F238E27FC236}">
                    <a16:creationId xmlns:a16="http://schemas.microsoft.com/office/drawing/2014/main" id="{8A2A559C-2060-4F2F-8DE9-57FD8F9CA9C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053891" y="3886031"/>
                <a:ext cx="977370" cy="97737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grpSp>
            <p:nvGrpSpPr>
              <p:cNvPr id="49" name="Group 48">
                <a:extLst>
                  <a:ext uri="{FF2B5EF4-FFF2-40B4-BE49-F238E27FC236}">
                    <a16:creationId xmlns:a16="http://schemas.microsoft.com/office/drawing/2014/main" id="{6A99FFDD-E996-42E6-BECA-D51DD5E94B11}"/>
                  </a:ext>
                </a:extLst>
              </p:cNvPr>
              <p:cNvGrpSpPr/>
              <p:nvPr/>
            </p:nvGrpSpPr>
            <p:grpSpPr>
              <a:xfrm>
                <a:off x="10116704" y="3025446"/>
                <a:ext cx="1436462" cy="1546272"/>
                <a:chOff x="375406" y="1281595"/>
                <a:chExt cx="1436462" cy="1546272"/>
              </a:xfrm>
            </p:grpSpPr>
            <p:sp>
              <p:nvSpPr>
                <p:cNvPr id="50" name="Scroll: Vertical 49">
                  <a:extLst>
                    <a:ext uri="{FF2B5EF4-FFF2-40B4-BE49-F238E27FC236}">
                      <a16:creationId xmlns:a16="http://schemas.microsoft.com/office/drawing/2014/main" id="{044C974C-8D10-4D1A-9BD6-2D6DD749F5CE}"/>
                    </a:ext>
                  </a:extLst>
                </p:cNvPr>
                <p:cNvSpPr/>
                <p:nvPr/>
              </p:nvSpPr>
              <p:spPr>
                <a:xfrm>
                  <a:off x="537059" y="1424216"/>
                  <a:ext cx="1113156" cy="972127"/>
                </a:xfrm>
                <a:prstGeom prst="verticalScroll">
                  <a:avLst/>
                </a:prstGeom>
              </p:spPr>
              <p:style>
                <a:lnRef idx="2">
                  <a:schemeClr val="accent6">
                    <a:shade val="50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1200" dirty="0"/>
                    <a:t>Adjusted document</a:t>
                  </a:r>
                </a:p>
              </p:txBody>
            </p:sp>
            <p:sp>
              <p:nvSpPr>
                <p:cNvPr id="51" name="Rectangle 50">
                  <a:extLst>
                    <a:ext uri="{FF2B5EF4-FFF2-40B4-BE49-F238E27FC236}">
                      <a16:creationId xmlns:a16="http://schemas.microsoft.com/office/drawing/2014/main" id="{764B8BDA-3F78-4FC4-A3DE-C12D37F1D7DC}"/>
                    </a:ext>
                  </a:extLst>
                </p:cNvPr>
                <p:cNvSpPr/>
                <p:nvPr/>
              </p:nvSpPr>
              <p:spPr>
                <a:xfrm>
                  <a:off x="375406" y="1281595"/>
                  <a:ext cx="1436462" cy="1546272"/>
                </a:xfrm>
                <a:prstGeom prst="rect">
                  <a:avLst/>
                </a:prstGeom>
                <a:noFill/>
                <a:ln>
                  <a:solidFill>
                    <a:srgbClr val="63519D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C56C35F8-3E2E-4212-B7EE-F5C32762B58C}"/>
                    </a:ext>
                  </a:extLst>
                </p:cNvPr>
                <p:cNvSpPr txBox="1"/>
                <p:nvPr/>
              </p:nvSpPr>
              <p:spPr>
                <a:xfrm>
                  <a:off x="474856" y="2427439"/>
                  <a:ext cx="1277743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GB" sz="1100" b="1" dirty="0"/>
                    <a:t>Your dev branch</a:t>
                  </a:r>
                </a:p>
              </p:txBody>
            </p:sp>
          </p:grp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745E2986-1C82-443A-9EE4-734F4BE3FF02}"/>
                  </a:ext>
                </a:extLst>
              </p:cNvPr>
              <p:cNvSpPr/>
              <p:nvPr/>
            </p:nvSpPr>
            <p:spPr>
              <a:xfrm>
                <a:off x="3151247" y="2091270"/>
                <a:ext cx="4993686" cy="2772131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  <a:prstDash val="lgDashDot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31780F54-013B-4577-BFAC-E75D8792B87B}"/>
                  </a:ext>
                </a:extLst>
              </p:cNvPr>
              <p:cNvSpPr txBox="1"/>
              <p:nvPr/>
            </p:nvSpPr>
            <p:spPr>
              <a:xfrm>
                <a:off x="3886069" y="2212802"/>
                <a:ext cx="331301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b="1" dirty="0"/>
                  <a:t>Your local workspace/desktop</a:t>
                </a:r>
              </a:p>
            </p:txBody>
          </p:sp>
          <p:grpSp>
            <p:nvGrpSpPr>
              <p:cNvPr id="56" name="Group 55">
                <a:extLst>
                  <a:ext uri="{FF2B5EF4-FFF2-40B4-BE49-F238E27FC236}">
                    <a16:creationId xmlns:a16="http://schemas.microsoft.com/office/drawing/2014/main" id="{2277E4E0-02FB-4ADD-A505-5BA7A84510E3}"/>
                  </a:ext>
                </a:extLst>
              </p:cNvPr>
              <p:cNvGrpSpPr/>
              <p:nvPr/>
            </p:nvGrpSpPr>
            <p:grpSpPr>
              <a:xfrm>
                <a:off x="8362058" y="3317494"/>
                <a:ext cx="1715541" cy="461665"/>
                <a:chOff x="1973521" y="1598761"/>
                <a:chExt cx="1715541" cy="461665"/>
              </a:xfrm>
            </p:grpSpPr>
            <p:cxnSp>
              <p:nvCxnSpPr>
                <p:cNvPr id="57" name="Straight Arrow Connector 56">
                  <a:extLst>
                    <a:ext uri="{FF2B5EF4-FFF2-40B4-BE49-F238E27FC236}">
                      <a16:creationId xmlns:a16="http://schemas.microsoft.com/office/drawing/2014/main" id="{A3062A74-687F-46C5-AA27-014CFFC6115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126323" y="2054731"/>
                  <a:ext cx="1409936" cy="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ACAE17FF-F490-4A43-9ADB-8BC383B71813}"/>
                    </a:ext>
                  </a:extLst>
                </p:cNvPr>
                <p:cNvSpPr txBox="1"/>
                <p:nvPr/>
              </p:nvSpPr>
              <p:spPr>
                <a:xfrm>
                  <a:off x="1973521" y="1598761"/>
                  <a:ext cx="1715541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GB" sz="1200" b="1" dirty="0"/>
                    <a:t>Push your changes into </a:t>
                  </a:r>
                  <a:r>
                    <a:rPr lang="en-GB" sz="1200" b="1" dirty="0" err="1"/>
                    <a:t>Github</a:t>
                  </a:r>
                  <a:endParaRPr lang="en-GB" sz="1200" b="1" dirty="0"/>
                </a:p>
              </p:txBody>
            </p:sp>
          </p:grpSp>
          <p:pic>
            <p:nvPicPr>
              <p:cNvPr id="2054" name="Picture 6" descr="Push - Free hands and gestures icons">
                <a:extLst>
                  <a:ext uri="{FF2B5EF4-FFF2-40B4-BE49-F238E27FC236}">
                    <a16:creationId xmlns:a16="http://schemas.microsoft.com/office/drawing/2014/main" id="{235B0CA3-0C25-45C3-AEFA-FA8B7E45545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flipH="1">
                <a:off x="8720925" y="3894216"/>
                <a:ext cx="1103293" cy="110329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EEF2B14F-24ED-403C-BC48-F4D8EB12122F}"/>
                  </a:ext>
                </a:extLst>
              </p:cNvPr>
              <p:cNvSpPr txBox="1"/>
              <p:nvPr/>
            </p:nvSpPr>
            <p:spPr>
              <a:xfrm>
                <a:off x="416393" y="2055444"/>
                <a:ext cx="211113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b="1" dirty="0" err="1"/>
                  <a:t>Github</a:t>
                </a:r>
                <a:endParaRPr lang="en-GB" b="1" dirty="0"/>
              </a:p>
            </p:txBody>
          </p: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F71F8060-9D71-4F9F-98D7-3352CA02FD02}"/>
                  </a:ext>
                </a:extLst>
              </p:cNvPr>
              <p:cNvSpPr txBox="1"/>
              <p:nvPr/>
            </p:nvSpPr>
            <p:spPr>
              <a:xfrm>
                <a:off x="9061135" y="2091270"/>
                <a:ext cx="211113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b="1" dirty="0" err="1"/>
                  <a:t>Github</a:t>
                </a:r>
                <a:endParaRPr lang="en-GB" b="1" dirty="0"/>
              </a:p>
            </p:txBody>
          </p:sp>
        </p:grpSp>
        <p:grpSp>
          <p:nvGrpSpPr>
            <p:cNvPr id="75" name="Group 74">
              <a:extLst>
                <a:ext uri="{FF2B5EF4-FFF2-40B4-BE49-F238E27FC236}">
                  <a16:creationId xmlns:a16="http://schemas.microsoft.com/office/drawing/2014/main" id="{675E00A2-DEBE-4A8C-8D67-19C5310253FB}"/>
                </a:ext>
              </a:extLst>
            </p:cNvPr>
            <p:cNvGrpSpPr/>
            <p:nvPr/>
          </p:nvGrpSpPr>
          <p:grpSpPr>
            <a:xfrm>
              <a:off x="7716104" y="4975011"/>
              <a:ext cx="1436462" cy="1546272"/>
              <a:chOff x="7428238" y="5026026"/>
              <a:chExt cx="1436462" cy="1546272"/>
            </a:xfrm>
          </p:grpSpPr>
          <p:sp>
            <p:nvSpPr>
              <p:cNvPr id="68" name="Scroll: Vertical 67">
                <a:extLst>
                  <a:ext uri="{FF2B5EF4-FFF2-40B4-BE49-F238E27FC236}">
                    <a16:creationId xmlns:a16="http://schemas.microsoft.com/office/drawing/2014/main" id="{788CCA70-02A5-47F7-AA11-710277895753}"/>
                  </a:ext>
                </a:extLst>
              </p:cNvPr>
              <p:cNvSpPr/>
              <p:nvPr/>
            </p:nvSpPr>
            <p:spPr>
              <a:xfrm>
                <a:off x="7541849" y="5225718"/>
                <a:ext cx="1261546" cy="972127"/>
              </a:xfrm>
              <a:prstGeom prst="verticalScroll">
                <a:avLst/>
              </a:prstGeom>
            </p:spPr>
            <p:style>
              <a:lnRef idx="2">
                <a:schemeClr val="accent5">
                  <a:shade val="50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200" dirty="0"/>
                  <a:t>Unreviewed document</a:t>
                </a:r>
              </a:p>
            </p:txBody>
          </p:sp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90BFFF8A-8229-46E0-852B-EEA9A6B78411}"/>
                  </a:ext>
                </a:extLst>
              </p:cNvPr>
              <p:cNvSpPr/>
              <p:nvPr/>
            </p:nvSpPr>
            <p:spPr>
              <a:xfrm>
                <a:off x="7428238" y="5026026"/>
                <a:ext cx="1436462" cy="1546272"/>
              </a:xfrm>
              <a:prstGeom prst="rect">
                <a:avLst/>
              </a:prstGeom>
              <a:noFill/>
              <a:ln>
                <a:solidFill>
                  <a:srgbClr val="63519D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BC252FF4-AF0E-46DD-AEE9-3F37F3DD26DB}"/>
                  </a:ext>
                </a:extLst>
              </p:cNvPr>
              <p:cNvSpPr txBox="1"/>
              <p:nvPr/>
            </p:nvSpPr>
            <p:spPr>
              <a:xfrm>
                <a:off x="7586584" y="6284155"/>
                <a:ext cx="1277743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1100" b="1" dirty="0"/>
                  <a:t>Your dev branch</a:t>
                </a:r>
              </a:p>
            </p:txBody>
          </p:sp>
        </p:grpSp>
        <p:cxnSp>
          <p:nvCxnSpPr>
            <p:cNvPr id="65" name="Connector: Elbow 64">
              <a:extLst>
                <a:ext uri="{FF2B5EF4-FFF2-40B4-BE49-F238E27FC236}">
                  <a16:creationId xmlns:a16="http://schemas.microsoft.com/office/drawing/2014/main" id="{B0393E53-24EE-4B11-8F0B-F65281C50657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9319734" y="4116491"/>
              <a:ext cx="2108235" cy="1952447"/>
            </a:xfrm>
            <a:prstGeom prst="bentConnector3">
              <a:avLst>
                <a:gd name="adj1" fmla="val 99798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99F95041-93D8-420B-9814-5116ACAE9920}"/>
                </a:ext>
              </a:extLst>
            </p:cNvPr>
            <p:cNvSpPr txBox="1"/>
            <p:nvPr/>
          </p:nvSpPr>
          <p:spPr>
            <a:xfrm>
              <a:off x="9408418" y="5256524"/>
              <a:ext cx="171554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1200" b="1" dirty="0"/>
                <a:t>Open a pull request for review!</a:t>
              </a:r>
            </a:p>
          </p:txBody>
        </p:sp>
        <p:cxnSp>
          <p:nvCxnSpPr>
            <p:cNvPr id="82" name="Straight Arrow Connector 81">
              <a:extLst>
                <a:ext uri="{FF2B5EF4-FFF2-40B4-BE49-F238E27FC236}">
                  <a16:creationId xmlns:a16="http://schemas.microsoft.com/office/drawing/2014/main" id="{E6B7432F-98EA-4BA7-9490-C53A9A34929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063868" y="6053861"/>
              <a:ext cx="3115736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2056" name="Picture 8" descr="Review And Approve Icons - Free SVG &amp; PNG Review And Approve Images - Noun Project">
              <a:extLst>
                <a:ext uri="{FF2B5EF4-FFF2-40B4-BE49-F238E27FC236}">
                  <a16:creationId xmlns:a16="http://schemas.microsoft.com/office/drawing/2014/main" id="{DCD3894A-3EBE-4C4C-B27D-569721E174C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641427" y="4850311"/>
              <a:ext cx="977370" cy="97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93C6A167-F7FA-4271-AA17-7E14578D217A}"/>
                </a:ext>
              </a:extLst>
            </p:cNvPr>
            <p:cNvSpPr txBox="1"/>
            <p:nvPr/>
          </p:nvSpPr>
          <p:spPr>
            <a:xfrm>
              <a:off x="5624192" y="5199101"/>
              <a:ext cx="171554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1200" b="1" dirty="0"/>
                <a:t>Reviewer approves pull request</a:t>
              </a:r>
            </a:p>
          </p:txBody>
        </p:sp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D9E8AD1B-4238-457D-A1A3-5D543F80517F}"/>
                </a:ext>
              </a:extLst>
            </p:cNvPr>
            <p:cNvGrpSpPr/>
            <p:nvPr/>
          </p:nvGrpSpPr>
          <p:grpSpPr>
            <a:xfrm>
              <a:off x="2393551" y="4905633"/>
              <a:ext cx="1575318" cy="1689556"/>
              <a:chOff x="7428238" y="5048054"/>
              <a:chExt cx="1436462" cy="1546272"/>
            </a:xfrm>
          </p:grpSpPr>
          <p:sp>
            <p:nvSpPr>
              <p:cNvPr id="91" name="Scroll: Vertical 90">
                <a:extLst>
                  <a:ext uri="{FF2B5EF4-FFF2-40B4-BE49-F238E27FC236}">
                    <a16:creationId xmlns:a16="http://schemas.microsoft.com/office/drawing/2014/main" id="{3BBBFB06-43B4-4BFD-8075-A6117782AF69}"/>
                  </a:ext>
                </a:extLst>
              </p:cNvPr>
              <p:cNvSpPr/>
              <p:nvPr/>
            </p:nvSpPr>
            <p:spPr>
              <a:xfrm>
                <a:off x="7547652" y="5335127"/>
                <a:ext cx="1261546" cy="972127"/>
              </a:xfrm>
              <a:prstGeom prst="verticalScroll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200" dirty="0"/>
                  <a:t>New version of document</a:t>
                </a:r>
              </a:p>
            </p:txBody>
          </p:sp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290C9014-0461-47EE-9435-A332D89A44DE}"/>
                  </a:ext>
                </a:extLst>
              </p:cNvPr>
              <p:cNvSpPr/>
              <p:nvPr/>
            </p:nvSpPr>
            <p:spPr>
              <a:xfrm>
                <a:off x="7428238" y="5048054"/>
                <a:ext cx="1436462" cy="1546272"/>
              </a:xfrm>
              <a:prstGeom prst="rect">
                <a:avLst/>
              </a:prstGeom>
              <a:noFill/>
              <a:ln>
                <a:solidFill>
                  <a:srgbClr val="63519D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0F8A2FA5-404B-490B-BBC3-DE9FC3556868}"/>
                  </a:ext>
                </a:extLst>
              </p:cNvPr>
              <p:cNvSpPr txBox="1"/>
              <p:nvPr/>
            </p:nvSpPr>
            <p:spPr>
              <a:xfrm>
                <a:off x="7586584" y="6284155"/>
                <a:ext cx="1277743" cy="21716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1100" b="1" dirty="0"/>
                  <a:t>Main/Production</a:t>
                </a:r>
              </a:p>
            </p:txBody>
          </p:sp>
        </p:grp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089A88F0-39D5-4DBE-8322-31F1F75E90A4}"/>
                </a:ext>
              </a:extLst>
            </p:cNvPr>
            <p:cNvSpPr txBox="1"/>
            <p:nvPr/>
          </p:nvSpPr>
          <p:spPr>
            <a:xfrm>
              <a:off x="246337" y="2090097"/>
              <a:ext cx="1606036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100" b="1" dirty="0"/>
                <a:t>Commit hash: a3bcde</a:t>
              </a:r>
            </a:p>
          </p:txBody>
        </p: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29358BDD-A91B-41F9-ABC5-1013477BD38E}"/>
                </a:ext>
              </a:extLst>
            </p:cNvPr>
            <p:cNvSpPr txBox="1"/>
            <p:nvPr/>
          </p:nvSpPr>
          <p:spPr>
            <a:xfrm>
              <a:off x="2485107" y="4905633"/>
              <a:ext cx="1606036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100" b="1" dirty="0"/>
                <a:t>Commit hash: b4fhef</a:t>
              </a:r>
            </a:p>
          </p:txBody>
        </p:sp>
        <p:cxnSp>
          <p:nvCxnSpPr>
            <p:cNvPr id="99" name="Connector: Elbow 98">
              <a:extLst>
                <a:ext uri="{FF2B5EF4-FFF2-40B4-BE49-F238E27FC236}">
                  <a16:creationId xmlns:a16="http://schemas.microsoft.com/office/drawing/2014/main" id="{A02CC5BD-BF07-4CA7-939F-499200776EE9}"/>
                </a:ext>
              </a:extLst>
            </p:cNvPr>
            <p:cNvCxnSpPr>
              <a:cxnSpLocks/>
            </p:cNvCxnSpPr>
            <p:nvPr/>
          </p:nvCxnSpPr>
          <p:spPr>
            <a:xfrm rot="16200000" flipV="1">
              <a:off x="586669" y="4396668"/>
              <a:ext cx="2395204" cy="1105059"/>
            </a:xfrm>
            <a:prstGeom prst="bentConnector3">
              <a:avLst>
                <a:gd name="adj1" fmla="val 159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03F397E9-B3E2-4F04-BC71-FD6B7F397D3F}"/>
                </a:ext>
              </a:extLst>
            </p:cNvPr>
            <p:cNvSpPr txBox="1"/>
            <p:nvPr/>
          </p:nvSpPr>
          <p:spPr>
            <a:xfrm>
              <a:off x="133001" y="4062203"/>
              <a:ext cx="1001441" cy="13849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1200" b="1" dirty="0"/>
                <a:t>New version overwrites old version. Ready for new developer to pull!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1265925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F11F58-1B02-2B5E-16AB-F41892BB30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9146" y="332495"/>
            <a:ext cx="8343789" cy="636062"/>
          </a:xfrm>
        </p:spPr>
        <p:txBody>
          <a:bodyPr>
            <a:normAutofit/>
          </a:bodyPr>
          <a:lstStyle/>
          <a:p>
            <a:r>
              <a:rPr lang="en-GB" sz="3200" b="1" u="sng" dirty="0"/>
              <a:t>How Git Stores Your Work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521F9B-D9FC-06E8-07A8-52FCF5072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pPr/>
              <a:t>15</a:t>
            </a:fld>
            <a:endParaRPr lang="en-GB"/>
          </a:p>
        </p:txBody>
      </p:sp>
      <p:pic>
        <p:nvPicPr>
          <p:cNvPr id="3076" name="Picture 4" descr="Git Branches System Flowchart | Flowchart Template">
            <a:extLst>
              <a:ext uri="{FF2B5EF4-FFF2-40B4-BE49-F238E27FC236}">
                <a16:creationId xmlns:a16="http://schemas.microsoft.com/office/drawing/2014/main" id="{DC5F6D7C-7DDF-47FF-BFA6-099412BBF6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60663" y="1305401"/>
            <a:ext cx="5765269" cy="44658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195975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F11F58-1B02-2B5E-16AB-F41892BB30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0911" y="427020"/>
            <a:ext cx="8343789" cy="636062"/>
          </a:xfrm>
        </p:spPr>
        <p:txBody>
          <a:bodyPr>
            <a:normAutofit/>
          </a:bodyPr>
          <a:lstStyle/>
          <a:p>
            <a:r>
              <a:rPr lang="en-GB" sz="3200" b="1" u="sng" dirty="0"/>
              <a:t>Standard </a:t>
            </a:r>
            <a:r>
              <a:rPr lang="en-GB" sz="3200" b="1" u="sng" dirty="0" err="1"/>
              <a:t>Github</a:t>
            </a:r>
            <a:r>
              <a:rPr lang="en-GB" sz="3200" u="sng" dirty="0"/>
              <a:t> Files</a:t>
            </a:r>
            <a:endParaRPr lang="en-GB" sz="3200" b="1" u="sng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521F9B-D9FC-06E8-07A8-52FCF5072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pPr/>
              <a:t>16</a:t>
            </a:fld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825C012-3404-4C60-A760-764C43E567DF}"/>
              </a:ext>
            </a:extLst>
          </p:cNvPr>
          <p:cNvSpPr txBox="1"/>
          <p:nvPr/>
        </p:nvSpPr>
        <p:spPr>
          <a:xfrm>
            <a:off x="597111" y="1449601"/>
            <a:ext cx="5117889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All GitHub Repositories should contain the following: </a:t>
            </a:r>
          </a:p>
          <a:p>
            <a:endParaRPr lang="en-GB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A README markdown file.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A .</a:t>
            </a:r>
            <a:r>
              <a:rPr lang="en-GB" dirty="0" err="1"/>
              <a:t>gitignore</a:t>
            </a:r>
            <a:r>
              <a:rPr lang="en-GB" dirty="0"/>
              <a:t> file.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A .</a:t>
            </a:r>
            <a:r>
              <a:rPr lang="en-GB" dirty="0" err="1"/>
              <a:t>gitkeep</a:t>
            </a:r>
            <a:r>
              <a:rPr lang="en-GB" dirty="0"/>
              <a:t> file to create an empty folder if required.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r>
              <a:rPr lang="en-GB" b="1" dirty="0"/>
              <a:t>.</a:t>
            </a:r>
            <a:r>
              <a:rPr lang="en-GB" b="1" dirty="0" err="1"/>
              <a:t>gitignore</a:t>
            </a:r>
            <a:r>
              <a:rPr lang="en-GB" b="1" dirty="0"/>
              <a:t> tells Git which files and folders should not be stored in a repository. Examples include credentials, cached data, log files (which could expose sensitive information) and local developer settings.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</p:txBody>
      </p:sp>
      <p:pic>
        <p:nvPicPr>
          <p:cNvPr id="4098" name="Picture 2" descr="Webinar: Patient Health Data and Protecting Privacy During Research">
            <a:extLst>
              <a:ext uri="{FF2B5EF4-FFF2-40B4-BE49-F238E27FC236}">
                <a16:creationId xmlns:a16="http://schemas.microsoft.com/office/drawing/2014/main" id="{877EE04D-FD86-43B3-B71D-DCF8FADBA40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227" t="18535" r="21682" b="14117"/>
          <a:stretch/>
        </p:blipFill>
        <p:spPr bwMode="auto">
          <a:xfrm>
            <a:off x="6764868" y="2040467"/>
            <a:ext cx="3817484" cy="24807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&quot;Not Allowed&quot; Symbol 8">
            <a:extLst>
              <a:ext uri="{FF2B5EF4-FFF2-40B4-BE49-F238E27FC236}">
                <a16:creationId xmlns:a16="http://schemas.microsoft.com/office/drawing/2014/main" id="{D8E2CD29-5DE7-42F2-88B5-43D53108668B}"/>
              </a:ext>
            </a:extLst>
          </p:cNvPr>
          <p:cNvSpPr/>
          <p:nvPr/>
        </p:nvSpPr>
        <p:spPr>
          <a:xfrm>
            <a:off x="6155267" y="1063082"/>
            <a:ext cx="5117889" cy="4897451"/>
          </a:xfrm>
          <a:prstGeom prst="noSmoking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72827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" dur="500" tmFilter="0, 0; .2, .5; .8, .5; 1, 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3" dur="250" autoRev="1" fill="hold"/>
                                        <p:tgtEl>
                                          <p:spTgt spid="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521F9B-D9FC-06E8-07A8-52FCF5072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pPr/>
              <a:t>17</a:t>
            </a:fld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0F11F58-1B02-2B5E-16AB-F41892BB30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16588"/>
            <a:ext cx="3436838" cy="498598"/>
          </a:xfrm>
        </p:spPr>
        <p:txBody>
          <a:bodyPr>
            <a:normAutofit/>
          </a:bodyPr>
          <a:lstStyle/>
          <a:p>
            <a:r>
              <a:rPr lang="en-GB" sz="3200" b="1" u="sng" dirty="0"/>
              <a:t>Exercise Checkpoint 2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9A6EDB-FD47-0120-E2F7-AE5FAB5706B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 vert="horz" lIns="91440" tIns="45720" rIns="91440" bIns="45720" rtlCol="0" anchor="t">
            <a:normAutofit fontScale="32500" lnSpcReduction="20000"/>
          </a:bodyPr>
          <a:lstStyle/>
          <a:p>
            <a:pPr lvl="1"/>
            <a:br>
              <a:rPr lang="en-GB" dirty="0"/>
            </a:br>
            <a:endParaRPr lang="en-GB" dirty="0"/>
          </a:p>
          <a:p>
            <a:pPr marL="285750" indent="-285750">
              <a:buChar char="•"/>
            </a:pPr>
            <a:endParaRPr lang="en-GB" dirty="0"/>
          </a:p>
          <a:p>
            <a:pPr marL="514350" lvl="1" indent="-285750">
              <a:buFont typeface="Courier New" panose="020B0604020202020204" pitchFamily="34" charset="0"/>
              <a:buChar char="o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D1779D3-41A0-4920-B5C8-8AA53282B9B8}"/>
              </a:ext>
            </a:extLst>
          </p:cNvPr>
          <p:cNvSpPr txBox="1"/>
          <p:nvPr/>
        </p:nvSpPr>
        <p:spPr>
          <a:xfrm>
            <a:off x="609600" y="1611755"/>
            <a:ext cx="568960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 dirty="0">
                <a:solidFill>
                  <a:schemeClr val="bg1"/>
                </a:solidFill>
              </a:rPr>
              <a:t>Create your feature branch and fill in your README.</a:t>
            </a:r>
          </a:p>
          <a:p>
            <a:endParaRPr lang="en-GB" b="1" dirty="0">
              <a:solidFill>
                <a:schemeClr val="bg1"/>
              </a:solidFill>
            </a:endParaRPr>
          </a:p>
          <a:p>
            <a:pPr marL="800100" lvl="1" indent="-342900">
              <a:buFont typeface="+mj-lt"/>
              <a:buAutoNum type="arabicPeriod"/>
            </a:pPr>
            <a:r>
              <a:rPr lang="en-GB" dirty="0">
                <a:solidFill>
                  <a:schemeClr val="bg1"/>
                </a:solidFill>
              </a:rPr>
              <a:t>In </a:t>
            </a:r>
            <a:r>
              <a:rPr lang="en-GB" dirty="0" err="1">
                <a:solidFill>
                  <a:schemeClr val="bg1"/>
                </a:solidFill>
              </a:rPr>
              <a:t>Github</a:t>
            </a:r>
            <a:r>
              <a:rPr lang="en-GB" dirty="0">
                <a:solidFill>
                  <a:schemeClr val="bg1"/>
                </a:solidFill>
              </a:rPr>
              <a:t>, create your own feature branch. 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GB" dirty="0">
                <a:solidFill>
                  <a:schemeClr val="bg1"/>
                </a:solidFill>
                <a:latin typeface="Mona Sans VF"/>
              </a:rPr>
              <a:t>Open your README in your participant folder and fill this in. 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GB" dirty="0">
                <a:solidFill>
                  <a:schemeClr val="bg1"/>
                </a:solidFill>
                <a:latin typeface="Mona Sans VF"/>
              </a:rPr>
              <a:t>Stage and commit this with the message: Fill in my area README.</a:t>
            </a:r>
          </a:p>
          <a:p>
            <a:pPr marL="800100" lvl="1" indent="-342900">
              <a:buFont typeface="+mj-lt"/>
              <a:buAutoNum type="arabicPeriod"/>
            </a:pPr>
            <a:endParaRPr lang="en-GB" dirty="0">
              <a:solidFill>
                <a:schemeClr val="bg1"/>
              </a:solidFill>
              <a:latin typeface="Mona Sans VF"/>
            </a:endParaRPr>
          </a:p>
          <a:p>
            <a:pPr marL="800100" lvl="1" indent="-342900">
              <a:buFont typeface="+mj-lt"/>
              <a:buAutoNum type="arabicPeriod"/>
            </a:pPr>
            <a:endParaRPr lang="en-GB" dirty="0">
              <a:solidFill>
                <a:schemeClr val="bg1"/>
              </a:solidFill>
              <a:latin typeface="Mona Sans VF"/>
            </a:endParaRPr>
          </a:p>
          <a:p>
            <a:pPr lvl="1"/>
            <a:endParaRPr lang="en-GB" dirty="0">
              <a:solidFill>
                <a:schemeClr val="bg1"/>
              </a:solidFill>
              <a:latin typeface="Mona Sans VF"/>
            </a:endParaRPr>
          </a:p>
        </p:txBody>
      </p:sp>
    </p:spTree>
    <p:extLst>
      <p:ext uri="{BB962C8B-B14F-4D97-AF65-F5344CB8AC3E}">
        <p14:creationId xmlns:p14="http://schemas.microsoft.com/office/powerpoint/2010/main" val="76816344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4918DD-3FB4-ECF1-7474-46B34CAE7F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58703" y="2427434"/>
            <a:ext cx="10007063" cy="830997"/>
          </a:xfrm>
        </p:spPr>
        <p:txBody>
          <a:bodyPr/>
          <a:lstStyle/>
          <a:p>
            <a:r>
              <a:rPr lang="en-GB" dirty="0"/>
              <a:t>Other GitHub Features</a:t>
            </a:r>
          </a:p>
        </p:txBody>
      </p:sp>
    </p:spTree>
    <p:extLst>
      <p:ext uri="{BB962C8B-B14F-4D97-AF65-F5344CB8AC3E}">
        <p14:creationId xmlns:p14="http://schemas.microsoft.com/office/powerpoint/2010/main" val="176356992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F11F58-1B02-2B5E-16AB-F41892BB30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0911" y="427020"/>
            <a:ext cx="8343789" cy="636062"/>
          </a:xfrm>
        </p:spPr>
        <p:txBody>
          <a:bodyPr>
            <a:normAutofit/>
          </a:bodyPr>
          <a:lstStyle/>
          <a:p>
            <a:r>
              <a:rPr lang="en-GB" sz="3200" b="1" u="sng" dirty="0"/>
              <a:t>Issues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521F9B-D9FC-06E8-07A8-52FCF5072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pPr/>
              <a:t>19</a:t>
            </a:fld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825C012-3404-4C60-A760-764C43E567DF}"/>
              </a:ext>
            </a:extLst>
          </p:cNvPr>
          <p:cNvSpPr txBox="1"/>
          <p:nvPr/>
        </p:nvSpPr>
        <p:spPr>
          <a:xfrm>
            <a:off x="444711" y="1314134"/>
            <a:ext cx="4804622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 err="1"/>
              <a:t>Github</a:t>
            </a:r>
            <a:r>
              <a:rPr lang="en-GB" dirty="0"/>
              <a:t> Issues are digital task cards used to track work, bugs and request improvements/suggestions within a software project.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Issues can be linked to agentic working – once an issue has been raised, an agent can then complete the work and open up a pull request for a human to review.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Encourages collaboration and better organisation – provides history of decisions and assignment of work to team members.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Templates can be set up to standardise requests/bug issue forms. 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392CF61-AF29-4E2D-845B-672428F076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7272" y="1536700"/>
            <a:ext cx="5716687" cy="3784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66574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F11F58-1B02-2B5E-16AB-F41892BB30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0911" y="427020"/>
            <a:ext cx="8343789" cy="636062"/>
          </a:xfrm>
        </p:spPr>
        <p:txBody>
          <a:bodyPr>
            <a:normAutofit/>
          </a:bodyPr>
          <a:lstStyle/>
          <a:p>
            <a:r>
              <a:rPr lang="en-GB" sz="3200" b="1" u="sng" dirty="0"/>
              <a:t>Projects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521F9B-D9FC-06E8-07A8-52FCF5072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pPr/>
              <a:t>20</a:t>
            </a:fld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825C012-3404-4C60-A760-764C43E567DF}"/>
              </a:ext>
            </a:extLst>
          </p:cNvPr>
          <p:cNvSpPr txBox="1"/>
          <p:nvPr/>
        </p:nvSpPr>
        <p:spPr>
          <a:xfrm>
            <a:off x="444711" y="1314134"/>
            <a:ext cx="950362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Resembles a Kanban/</a:t>
            </a:r>
            <a:r>
              <a:rPr lang="en-GB" dirty="0" err="1"/>
              <a:t>devops</a:t>
            </a:r>
            <a:r>
              <a:rPr lang="en-GB" dirty="0"/>
              <a:t> board that managers can link issues/tasks to key milestones and task phases.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Automatically move and assign tasks to users using agents/</a:t>
            </a:r>
            <a:r>
              <a:rPr lang="en-GB" dirty="0" err="1"/>
              <a:t>Github</a:t>
            </a:r>
            <a:r>
              <a:rPr lang="en-GB" dirty="0"/>
              <a:t> actions.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Allows for work and delivery in one place with real-time progress tracking.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Supports agile way of working with prioritisation and sprint tracking.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8E36F9E-12B6-40F9-8232-D059D17355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117" y="4259815"/>
            <a:ext cx="10545445" cy="12840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9889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F11F58-1B02-2B5E-16AB-F41892BB30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0911" y="427020"/>
            <a:ext cx="8343789" cy="636062"/>
          </a:xfrm>
        </p:spPr>
        <p:txBody>
          <a:bodyPr>
            <a:normAutofit/>
          </a:bodyPr>
          <a:lstStyle/>
          <a:p>
            <a:r>
              <a:rPr lang="en-GB" sz="3200" b="1" u="sng" dirty="0"/>
              <a:t>Agents and Actions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521F9B-D9FC-06E8-07A8-52FCF5072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pPr/>
              <a:t>21</a:t>
            </a:fld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825C012-3404-4C60-A760-764C43E567DF}"/>
              </a:ext>
            </a:extLst>
          </p:cNvPr>
          <p:cNvSpPr txBox="1"/>
          <p:nvPr/>
        </p:nvSpPr>
        <p:spPr>
          <a:xfrm>
            <a:off x="681778" y="1458067"/>
            <a:ext cx="950362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Actions – automated tasks that follow pre-defined instructions by users, e.g.; running data quality checks, sending an email, etc.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Agents – custom built AI workers that can automate recurring business activities and free up staff to work on more strategic work.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algn="ctr"/>
            <a:r>
              <a:rPr lang="en-GB" b="1" dirty="0"/>
              <a:t>An action automates a task. An agent automates a responsibility.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4DA29B7-D69A-44B8-8319-269529E261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7196" y="4305310"/>
            <a:ext cx="2376203" cy="149431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A8AD209-FE1C-42D6-B339-10D6BB177E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4725" y="4368801"/>
            <a:ext cx="2859271" cy="14308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68073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4918DD-3FB4-ECF1-7474-46B34CAE7F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58703" y="2427434"/>
            <a:ext cx="7401885" cy="1661993"/>
          </a:xfrm>
        </p:spPr>
        <p:txBody>
          <a:bodyPr/>
          <a:lstStyle/>
          <a:p>
            <a:r>
              <a:rPr lang="en-GB" dirty="0"/>
              <a:t>Using </a:t>
            </a:r>
            <a:r>
              <a:rPr lang="en-GB" dirty="0" err="1"/>
              <a:t>CoPilot</a:t>
            </a:r>
            <a:r>
              <a:rPr lang="en-GB" dirty="0"/>
              <a:t> Effectively</a:t>
            </a:r>
          </a:p>
        </p:txBody>
      </p:sp>
    </p:spTree>
    <p:extLst>
      <p:ext uri="{BB962C8B-B14F-4D97-AF65-F5344CB8AC3E}">
        <p14:creationId xmlns:p14="http://schemas.microsoft.com/office/powerpoint/2010/main" val="81659917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F11F58-1B02-2B5E-16AB-F41892BB30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0911" y="427020"/>
            <a:ext cx="8343789" cy="636062"/>
          </a:xfrm>
        </p:spPr>
        <p:txBody>
          <a:bodyPr>
            <a:normAutofit/>
          </a:bodyPr>
          <a:lstStyle/>
          <a:p>
            <a:r>
              <a:rPr lang="en-GB" sz="3200" b="1" u="sng" dirty="0"/>
              <a:t>Using </a:t>
            </a:r>
            <a:r>
              <a:rPr lang="en-GB" sz="3200" b="1" u="sng" dirty="0" err="1"/>
              <a:t>CoPilot</a:t>
            </a:r>
            <a:r>
              <a:rPr lang="en-GB" sz="3200" b="1" u="sng" dirty="0"/>
              <a:t> Effectively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521F9B-D9FC-06E8-07A8-52FCF5072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pPr/>
              <a:t>23</a:t>
            </a:fld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825C012-3404-4C60-A760-764C43E567DF}"/>
              </a:ext>
            </a:extLst>
          </p:cNvPr>
          <p:cNvSpPr txBox="1"/>
          <p:nvPr/>
        </p:nvSpPr>
        <p:spPr>
          <a:xfrm>
            <a:off x="444711" y="1314134"/>
            <a:ext cx="9503622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Functions the same as 365 </a:t>
            </a:r>
            <a:r>
              <a:rPr lang="en-GB" dirty="0" err="1"/>
              <a:t>CoPilot</a:t>
            </a:r>
            <a:r>
              <a:rPr lang="en-GB" dirty="0"/>
              <a:t>.</a:t>
            </a:r>
          </a:p>
          <a:p>
            <a:r>
              <a:rPr lang="en-GB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Enables users to ground prompts in specific codebases and enables users to pin resources/files to the query window to generate more relevant and accurate responses.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The organisation being an enterprise allows users to select which language model to use for query and development.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GitHub </a:t>
            </a:r>
            <a:r>
              <a:rPr lang="en-GB" dirty="0" err="1"/>
              <a:t>CoPilot</a:t>
            </a:r>
            <a:r>
              <a:rPr lang="en-GB" dirty="0"/>
              <a:t> allows for agentic working and planning projects whereas 365 </a:t>
            </a:r>
            <a:r>
              <a:rPr lang="en-GB" dirty="0" err="1"/>
              <a:t>CoPilot</a:t>
            </a:r>
            <a:r>
              <a:rPr lang="en-GB" dirty="0"/>
              <a:t> can only answer questions.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Widely accessible within </a:t>
            </a:r>
            <a:r>
              <a:rPr lang="en-GB" dirty="0" err="1"/>
              <a:t>Github</a:t>
            </a:r>
            <a:r>
              <a:rPr lang="en-GB" dirty="0"/>
              <a:t>.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442269B-0B38-415F-928C-BDD6BE3F39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732" y="5257387"/>
            <a:ext cx="11827935" cy="7966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3147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5C19461-1438-426A-83DE-E382B4466B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24</a:t>
            </a:fld>
            <a:endParaRPr lang="en-US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E4CDDF79-451E-491C-8005-C3E599C19F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0911" y="427020"/>
            <a:ext cx="8343789" cy="636062"/>
          </a:xfrm>
        </p:spPr>
        <p:txBody>
          <a:bodyPr>
            <a:normAutofit/>
          </a:bodyPr>
          <a:lstStyle/>
          <a:p>
            <a:r>
              <a:rPr lang="en-GB" sz="3200" b="1" u="sng" dirty="0"/>
              <a:t>Using </a:t>
            </a:r>
            <a:r>
              <a:rPr lang="en-GB" sz="3200" b="1" u="sng" dirty="0" err="1"/>
              <a:t>CoPilot</a:t>
            </a:r>
            <a:r>
              <a:rPr lang="en-GB" sz="3200" b="1" u="sng" dirty="0"/>
              <a:t> Effectively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876EE99-FA82-4B98-AA7D-A923F512E5AA}"/>
              </a:ext>
            </a:extLst>
          </p:cNvPr>
          <p:cNvSpPr txBox="1"/>
          <p:nvPr/>
        </p:nvSpPr>
        <p:spPr>
          <a:xfrm>
            <a:off x="444711" y="1314134"/>
            <a:ext cx="950362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Get better answers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Give context – the columns, the metric definition and the output you want.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Work in small steps and iterate.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Ask </a:t>
            </a:r>
            <a:r>
              <a:rPr lang="en-GB" dirty="0" err="1"/>
              <a:t>CoPilot</a:t>
            </a:r>
            <a:r>
              <a:rPr lang="en-GB" dirty="0"/>
              <a:t> to explain code you do not understand.</a:t>
            </a:r>
          </a:p>
        </p:txBody>
      </p:sp>
      <p:sp>
        <p:nvSpPr>
          <p:cNvPr id="9" name="Speech Bubble: Oval 8">
            <a:extLst>
              <a:ext uri="{FF2B5EF4-FFF2-40B4-BE49-F238E27FC236}">
                <a16:creationId xmlns:a16="http://schemas.microsoft.com/office/drawing/2014/main" id="{4E387BB3-0A01-47DA-AE9C-074848F94DDC}"/>
              </a:ext>
            </a:extLst>
          </p:cNvPr>
          <p:cNvSpPr/>
          <p:nvPr/>
        </p:nvSpPr>
        <p:spPr>
          <a:xfrm>
            <a:off x="2387602" y="3689527"/>
            <a:ext cx="3132666" cy="2275733"/>
          </a:xfrm>
          <a:prstGeom prst="wedgeEllipseCallo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rgbClr val="0B385B"/>
                </a:solidFill>
              </a:rPr>
              <a:t>Give me SQL.</a:t>
            </a:r>
          </a:p>
        </p:txBody>
      </p:sp>
      <p:sp>
        <p:nvSpPr>
          <p:cNvPr id="11" name="Speech Bubble: Oval 10">
            <a:extLst>
              <a:ext uri="{FF2B5EF4-FFF2-40B4-BE49-F238E27FC236}">
                <a16:creationId xmlns:a16="http://schemas.microsoft.com/office/drawing/2014/main" id="{C53E747E-AEFD-4F26-868B-80FF370B1932}"/>
              </a:ext>
            </a:extLst>
          </p:cNvPr>
          <p:cNvSpPr/>
          <p:nvPr/>
        </p:nvSpPr>
        <p:spPr>
          <a:xfrm>
            <a:off x="6413601" y="3748795"/>
            <a:ext cx="2975932" cy="2275733"/>
          </a:xfrm>
          <a:prstGeom prst="wedgeEllipseCallout">
            <a:avLst>
              <a:gd name="adj1" fmla="val 45469"/>
              <a:gd name="adj2" fmla="val 64361"/>
            </a:avLst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rgbClr val="0B385B"/>
                </a:solidFill>
              </a:rPr>
              <a:t>Create a SQL snippet using the file *** to determine how many patients were in A&amp;E last month.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739D0DD-B35D-4128-874F-35A316B52666}"/>
              </a:ext>
            </a:extLst>
          </p:cNvPr>
          <p:cNvSpPr txBox="1"/>
          <p:nvPr/>
        </p:nvSpPr>
        <p:spPr>
          <a:xfrm>
            <a:off x="4250266" y="3178878"/>
            <a:ext cx="48175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FF0000"/>
                </a:solidFill>
              </a:rPr>
              <a:t>You are the reviewer! Not the agent!</a:t>
            </a:r>
          </a:p>
        </p:txBody>
      </p:sp>
    </p:spTree>
    <p:extLst>
      <p:ext uri="{BB962C8B-B14F-4D97-AF65-F5344CB8AC3E}">
        <p14:creationId xmlns:p14="http://schemas.microsoft.com/office/powerpoint/2010/main" val="26278845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500" tmFilter="0, 0; .2, .5; .8, .5; 1, 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2" dur="250" autoRev="1" fill="hold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 animBg="1"/>
      <p:bldP spid="11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5C19461-1438-426A-83DE-E382B4466B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E4CDDF79-451E-491C-8005-C3E599C19F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0911" y="427020"/>
            <a:ext cx="8343789" cy="636062"/>
          </a:xfrm>
        </p:spPr>
        <p:txBody>
          <a:bodyPr>
            <a:normAutofit/>
          </a:bodyPr>
          <a:lstStyle/>
          <a:p>
            <a:r>
              <a:rPr lang="en-GB" sz="3200" b="1" u="sng" dirty="0"/>
              <a:t>Using </a:t>
            </a:r>
            <a:r>
              <a:rPr lang="en-GB" sz="3200" b="1" u="sng" dirty="0" err="1"/>
              <a:t>CoPilot</a:t>
            </a:r>
            <a:r>
              <a:rPr lang="en-GB" sz="3200" b="1" u="sng" dirty="0"/>
              <a:t> Effectively</a:t>
            </a:r>
          </a:p>
        </p:txBody>
      </p:sp>
      <p:sp>
        <p:nvSpPr>
          <p:cNvPr id="2" name="Smiley Face 1">
            <a:extLst>
              <a:ext uri="{FF2B5EF4-FFF2-40B4-BE49-F238E27FC236}">
                <a16:creationId xmlns:a16="http://schemas.microsoft.com/office/drawing/2014/main" id="{5050632F-9678-42A1-9DB8-DF0C387D14C1}"/>
              </a:ext>
            </a:extLst>
          </p:cNvPr>
          <p:cNvSpPr/>
          <p:nvPr/>
        </p:nvSpPr>
        <p:spPr>
          <a:xfrm>
            <a:off x="1947331" y="1803400"/>
            <a:ext cx="1464733" cy="1447800"/>
          </a:xfrm>
          <a:prstGeom prst="smileyFac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AFEB78D-6787-4D0A-8CB6-ABC9D68FBD2A}"/>
              </a:ext>
            </a:extLst>
          </p:cNvPr>
          <p:cNvSpPr txBox="1"/>
          <p:nvPr/>
        </p:nvSpPr>
        <p:spPr>
          <a:xfrm>
            <a:off x="1344187" y="3518963"/>
            <a:ext cx="2671022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Standard </a:t>
            </a:r>
            <a:r>
              <a:rPr lang="en-GB" dirty="0" err="1"/>
              <a:t>CoPilot</a:t>
            </a:r>
            <a:r>
              <a:rPr lang="en-GB" dirty="0"/>
              <a:t> response to prompts.</a:t>
            </a:r>
          </a:p>
          <a:p>
            <a:pPr algn="ctr"/>
            <a:endParaRPr lang="en-GB" dirty="0"/>
          </a:p>
          <a:p>
            <a:pPr algn="ctr"/>
            <a:endParaRPr lang="en-GB" dirty="0"/>
          </a:p>
          <a:p>
            <a:pPr algn="ctr"/>
            <a:r>
              <a:rPr lang="en-GB" dirty="0"/>
              <a:t>“What is this SQL script doing?”</a:t>
            </a:r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ECAFB85C-F6B2-4252-A800-C5205D6A8BDD}"/>
              </a:ext>
            </a:extLst>
          </p:cNvPr>
          <p:cNvSpPr/>
          <p:nvPr/>
        </p:nvSpPr>
        <p:spPr>
          <a:xfrm>
            <a:off x="5003800" y="2362200"/>
            <a:ext cx="2362200" cy="889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Speech Bubble: Oval 6">
            <a:extLst>
              <a:ext uri="{FF2B5EF4-FFF2-40B4-BE49-F238E27FC236}">
                <a16:creationId xmlns:a16="http://schemas.microsoft.com/office/drawing/2014/main" id="{17C36C29-912A-497C-87E8-EF34007C3BA8}"/>
              </a:ext>
            </a:extLst>
          </p:cNvPr>
          <p:cNvSpPr/>
          <p:nvPr/>
        </p:nvSpPr>
        <p:spPr>
          <a:xfrm>
            <a:off x="3565471" y="1803400"/>
            <a:ext cx="899476" cy="855133"/>
          </a:xfrm>
          <a:prstGeom prst="wedgeEllipseCallout">
            <a:avLst>
              <a:gd name="adj1" fmla="val -104608"/>
              <a:gd name="adj2" fmla="val 75371"/>
            </a:avLst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C4464AC-08AA-4D76-95C6-DB702F8DF557}"/>
              </a:ext>
            </a:extLst>
          </p:cNvPr>
          <p:cNvSpPr txBox="1"/>
          <p:nvPr/>
        </p:nvSpPr>
        <p:spPr>
          <a:xfrm>
            <a:off x="7685721" y="3361266"/>
            <a:ext cx="267102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Agentic </a:t>
            </a:r>
            <a:r>
              <a:rPr lang="en-GB" dirty="0" err="1"/>
              <a:t>CoPilot</a:t>
            </a:r>
            <a:r>
              <a:rPr lang="en-GB" dirty="0"/>
              <a:t> can take a prompt, plan steps and complete actions to achieve this.</a:t>
            </a:r>
          </a:p>
          <a:p>
            <a:pPr algn="ctr"/>
            <a:endParaRPr lang="en-GB" dirty="0"/>
          </a:p>
          <a:p>
            <a:pPr algn="ctr"/>
            <a:endParaRPr lang="en-GB" dirty="0"/>
          </a:p>
          <a:p>
            <a:pPr algn="ctr"/>
            <a:r>
              <a:rPr lang="en-GB" dirty="0"/>
              <a:t>“Make my SQL script more efficient.”</a:t>
            </a:r>
          </a:p>
        </p:txBody>
      </p:sp>
      <p:sp>
        <p:nvSpPr>
          <p:cNvPr id="14" name="Smiley Face 13">
            <a:extLst>
              <a:ext uri="{FF2B5EF4-FFF2-40B4-BE49-F238E27FC236}">
                <a16:creationId xmlns:a16="http://schemas.microsoft.com/office/drawing/2014/main" id="{54261C53-DD3B-4DEB-AF63-9752CC9409AD}"/>
              </a:ext>
            </a:extLst>
          </p:cNvPr>
          <p:cNvSpPr/>
          <p:nvPr/>
        </p:nvSpPr>
        <p:spPr>
          <a:xfrm>
            <a:off x="8288865" y="1803400"/>
            <a:ext cx="1464733" cy="1447800"/>
          </a:xfrm>
          <a:prstGeom prst="smileyFac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7" name="Graphic 16" descr="Muscular arm with solid fill">
            <a:extLst>
              <a:ext uri="{FF2B5EF4-FFF2-40B4-BE49-F238E27FC236}">
                <a16:creationId xmlns:a16="http://schemas.microsoft.com/office/drawing/2014/main" id="{65FC4F21-BB02-4A19-AA7D-1C266085922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572785" y="1965329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96324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13" grpId="0"/>
      <p:bldP spid="14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521F9B-D9FC-06E8-07A8-52FCF5072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pPr/>
              <a:t>26</a:t>
            </a:fld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0F11F58-1B02-2B5E-16AB-F41892BB30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16588"/>
            <a:ext cx="3436838" cy="498598"/>
          </a:xfrm>
        </p:spPr>
        <p:txBody>
          <a:bodyPr>
            <a:normAutofit/>
          </a:bodyPr>
          <a:lstStyle/>
          <a:p>
            <a:r>
              <a:rPr lang="en-GB" sz="3200" b="1" u="sng" dirty="0"/>
              <a:t>Exercise Checkpoint 3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9A6EDB-FD47-0120-E2F7-AE5FAB5706B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 vert="horz" lIns="91440" tIns="45720" rIns="91440" bIns="45720" rtlCol="0" anchor="t">
            <a:normAutofit fontScale="32500" lnSpcReduction="20000"/>
          </a:bodyPr>
          <a:lstStyle/>
          <a:p>
            <a:pPr lvl="1"/>
            <a:br>
              <a:rPr lang="en-GB" dirty="0"/>
            </a:br>
            <a:endParaRPr lang="en-GB" dirty="0"/>
          </a:p>
          <a:p>
            <a:pPr marL="285750" indent="-285750">
              <a:buChar char="•"/>
            </a:pPr>
            <a:endParaRPr lang="en-GB" dirty="0"/>
          </a:p>
          <a:p>
            <a:pPr marL="514350" lvl="1" indent="-285750">
              <a:buFont typeface="Courier New" panose="020B0604020202020204" pitchFamily="34" charset="0"/>
              <a:buChar char="o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D1779D3-41A0-4920-B5C8-8AA53282B9B8}"/>
              </a:ext>
            </a:extLst>
          </p:cNvPr>
          <p:cNvSpPr txBox="1"/>
          <p:nvPr/>
        </p:nvSpPr>
        <p:spPr>
          <a:xfrm>
            <a:off x="609600" y="1611755"/>
            <a:ext cx="5689600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 dirty="0">
                <a:solidFill>
                  <a:schemeClr val="bg1"/>
                </a:solidFill>
              </a:rPr>
              <a:t>In your participant folder in your feature branch, there is a .</a:t>
            </a:r>
            <a:r>
              <a:rPr lang="en-GB" b="1" dirty="0" err="1">
                <a:solidFill>
                  <a:schemeClr val="bg1"/>
                </a:solidFill>
              </a:rPr>
              <a:t>py</a:t>
            </a:r>
            <a:r>
              <a:rPr lang="en-GB" b="1" dirty="0">
                <a:solidFill>
                  <a:schemeClr val="bg1"/>
                </a:solidFill>
              </a:rPr>
              <a:t> script. Open this and work with </a:t>
            </a:r>
            <a:r>
              <a:rPr lang="en-GB" b="1" dirty="0" err="1">
                <a:solidFill>
                  <a:schemeClr val="bg1"/>
                </a:solidFill>
              </a:rPr>
              <a:t>CoPilot</a:t>
            </a:r>
            <a:r>
              <a:rPr lang="en-GB" b="1" dirty="0">
                <a:solidFill>
                  <a:schemeClr val="bg1"/>
                </a:solidFill>
              </a:rPr>
              <a:t> to understand and optimise the script.</a:t>
            </a:r>
          </a:p>
          <a:p>
            <a:pPr lvl="1"/>
            <a:endParaRPr lang="en-GB" b="1" dirty="0">
              <a:solidFill>
                <a:schemeClr val="bg1"/>
              </a:solidFill>
            </a:endParaRPr>
          </a:p>
          <a:p>
            <a:pPr marL="800100" lvl="1" indent="-342900">
              <a:buFont typeface="+mj-lt"/>
              <a:buAutoNum type="arabicPeriod"/>
            </a:pPr>
            <a:endParaRPr lang="en-GB" b="1" dirty="0">
              <a:solidFill>
                <a:schemeClr val="bg1"/>
              </a:solidFill>
            </a:endParaRPr>
          </a:p>
          <a:p>
            <a:pPr marL="800100" lvl="1" indent="-342900">
              <a:buFont typeface="+mj-lt"/>
              <a:buAutoNum type="arabicPeriod"/>
            </a:pPr>
            <a:r>
              <a:rPr lang="en-GB" dirty="0">
                <a:solidFill>
                  <a:schemeClr val="bg1"/>
                </a:solidFill>
              </a:rPr>
              <a:t>Open the PY file in your feature branch in </a:t>
            </a:r>
            <a:r>
              <a:rPr lang="en-GB" dirty="0" err="1">
                <a:solidFill>
                  <a:schemeClr val="bg1"/>
                </a:solidFill>
              </a:rPr>
              <a:t>Github</a:t>
            </a:r>
            <a:r>
              <a:rPr lang="en-GB" dirty="0">
                <a:solidFill>
                  <a:schemeClr val="bg1"/>
                </a:solidFill>
              </a:rPr>
              <a:t>. 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GB" dirty="0">
                <a:solidFill>
                  <a:schemeClr val="bg1"/>
                </a:solidFill>
              </a:rPr>
              <a:t>Use the following prompt within </a:t>
            </a:r>
            <a:r>
              <a:rPr lang="en-GB" dirty="0" err="1">
                <a:solidFill>
                  <a:schemeClr val="bg1"/>
                </a:solidFill>
              </a:rPr>
              <a:t>CoPilot</a:t>
            </a:r>
            <a:r>
              <a:rPr lang="en-GB" dirty="0">
                <a:solidFill>
                  <a:schemeClr val="bg1"/>
                </a:solidFill>
              </a:rPr>
              <a:t>: </a:t>
            </a:r>
            <a:r>
              <a:rPr lang="en-GB" i="1" dirty="0">
                <a:solidFill>
                  <a:srgbClr val="2DAF75"/>
                </a:solidFill>
              </a:rPr>
              <a:t>please explain what this file is doing. </a:t>
            </a:r>
            <a:endParaRPr lang="en-GB" dirty="0">
              <a:solidFill>
                <a:schemeClr val="bg1"/>
              </a:solidFill>
            </a:endParaRPr>
          </a:p>
          <a:p>
            <a:pPr marL="800100" lvl="1" indent="-342900">
              <a:buFont typeface="+mj-lt"/>
              <a:buAutoNum type="arabicPeriod"/>
            </a:pPr>
            <a:r>
              <a:rPr lang="en-GB" dirty="0">
                <a:solidFill>
                  <a:schemeClr val="bg1"/>
                </a:solidFill>
                <a:latin typeface="Mona Sans VF"/>
              </a:rPr>
              <a:t>Ask </a:t>
            </a:r>
            <a:r>
              <a:rPr lang="en-GB" dirty="0" err="1">
                <a:solidFill>
                  <a:schemeClr val="bg1"/>
                </a:solidFill>
                <a:latin typeface="Mona Sans VF"/>
              </a:rPr>
              <a:t>CoPilot</a:t>
            </a:r>
            <a:r>
              <a:rPr lang="en-GB" dirty="0">
                <a:solidFill>
                  <a:schemeClr val="bg1"/>
                </a:solidFill>
                <a:latin typeface="Mona Sans VF"/>
              </a:rPr>
              <a:t> to make suggestions on how to improve the file. 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GB" dirty="0">
                <a:solidFill>
                  <a:schemeClr val="bg1"/>
                </a:solidFill>
                <a:latin typeface="Mona Sans VF"/>
              </a:rPr>
              <a:t>Use the following prompt in Agent Mode to generate a technical document: </a:t>
            </a:r>
            <a:r>
              <a:rPr lang="en-GB" i="1" dirty="0">
                <a:solidFill>
                  <a:srgbClr val="2DAF75"/>
                </a:solidFill>
                <a:latin typeface="Mona Sans VF"/>
              </a:rPr>
              <a:t>create a technical document to explain this file. 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GB" dirty="0">
                <a:solidFill>
                  <a:schemeClr val="bg1"/>
                </a:solidFill>
                <a:latin typeface="Mona Sans VF"/>
              </a:rPr>
              <a:t>The agent will potentially produce this within its new feature branch. Open a pull request to pull these changes into your feature branch.</a:t>
            </a:r>
          </a:p>
          <a:p>
            <a:pPr marL="800100" lvl="1" indent="-342900">
              <a:buFont typeface="+mj-lt"/>
              <a:buAutoNum type="arabicPeriod"/>
            </a:pPr>
            <a:endParaRPr lang="en-GB" dirty="0">
              <a:solidFill>
                <a:schemeClr val="bg1"/>
              </a:solidFill>
              <a:latin typeface="Mona Sans VF"/>
            </a:endParaRPr>
          </a:p>
          <a:p>
            <a:pPr marL="800100" lvl="1" indent="-342900">
              <a:buFont typeface="+mj-lt"/>
              <a:buAutoNum type="arabicPeriod"/>
            </a:pPr>
            <a:endParaRPr lang="en-GB" dirty="0">
              <a:solidFill>
                <a:schemeClr val="bg1"/>
              </a:solidFill>
              <a:latin typeface="Mona Sans VF"/>
            </a:endParaRPr>
          </a:p>
          <a:p>
            <a:pPr lvl="1"/>
            <a:endParaRPr lang="en-GB" dirty="0">
              <a:solidFill>
                <a:schemeClr val="bg1"/>
              </a:solidFill>
              <a:latin typeface="Mona Sans VF"/>
            </a:endParaRPr>
          </a:p>
        </p:txBody>
      </p:sp>
    </p:spTree>
    <p:extLst>
      <p:ext uri="{BB962C8B-B14F-4D97-AF65-F5344CB8AC3E}">
        <p14:creationId xmlns:p14="http://schemas.microsoft.com/office/powerpoint/2010/main" val="387030418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4918DD-3FB4-ECF1-7474-46B34CAE7F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58703" y="2427434"/>
            <a:ext cx="7401885" cy="830997"/>
          </a:xfrm>
        </p:spPr>
        <p:txBody>
          <a:bodyPr/>
          <a:lstStyle/>
          <a:p>
            <a:r>
              <a:rPr lang="en-GB" dirty="0" err="1"/>
              <a:t>Codespaces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5380233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F11F58-1B02-2B5E-16AB-F41892BB30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0911" y="427020"/>
            <a:ext cx="8343789" cy="636062"/>
          </a:xfrm>
        </p:spPr>
        <p:txBody>
          <a:bodyPr>
            <a:normAutofit/>
          </a:bodyPr>
          <a:lstStyle/>
          <a:p>
            <a:r>
              <a:rPr lang="en-GB" sz="3200" b="1" u="sng" dirty="0" err="1"/>
              <a:t>Codespaces</a:t>
            </a:r>
            <a:endParaRPr lang="en-GB" sz="3200" b="1" u="sng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521F9B-D9FC-06E8-07A8-52FCF5072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pPr/>
              <a:t>28</a:t>
            </a:fld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825C012-3404-4C60-A760-764C43E567DF}"/>
              </a:ext>
            </a:extLst>
          </p:cNvPr>
          <p:cNvSpPr txBox="1"/>
          <p:nvPr/>
        </p:nvSpPr>
        <p:spPr>
          <a:xfrm>
            <a:off x="444711" y="1314134"/>
            <a:ext cx="950362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VS Code within the cloud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A ready-to-use development environment, opened from a repository in your browser.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Python packages and extensions are already pre-installed.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Integrated with </a:t>
            </a:r>
            <a:r>
              <a:rPr lang="en-GB" dirty="0" err="1"/>
              <a:t>CoPilot</a:t>
            </a:r>
            <a:r>
              <a:rPr lang="en-GB" dirty="0"/>
              <a:t> and </a:t>
            </a:r>
            <a:r>
              <a:rPr lang="en-GB" dirty="0" err="1"/>
              <a:t>Github</a:t>
            </a:r>
            <a:r>
              <a:rPr lang="en-GB" dirty="0"/>
              <a:t>. </a:t>
            </a:r>
          </a:p>
          <a:p>
            <a:endParaRPr lang="en-GB" dirty="0"/>
          </a:p>
          <a:p>
            <a:r>
              <a:rPr lang="en-GB" b="1" dirty="0"/>
              <a:t>Why use compared to local VS code?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Everyone in the team gets the same environment.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Great for onboarding, quick fixes and reviewing pull requests in one place. </a:t>
            </a:r>
          </a:p>
        </p:txBody>
      </p:sp>
      <p:pic>
        <p:nvPicPr>
          <p:cNvPr id="6" name="codespace_arch.png" descr="Diagram: a browser connects to a Codespace built from the devcontainer file in the repository">
            <a:extLst>
              <a:ext uri="{FF2B5EF4-FFF2-40B4-BE49-F238E27FC236}">
                <a16:creationId xmlns:a16="http://schemas.microsoft.com/office/drawing/2014/main" id="{49982548-BE8A-4D89-922E-546907C5B0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5305" y="3602960"/>
            <a:ext cx="3770694" cy="28280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09609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F11F58-1B02-2B5E-16AB-F41892BB30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0911" y="427020"/>
            <a:ext cx="8343789" cy="636062"/>
          </a:xfrm>
        </p:spPr>
        <p:txBody>
          <a:bodyPr>
            <a:normAutofit/>
          </a:bodyPr>
          <a:lstStyle/>
          <a:p>
            <a:r>
              <a:rPr lang="en-GB" sz="3200" b="1" u="sng" dirty="0" err="1"/>
              <a:t>Codespaces</a:t>
            </a:r>
            <a:endParaRPr lang="en-GB" sz="3200" b="1" u="sng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521F9B-D9FC-06E8-07A8-52FCF5072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pPr/>
              <a:t>29</a:t>
            </a:fld>
            <a:endParaRPr lang="en-GB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ECD14C2-A169-4D7D-8E9D-FA85404B57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178" y="2165384"/>
            <a:ext cx="5202556" cy="3208662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0C7E4C8-55F2-4ACF-B44F-2EEA112757D6}"/>
              </a:ext>
            </a:extLst>
          </p:cNvPr>
          <p:cNvCxnSpPr/>
          <p:nvPr/>
        </p:nvCxnSpPr>
        <p:spPr>
          <a:xfrm flipV="1">
            <a:off x="5926667" y="1879600"/>
            <a:ext cx="1701800" cy="10668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8A722A9-377D-45F8-BC70-F071F2F43069}"/>
              </a:ext>
            </a:extLst>
          </p:cNvPr>
          <p:cNvCxnSpPr>
            <a:cxnSpLocks/>
          </p:cNvCxnSpPr>
          <p:nvPr/>
        </p:nvCxnSpPr>
        <p:spPr>
          <a:xfrm>
            <a:off x="6096000" y="4572000"/>
            <a:ext cx="1625600" cy="9059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D00615A2-E42F-4486-BD12-B7AA2C220AC2}"/>
              </a:ext>
            </a:extLst>
          </p:cNvPr>
          <p:cNvSpPr/>
          <p:nvPr/>
        </p:nvSpPr>
        <p:spPr>
          <a:xfrm>
            <a:off x="8009467" y="1261533"/>
            <a:ext cx="2743200" cy="9906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Will open in separate browser window for users without VS Code.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52224040-E4E4-473A-848A-73DFF61E5A5F}"/>
              </a:ext>
            </a:extLst>
          </p:cNvPr>
          <p:cNvSpPr/>
          <p:nvPr/>
        </p:nvSpPr>
        <p:spPr>
          <a:xfrm>
            <a:off x="8009467" y="5101167"/>
            <a:ext cx="2743200" cy="9906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Can be accessed through VS Code locally.</a:t>
            </a:r>
          </a:p>
        </p:txBody>
      </p:sp>
    </p:spTree>
    <p:extLst>
      <p:ext uri="{BB962C8B-B14F-4D97-AF65-F5344CB8AC3E}">
        <p14:creationId xmlns:p14="http://schemas.microsoft.com/office/powerpoint/2010/main" val="95926051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F11F58-1B02-2B5E-16AB-F41892BB30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0911" y="427020"/>
            <a:ext cx="8343789" cy="636062"/>
          </a:xfrm>
        </p:spPr>
        <p:txBody>
          <a:bodyPr>
            <a:normAutofit/>
          </a:bodyPr>
          <a:lstStyle/>
          <a:p>
            <a:r>
              <a:rPr lang="en-GB" sz="3200" b="1" u="sng" dirty="0" err="1"/>
              <a:t>Codespaces</a:t>
            </a:r>
            <a:endParaRPr lang="en-GB" sz="3200" b="1" u="sng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521F9B-D9FC-06E8-07A8-52FCF5072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pPr/>
              <a:t>30</a:t>
            </a:fld>
            <a:endParaRPr lang="en-GB"/>
          </a:p>
        </p:txBody>
      </p:sp>
      <p:pic>
        <p:nvPicPr>
          <p:cNvPr id="11" name="sde_fit.png" descr="Diagram: code moves from GitHub to the Secure Data Environment; real data never leaves it">
            <a:extLst>
              <a:ext uri="{FF2B5EF4-FFF2-40B4-BE49-F238E27FC236}">
                <a16:creationId xmlns:a16="http://schemas.microsoft.com/office/drawing/2014/main" id="{7CC9D1C3-7383-4B34-B40C-23D046CA4B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5978" y="1653560"/>
            <a:ext cx="5583291" cy="41874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202310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4918DD-3FB4-ECF1-7474-46B34CAE7F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58703" y="2427434"/>
            <a:ext cx="10007063" cy="1661993"/>
          </a:xfrm>
        </p:spPr>
        <p:txBody>
          <a:bodyPr/>
          <a:lstStyle/>
          <a:p>
            <a:r>
              <a:rPr lang="en-GB" dirty="0" err="1"/>
              <a:t>Codespace</a:t>
            </a:r>
            <a:r>
              <a:rPr lang="en-GB" dirty="0"/>
              <a:t> Walkthrough</a:t>
            </a:r>
          </a:p>
        </p:txBody>
      </p:sp>
    </p:spTree>
    <p:extLst>
      <p:ext uri="{BB962C8B-B14F-4D97-AF65-F5344CB8AC3E}">
        <p14:creationId xmlns:p14="http://schemas.microsoft.com/office/powerpoint/2010/main" val="123609307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521F9B-D9FC-06E8-07A8-52FCF5072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pPr/>
              <a:t>32</a:t>
            </a:fld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0F11F58-1B02-2B5E-16AB-F41892BB30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16588"/>
            <a:ext cx="3436838" cy="498598"/>
          </a:xfrm>
        </p:spPr>
        <p:txBody>
          <a:bodyPr>
            <a:normAutofit/>
          </a:bodyPr>
          <a:lstStyle/>
          <a:p>
            <a:r>
              <a:rPr lang="en-GB" sz="3200" b="1" u="sng" dirty="0"/>
              <a:t>Exercise Checkpoint 4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9A6EDB-FD47-0120-E2F7-AE5FAB5706B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 vert="horz" lIns="91440" tIns="45720" rIns="91440" bIns="45720" rtlCol="0" anchor="t">
            <a:normAutofit fontScale="32500" lnSpcReduction="20000"/>
          </a:bodyPr>
          <a:lstStyle/>
          <a:p>
            <a:pPr lvl="1"/>
            <a:br>
              <a:rPr lang="en-GB" dirty="0"/>
            </a:br>
            <a:endParaRPr lang="en-GB" dirty="0"/>
          </a:p>
          <a:p>
            <a:pPr marL="285750" indent="-285750">
              <a:buChar char="•"/>
            </a:pPr>
            <a:endParaRPr lang="en-GB" dirty="0"/>
          </a:p>
          <a:p>
            <a:pPr marL="514350" lvl="1" indent="-285750">
              <a:buFont typeface="Courier New" panose="020B0604020202020204" pitchFamily="34" charset="0"/>
              <a:buChar char="o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D1779D3-41A0-4920-B5C8-8AA53282B9B8}"/>
              </a:ext>
            </a:extLst>
          </p:cNvPr>
          <p:cNvSpPr txBox="1"/>
          <p:nvPr/>
        </p:nvSpPr>
        <p:spPr>
          <a:xfrm>
            <a:off x="609600" y="1611755"/>
            <a:ext cx="5689600" cy="5909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 dirty="0">
                <a:solidFill>
                  <a:schemeClr val="bg1"/>
                </a:solidFill>
              </a:rPr>
              <a:t>Open up a </a:t>
            </a:r>
            <a:r>
              <a:rPr lang="en-GB" b="1" dirty="0" err="1">
                <a:solidFill>
                  <a:schemeClr val="bg1"/>
                </a:solidFill>
              </a:rPr>
              <a:t>codespace</a:t>
            </a:r>
            <a:r>
              <a:rPr lang="en-GB" b="1" dirty="0">
                <a:solidFill>
                  <a:schemeClr val="bg1"/>
                </a:solidFill>
              </a:rPr>
              <a:t> in your feature branch and use </a:t>
            </a:r>
            <a:r>
              <a:rPr lang="en-GB" b="1" dirty="0" err="1">
                <a:solidFill>
                  <a:schemeClr val="bg1"/>
                </a:solidFill>
              </a:rPr>
              <a:t>CoPilot</a:t>
            </a:r>
            <a:r>
              <a:rPr lang="en-GB" b="1" dirty="0">
                <a:solidFill>
                  <a:schemeClr val="bg1"/>
                </a:solidFill>
              </a:rPr>
              <a:t> as an agent to help troubleshoot a badly written SQL script.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b="1" dirty="0">
              <a:solidFill>
                <a:schemeClr val="bg1"/>
              </a:solidFill>
            </a:endParaRPr>
          </a:p>
          <a:p>
            <a:pPr marL="800100" lvl="1" indent="-342900">
              <a:buFont typeface="+mj-lt"/>
              <a:buAutoNum type="arabicPeriod"/>
            </a:pPr>
            <a:r>
              <a:rPr lang="en-GB" dirty="0">
                <a:solidFill>
                  <a:schemeClr val="bg1"/>
                </a:solidFill>
              </a:rPr>
              <a:t>Create a new </a:t>
            </a:r>
            <a:r>
              <a:rPr lang="en-GB" dirty="0" err="1">
                <a:solidFill>
                  <a:schemeClr val="bg1"/>
                </a:solidFill>
              </a:rPr>
              <a:t>codespace</a:t>
            </a:r>
            <a:r>
              <a:rPr lang="en-GB" dirty="0">
                <a:solidFill>
                  <a:schemeClr val="bg1"/>
                </a:solidFill>
              </a:rPr>
              <a:t> in your feature branch in GitHub. Your </a:t>
            </a:r>
            <a:r>
              <a:rPr lang="en-GB" dirty="0" err="1">
                <a:solidFill>
                  <a:schemeClr val="bg1"/>
                </a:solidFill>
              </a:rPr>
              <a:t>codespace</a:t>
            </a:r>
            <a:r>
              <a:rPr lang="en-GB" dirty="0">
                <a:solidFill>
                  <a:schemeClr val="bg1"/>
                </a:solidFill>
              </a:rPr>
              <a:t> URL is randomly generated so will not be the same as your neighbour!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GB" dirty="0">
                <a:solidFill>
                  <a:schemeClr val="bg1"/>
                </a:solidFill>
              </a:rPr>
              <a:t>In your participant folder, there is a .</a:t>
            </a:r>
            <a:r>
              <a:rPr lang="en-GB" dirty="0" err="1">
                <a:solidFill>
                  <a:schemeClr val="bg1"/>
                </a:solidFill>
              </a:rPr>
              <a:t>sql</a:t>
            </a:r>
            <a:r>
              <a:rPr lang="en-GB" dirty="0">
                <a:solidFill>
                  <a:schemeClr val="bg1"/>
                </a:solidFill>
              </a:rPr>
              <a:t> file. Use </a:t>
            </a:r>
            <a:r>
              <a:rPr lang="en-GB" dirty="0" err="1">
                <a:solidFill>
                  <a:schemeClr val="bg1"/>
                </a:solidFill>
              </a:rPr>
              <a:t>CoPilot</a:t>
            </a:r>
            <a:r>
              <a:rPr lang="en-GB" dirty="0">
                <a:solidFill>
                  <a:schemeClr val="bg1"/>
                </a:solidFill>
              </a:rPr>
              <a:t> in Ask mode to review the file.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GB" dirty="0">
                <a:solidFill>
                  <a:schemeClr val="bg1"/>
                </a:solidFill>
              </a:rPr>
              <a:t>Revert </a:t>
            </a:r>
            <a:r>
              <a:rPr lang="en-GB" dirty="0" err="1">
                <a:solidFill>
                  <a:schemeClr val="bg1"/>
                </a:solidFill>
              </a:rPr>
              <a:t>CoPilot</a:t>
            </a:r>
            <a:r>
              <a:rPr lang="en-GB" dirty="0">
                <a:solidFill>
                  <a:schemeClr val="bg1"/>
                </a:solidFill>
              </a:rPr>
              <a:t> into Agent mode and prompt it to fix the errors in your file. 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GB" dirty="0">
                <a:solidFill>
                  <a:schemeClr val="bg1"/>
                </a:solidFill>
              </a:rPr>
              <a:t>Ask </a:t>
            </a:r>
            <a:r>
              <a:rPr lang="en-GB" dirty="0" err="1">
                <a:solidFill>
                  <a:schemeClr val="bg1"/>
                </a:solidFill>
              </a:rPr>
              <a:t>CoPilot</a:t>
            </a:r>
            <a:r>
              <a:rPr lang="en-GB" dirty="0">
                <a:solidFill>
                  <a:schemeClr val="bg1"/>
                </a:solidFill>
              </a:rPr>
              <a:t> to generate a document to explain the SQL code. 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GB" dirty="0">
                <a:solidFill>
                  <a:schemeClr val="bg1"/>
                </a:solidFill>
              </a:rPr>
              <a:t>Commit and push your changes out of the </a:t>
            </a:r>
            <a:r>
              <a:rPr lang="en-GB" dirty="0" err="1">
                <a:solidFill>
                  <a:schemeClr val="bg1"/>
                </a:solidFill>
              </a:rPr>
              <a:t>codespace</a:t>
            </a:r>
            <a:r>
              <a:rPr lang="en-GB" dirty="0">
                <a:solidFill>
                  <a:schemeClr val="bg1"/>
                </a:solidFill>
              </a:rPr>
              <a:t> into GitHub. </a:t>
            </a:r>
          </a:p>
          <a:p>
            <a:pPr marL="800100" lvl="1" indent="-342900">
              <a:buFont typeface="+mj-lt"/>
              <a:buAutoNum type="arabicPeriod"/>
            </a:pPr>
            <a:endParaRPr lang="en-GB" dirty="0">
              <a:solidFill>
                <a:schemeClr val="bg1"/>
              </a:solidFill>
            </a:endParaRPr>
          </a:p>
          <a:p>
            <a:pPr marL="800100" lvl="1" indent="-342900">
              <a:buFont typeface="+mj-lt"/>
              <a:buAutoNum type="arabicPeriod"/>
            </a:pPr>
            <a:endParaRPr lang="en-GB" b="1" dirty="0">
              <a:solidFill>
                <a:schemeClr val="bg1"/>
              </a:solidFill>
            </a:endParaRPr>
          </a:p>
          <a:p>
            <a:pPr marL="800100" lvl="1" indent="-342900">
              <a:buFont typeface="+mj-lt"/>
              <a:buAutoNum type="arabicPeriod"/>
            </a:pPr>
            <a:endParaRPr lang="en-GB" dirty="0">
              <a:solidFill>
                <a:schemeClr val="bg1"/>
              </a:solidFill>
              <a:latin typeface="Mona Sans VF"/>
            </a:endParaRPr>
          </a:p>
          <a:p>
            <a:pPr marL="800100" lvl="1" indent="-342900">
              <a:buFont typeface="+mj-lt"/>
              <a:buAutoNum type="arabicPeriod"/>
            </a:pPr>
            <a:endParaRPr lang="en-GB" dirty="0">
              <a:solidFill>
                <a:schemeClr val="bg1"/>
              </a:solidFill>
              <a:latin typeface="Mona Sans VF"/>
            </a:endParaRPr>
          </a:p>
          <a:p>
            <a:pPr lvl="1"/>
            <a:endParaRPr lang="en-GB" dirty="0">
              <a:solidFill>
                <a:schemeClr val="bg1"/>
              </a:solidFill>
              <a:latin typeface="Mona Sans VF"/>
            </a:endParaRPr>
          </a:p>
        </p:txBody>
      </p:sp>
    </p:spTree>
    <p:extLst>
      <p:ext uri="{BB962C8B-B14F-4D97-AF65-F5344CB8AC3E}">
        <p14:creationId xmlns:p14="http://schemas.microsoft.com/office/powerpoint/2010/main" val="23450705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4918DD-3FB4-ECF1-7474-46B34CAE7F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58703" y="2427434"/>
            <a:ext cx="10007063" cy="830997"/>
          </a:xfrm>
        </p:spPr>
        <p:txBody>
          <a:bodyPr/>
          <a:lstStyle/>
          <a:p>
            <a:r>
              <a:rPr lang="en-GB" dirty="0"/>
              <a:t>Other GitHub products</a:t>
            </a:r>
          </a:p>
        </p:txBody>
      </p:sp>
    </p:spTree>
    <p:extLst>
      <p:ext uri="{BB962C8B-B14F-4D97-AF65-F5344CB8AC3E}">
        <p14:creationId xmlns:p14="http://schemas.microsoft.com/office/powerpoint/2010/main" val="132717526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F11F58-1B02-2B5E-16AB-F41892BB30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0911" y="427020"/>
            <a:ext cx="8343789" cy="636062"/>
          </a:xfrm>
        </p:spPr>
        <p:txBody>
          <a:bodyPr>
            <a:normAutofit/>
          </a:bodyPr>
          <a:lstStyle/>
          <a:p>
            <a:r>
              <a:rPr lang="en-GB" sz="3200" b="1" u="sng" dirty="0"/>
              <a:t>Useful Resources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521F9B-D9FC-06E8-07A8-52FCF5072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pPr/>
              <a:t>34</a:t>
            </a:fld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825C012-3404-4C60-A760-764C43E567DF}"/>
              </a:ext>
            </a:extLst>
          </p:cNvPr>
          <p:cNvSpPr txBox="1"/>
          <p:nvPr/>
        </p:nvSpPr>
        <p:spPr>
          <a:xfrm>
            <a:off x="444711" y="1314134"/>
            <a:ext cx="9503622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You should have access now to the full </a:t>
            </a:r>
            <a:r>
              <a:rPr lang="en-GB" dirty="0" err="1"/>
              <a:t>BIU_GithubTraining</a:t>
            </a:r>
            <a:r>
              <a:rPr lang="en-GB" dirty="0"/>
              <a:t> repo.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Halo ticket for new GitHub requirements: </a:t>
            </a:r>
            <a:r>
              <a:rPr lang="en-GB" dirty="0">
                <a:hlinkClick r:id="rId2"/>
              </a:rPr>
              <a:t>ABUHB Self-Service Portal – GitHub</a:t>
            </a: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NHS Wales Solution Exchange: </a:t>
            </a:r>
            <a:r>
              <a:rPr lang="fr-FR" dirty="0">
                <a:hlinkClick r:id="rId3"/>
              </a:rPr>
              <a:t>NHS Wales Solutions Exchange - Browse Solutions</a:t>
            </a:r>
            <a:endParaRPr lang="fr-FR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F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Speak to a member of the GitHub Admin team! </a:t>
            </a:r>
            <a:endParaRPr lang="en-GB" dirty="0"/>
          </a:p>
        </p:txBody>
      </p:sp>
      <p:pic>
        <p:nvPicPr>
          <p:cNvPr id="5122" name="Picture 2" descr="Question clipart Images - Free Download on Magnific (formerly Freepik)">
            <a:extLst>
              <a:ext uri="{FF2B5EF4-FFF2-40B4-BE49-F238E27FC236}">
                <a16:creationId xmlns:a16="http://schemas.microsoft.com/office/drawing/2014/main" id="{F8F1E633-2C9D-4645-9367-80A403262D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33521" y="3596511"/>
            <a:ext cx="2470914" cy="24709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348252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4918DD-3FB4-ECF1-7474-46B34CAE7F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58703" y="2427434"/>
            <a:ext cx="10007063" cy="830997"/>
          </a:xfrm>
        </p:spPr>
        <p:txBody>
          <a:bodyPr/>
          <a:lstStyle/>
          <a:p>
            <a:r>
              <a:rPr lang="en-GB" dirty="0"/>
              <a:t>Thank you! </a:t>
            </a:r>
          </a:p>
        </p:txBody>
      </p:sp>
    </p:spTree>
    <p:extLst>
      <p:ext uri="{BB962C8B-B14F-4D97-AF65-F5344CB8AC3E}">
        <p14:creationId xmlns:p14="http://schemas.microsoft.com/office/powerpoint/2010/main" val="23269585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ABUHB colour palette 1">
      <a:dk1>
        <a:srgbClr val="0B385B"/>
      </a:dk1>
      <a:lt1>
        <a:srgbClr val="FFFFFF"/>
      </a:lt1>
      <a:dk2>
        <a:srgbClr val="0B385B"/>
      </a:dk2>
      <a:lt2>
        <a:srgbClr val="F5F5F5"/>
      </a:lt2>
      <a:accent1>
        <a:srgbClr val="EE4458"/>
      </a:accent1>
      <a:accent2>
        <a:srgbClr val="FE9C1F"/>
      </a:accent2>
      <a:accent3>
        <a:srgbClr val="C8E267"/>
      </a:accent3>
      <a:accent4>
        <a:srgbClr val="00C3D1"/>
      </a:accent4>
      <a:accent5>
        <a:srgbClr val="206C9F"/>
      </a:accent5>
      <a:accent6>
        <a:srgbClr val="853C7E"/>
      </a:accent6>
      <a:hlink>
        <a:srgbClr val="0B385B"/>
      </a:hlink>
      <a:folHlink>
        <a:srgbClr val="6450A5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resentation4" id="{F7E8FA9F-3EA1-A04C-9735-7045C9D67254}" vid="{DF975FF4-3DC5-5E4C-B6CB-BAD29D1FF92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3C07746058E2B4780C48ADCCC13CF7E" ma:contentTypeVersion="65" ma:contentTypeDescription="Create a new document." ma:contentTypeScope="" ma:versionID="4ce23191b1d0f2551f14c1b35203a729">
  <xsd:schema xmlns:xsd="http://www.w3.org/2001/XMLSchema" xmlns:xs="http://www.w3.org/2001/XMLSchema" xmlns:p="http://schemas.microsoft.com/office/2006/metadata/properties" xmlns:ns2="1483428e-716d-4b33-b115-78d5a8925782" xmlns:ns3="bd0481ee-721b-4901-9dea-7fae852e4c18" xmlns:ns4="e55bf511-4ba5-4939-82c7-95fd6f39aefd" targetNamespace="http://schemas.microsoft.com/office/2006/metadata/properties" ma:root="true" ma:fieldsID="fc6c6fe6a11276e430e41fcdcb36170d" ns2:_="" ns3:_="" ns4:_="">
    <xsd:import namespace="1483428e-716d-4b33-b115-78d5a8925782"/>
    <xsd:import namespace="bd0481ee-721b-4901-9dea-7fae852e4c18"/>
    <xsd:import namespace="e55bf511-4ba5-4939-82c7-95fd6f39aefd"/>
    <xsd:element name="properties">
      <xsd:complexType>
        <xsd:sequence>
          <xsd:element name="documentManagement">
            <xsd:complexType>
              <xsd:all>
                <xsd:element ref="ns2:Author0" minOccurs="0"/>
                <xsd:element ref="ns2:Owner" minOccurs="0"/>
                <xsd:element ref="ns2:Published_x0020_Date" minOccurs="0"/>
                <xsd:element ref="ns2:ReviewSchedule_x0028_months_x0029_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Metadata" minOccurs="0"/>
                <xsd:element ref="ns2:MediaServiceFastMetadata" minOccurs="0"/>
                <xsd:element ref="ns4:TaxCatchAll" minOccurs="0"/>
                <xsd:element ref="ns2:MediaServiceDateTaken" minOccurs="0"/>
                <xsd:element ref="ns2:MediaLengthInSeconds" minOccurs="0"/>
                <xsd:element ref="ns2:lcf76f155ced4ddcb4097134ff3c332f" minOccurs="0"/>
                <xsd:element ref="ns2:h4c8ae8ce7454af68b724828ae932791" minOccurs="0"/>
                <xsd:element ref="ns2:o614325ba7f549b1a8b8e19b035d94ff" minOccurs="0"/>
                <xsd:element ref="ns4:TaxCatchAllLabel" minOccurs="0"/>
                <xsd:element ref="ns4:d74cbe23f3244f26857e51a18e649bb1" minOccurs="0"/>
                <xsd:element ref="ns2:UnderReview" minOccurs="0"/>
                <xsd:element ref="ns2:g9bb5d66ff7848828f62e2406995fd6a" minOccurs="0"/>
                <xsd:element ref="ns2:k35bb188367f4e7f84aa638d61a157e7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483428e-716d-4b33-b115-78d5a8925782" elementFormDefault="qualified">
    <xsd:import namespace="http://schemas.microsoft.com/office/2006/documentManagement/types"/>
    <xsd:import namespace="http://schemas.microsoft.com/office/infopath/2007/PartnerControls"/>
    <xsd:element name="Author0" ma:index="2" nillable="true" ma:displayName="Author" ma:format="Dropdown" ma:list="UserInfo" ma:SharePointGroup="0" ma:internalName="Author0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Owner" ma:index="3" nillable="true" ma:displayName="Owner" ma:description="This identifies the owner of the document - the person responsible for managing it's version status etc" ma:format="Dropdown" ma:list="UserInfo" ma:SharePointGroup="0" ma:internalName="Owner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Published_x0020_Date" ma:index="4" nillable="true" ma:displayName="Published Date" ma:format="DateOnly" ma:internalName="Published_x0020_Date" ma:readOnly="false">
      <xsd:simpleType>
        <xsd:restriction base="dms:DateTime"/>
      </xsd:simpleType>
    </xsd:element>
    <xsd:element name="ReviewSchedule_x0028_months_x0029_" ma:index="6" nillable="true" ma:displayName="Review Schedule (Years)" ma:default="3" ma:format="Dropdown" ma:internalName="ReviewSchedule_x0028_months_x0029_" ma:percentage="FALSE">
      <xsd:simpleType>
        <xsd:restriction base="dms:Number"/>
      </xsd:simpleType>
    </xsd:element>
    <xsd:element name="MediaServiceAutoKeyPoints" ma:index="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8" nillable="true" ma:displayName="KeyPoints" ma:hidden="true" ma:internalName="MediaServiceKeyPoints" ma:readOnly="true">
      <xsd:simpleType>
        <xsd:restriction base="dms:Note"/>
      </xsd:simpleType>
    </xsd:element>
    <xsd:element name="MediaServiceOCR" ma:index="11" nillable="true" ma:displayName="Extracted Text" ma:hidden="true" ma:internalName="MediaServiceOCR" ma:readOnly="true">
      <xsd:simpleType>
        <xsd:restriction base="dms:Note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Metadata" ma:index="1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2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23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24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26" nillable="true" ma:taxonomy="true" ma:internalName="lcf76f155ced4ddcb4097134ff3c332f" ma:taxonomyFieldName="MediaServiceImageTags" ma:displayName="Image Tags" ma:readOnly="false" ma:fieldId="{5cf76f15-5ced-4ddc-b409-7134ff3c332f}" ma:taxonomyMulti="true" ma:sspId="cefaef41-70dc-4075-804e-d4e4dbdaeee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h4c8ae8ce7454af68b724828ae932791" ma:index="28" nillable="true" ma:taxonomy="true" ma:internalName="h4c8ae8ce7454af68b724828ae932791" ma:taxonomyFieldName="Document_x0020_Type" ma:displayName="AB - Document Type" ma:indexed="true" ma:default="" ma:fieldId="{14c8ae8c-e745-4af6-8b72-4828ae932791}" ma:sspId="cefaef41-70dc-4075-804e-d4e4dbdaeee0" ma:termSetId="7245b043-24e8-4a47-a571-e61992bff4f2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o614325ba7f549b1a8b8e19b035d94ff" ma:index="30" nillable="true" ma:taxonomy="true" ma:internalName="o614325ba7f549b1a8b8e19b035d94ff" ma:taxonomyFieldName="Service" ma:displayName="AB - Service" ma:default="" ma:fieldId="{8614325b-a7f5-49b1-a8b8-e19b035d94ff}" ma:sspId="cefaef41-70dc-4075-804e-d4e4dbdaeee0" ma:termSetId="691e2636-b724-4c15-9826-68da7e1ced57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UnderReview" ma:index="34" nillable="true" ma:displayName="Under Review" ma:default="0" ma:format="Dropdown" ma:internalName="UnderReview">
      <xsd:simpleType>
        <xsd:restriction base="dms:Boolean"/>
      </xsd:simpleType>
    </xsd:element>
    <xsd:element name="g9bb5d66ff7848828f62e2406995fd6a" ma:index="36" nillable="true" ma:taxonomy="true" ma:internalName="g9bb5d66ff7848828f62e2406995fd6a" ma:taxonomyFieldName="Owner_x0020__x0028_Role_x0029_" ma:displayName="Owner (Role)" ma:default="" ma:fieldId="{09bb5d66-ff78-4882-8f62-e2406995fd6a}" ma:sspId="cefaef41-70dc-4075-804e-d4e4dbdaeee0" ma:termSetId="858a7a07-3b2f-4655-bf5c-81eeb1ffa6af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k35bb188367f4e7f84aa638d61a157e7" ma:index="38" nillable="true" ma:taxonomy="true" ma:internalName="k35bb188367f4e7f84aa638d61a157e7" ma:taxonomyFieldName="Approver_x0020__x0028_Role_x0029_" ma:displayName="Approver (Role)" ma:default="" ma:fieldId="{435bb188-367f-4e7f-84aa-638d61a157e7}" ma:sspId="cefaef41-70dc-4075-804e-d4e4dbdaeee0" ma:termSetId="858a7a07-3b2f-4655-bf5c-81eeb1ffa6af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MediaServiceObjectDetectorVersions" ma:index="39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4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d0481ee-721b-4901-9dea-7fae852e4c18" elementFormDefault="qualified">
    <xsd:import namespace="http://schemas.microsoft.com/office/2006/documentManagement/types"/>
    <xsd:import namespace="http://schemas.microsoft.com/office/infopath/2007/PartnerControls"/>
    <xsd:element name="SharedWithUsers" ma:index="9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0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55bf511-4ba5-4939-82c7-95fd6f39aefd" elementFormDefault="qualified">
    <xsd:import namespace="http://schemas.microsoft.com/office/2006/documentManagement/types"/>
    <xsd:import namespace="http://schemas.microsoft.com/office/infopath/2007/PartnerControls"/>
    <xsd:element name="TaxCatchAll" ma:index="22" nillable="true" ma:displayName="Taxonomy Catch All Column" ma:hidden="true" ma:list="{319f7c0a-d1a9-4586-833d-cac689e52a8a}" ma:internalName="TaxCatchAll" ma:showField="CatchAllData" ma:web="bd0481ee-721b-4901-9dea-7fae852e4c1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axCatchAllLabel" ma:index="31" nillable="true" ma:displayName="Taxonomy Catch All Column1" ma:hidden="true" ma:list="{319f7c0a-d1a9-4586-833d-cac689e52a8a}" ma:internalName="TaxCatchAllLabel" ma:readOnly="true" ma:showField="CatchAllDataLabel" ma:web="bd0481ee-721b-4901-9dea-7fae852e4c1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d74cbe23f3244f26857e51a18e649bb1" ma:index="32" nillable="true" ma:taxonomy="true" ma:internalName="d74cbe23f3244f26857e51a18e649bb1" ma:taxonomyFieldName="AB_x0020__x002d__x0020_Team" ma:displayName="AB - Team" ma:default="" ma:fieldId="{d74cbe23-f324-4f26-857e-51a18e649bb1}" ma:taxonomyMulti="true" ma:sspId="cefaef41-70dc-4075-804e-d4e4dbdaeee0" ma:termSetId="312a8f12-3d85-4776-8b2c-0357e4ee5cf0" ma:anchorId="00000000-0000-0000-0000-000000000000" ma:open="false" ma:isKeyword="false">
      <xsd:complexType>
        <xsd:sequence>
          <xsd:element ref="pc:Terms" minOccurs="0" maxOccurs="1"/>
        </xsd:sequence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Document 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1483428e-716d-4b33-b115-78d5a8925782">
      <Terms xmlns="http://schemas.microsoft.com/office/infopath/2007/PartnerControls"/>
    </lcf76f155ced4ddcb4097134ff3c332f>
    <TaxCatchAll xmlns="e55bf511-4ba5-4939-82c7-95fd6f39aefd">
      <Value>188</Value>
      <Value>16</Value>
      <Value>687</Value>
    </TaxCatchAll>
    <Owner xmlns="1483428e-716d-4b33-b115-78d5a8925782">
      <UserInfo>
        <DisplayName/>
        <AccountId xsi:nil="true"/>
        <AccountType/>
      </UserInfo>
    </Owner>
    <o614325ba7f549b1a8b8e19b035d94ff xmlns="1483428e-716d-4b33-b115-78d5a8925782">
      <Terms xmlns="http://schemas.microsoft.com/office/infopath/2007/PartnerControls">
        <TermInfo xmlns="http://schemas.microsoft.com/office/infopath/2007/PartnerControls">
          <TermName xmlns="http://schemas.microsoft.com/office/infopath/2007/PartnerControls">Health Board (Corporate)</TermName>
          <TermId xmlns="http://schemas.microsoft.com/office/infopath/2007/PartnerControls">0c363e41-cf1f-4305-9014-97a1479fc32c</TermId>
        </TermInfo>
      </Terms>
    </o614325ba7f549b1a8b8e19b035d94ff>
    <ReviewSchedule_x0028_months_x0029_ xmlns="1483428e-716d-4b33-b115-78d5a8925782">3</ReviewSchedule_x0028_months_x0029_>
    <Published_x0020_Date xmlns="1483428e-716d-4b33-b115-78d5a8925782">2026-05-21T23:00:00+00:00</Published_x0020_Date>
    <d74cbe23f3244f26857e51a18e649bb1 xmlns="e55bf511-4ba5-4939-82c7-95fd6f39aefd">
      <Terms xmlns="http://schemas.microsoft.com/office/infopath/2007/PartnerControls"/>
    </d74cbe23f3244f26857e51a18e649bb1>
    <g9bb5d66ff7848828f62e2406995fd6a xmlns="1483428e-716d-4b33-b115-78d5a8925782">
      <Terms xmlns="http://schemas.microsoft.com/office/infopath/2007/PartnerControls">
        <TermInfo xmlns="http://schemas.microsoft.com/office/infopath/2007/PartnerControls">
          <TermName xmlns="http://schemas.microsoft.com/office/infopath/2007/PartnerControls">Head of PMO ＆ Digital Engagement</TermName>
          <TermId xmlns="http://schemas.microsoft.com/office/infopath/2007/PartnerControls">8d983f83-8eb7-4a8e-9058-8ef2b063c7e8</TermId>
        </TermInfo>
      </Terms>
    </g9bb5d66ff7848828f62e2406995fd6a>
    <k35bb188367f4e7f84aa638d61a157e7 xmlns="1483428e-716d-4b33-b115-78d5a8925782">
      <Terms xmlns="http://schemas.microsoft.com/office/infopath/2007/PartnerControls"/>
    </k35bb188367f4e7f84aa638d61a157e7>
    <UnderReview xmlns="1483428e-716d-4b33-b115-78d5a8925782">false</UnderReview>
    <h4c8ae8ce7454af68b724828ae932791 xmlns="1483428e-716d-4b33-b115-78d5a8925782">
      <Terms xmlns="http://schemas.microsoft.com/office/infopath/2007/PartnerControls">
        <TermInfo xmlns="http://schemas.microsoft.com/office/infopath/2007/PartnerControls">
          <TermName xmlns="http://schemas.microsoft.com/office/infopath/2007/PartnerControls">Template</TermName>
          <TermId xmlns="http://schemas.microsoft.com/office/infopath/2007/PartnerControls">72ecb681-7f24-447b-bff2-3c3e16947b2d</TermId>
        </TermInfo>
      </Terms>
    </h4c8ae8ce7454af68b724828ae932791>
    <Author0 xmlns="1483428e-716d-4b33-b115-78d5a8925782">
      <UserInfo>
        <DisplayName/>
        <AccountId xsi:nil="true"/>
        <AccountType/>
      </UserInfo>
    </Author0>
    <SharedWithUsers xmlns="bd0481ee-721b-4901-9dea-7fae852e4c18">
      <UserInfo>
        <DisplayName/>
        <AccountId xsi:nil="true"/>
        <AccountType/>
      </UserInfo>
    </SharedWithUsers>
  </documentManagement>
</p:properties>
</file>

<file path=customXml/itemProps1.xml><?xml version="1.0" encoding="utf-8"?>
<ds:datastoreItem xmlns:ds="http://schemas.openxmlformats.org/officeDocument/2006/customXml" ds:itemID="{7679169C-6CC4-432B-8D8A-84EDE4F2515B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712431A6-2122-481C-A8D7-9F7BB75B717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483428e-716d-4b33-b115-78d5a8925782"/>
    <ds:schemaRef ds:uri="bd0481ee-721b-4901-9dea-7fae852e4c18"/>
    <ds:schemaRef ds:uri="e55bf511-4ba5-4939-82c7-95fd6f39aef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B72BFFEF-C0F7-4036-B4E1-D454B3025A9E}">
  <ds:schemaRefs>
    <ds:schemaRef ds:uri="http://schemas.microsoft.com/office/2006/documentManagement/types"/>
    <ds:schemaRef ds:uri="http://purl.org/dc/elements/1.1/"/>
    <ds:schemaRef ds:uri="1483428e-716d-4b33-b115-78d5a8925782"/>
    <ds:schemaRef ds:uri="http://www.w3.org/XML/1998/namespace"/>
    <ds:schemaRef ds:uri="e55bf511-4ba5-4939-82c7-95fd6f39aefd"/>
    <ds:schemaRef ds:uri="bd0481ee-721b-4901-9dea-7fae852e4c18"/>
    <ds:schemaRef ds:uri="http://purl.org/dc/dcmitype/"/>
    <ds:schemaRef ds:uri="http://schemas.openxmlformats.org/package/2006/metadata/core-properties"/>
    <ds:schemaRef ds:uri="http://schemas.microsoft.com/office/infopath/2007/PartnerControls"/>
    <ds:schemaRef ds:uri="http://schemas.microsoft.com/office/2006/metadata/properties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1080 ABUHB PowerPoint Template FINAL</Template>
  <TotalTime>350</TotalTime>
  <Words>1686</Words>
  <Application>Microsoft Office PowerPoint</Application>
  <PresentationFormat>Widescreen</PresentationFormat>
  <Paragraphs>300</Paragraphs>
  <Slides>35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43" baseType="lpstr">
      <vt:lpstr>Aptos</vt:lpstr>
      <vt:lpstr>Arial</vt:lpstr>
      <vt:lpstr>Arial,Sans-Serif</vt:lpstr>
      <vt:lpstr>Courier New</vt:lpstr>
      <vt:lpstr>Helvetica Neue</vt:lpstr>
      <vt:lpstr>Mona Sans VF</vt:lpstr>
      <vt:lpstr>Wingdings</vt:lpstr>
      <vt:lpstr>Office Theme</vt:lpstr>
      <vt:lpstr>Github Training</vt:lpstr>
      <vt:lpstr>Modules to be covered</vt:lpstr>
      <vt:lpstr>GitHub Overview</vt:lpstr>
      <vt:lpstr>Git vs GitHub</vt:lpstr>
      <vt:lpstr>Github Enterprise Cloud</vt:lpstr>
      <vt:lpstr>Why Github for analytics?</vt:lpstr>
      <vt:lpstr>Why Github for analytics?</vt:lpstr>
      <vt:lpstr>Github Usage Best Practices</vt:lpstr>
      <vt:lpstr>Navigating a repository</vt:lpstr>
      <vt:lpstr>Exercise Checkpoint 1 </vt:lpstr>
      <vt:lpstr>Key Git Concepts</vt:lpstr>
      <vt:lpstr>How Git Stores Your Work</vt:lpstr>
      <vt:lpstr>How Git Stores Your Work</vt:lpstr>
      <vt:lpstr>How Git Stores Your Work</vt:lpstr>
      <vt:lpstr>How Git Stores Your Work</vt:lpstr>
      <vt:lpstr>Standard Github Files</vt:lpstr>
      <vt:lpstr>Exercise Checkpoint 2 </vt:lpstr>
      <vt:lpstr>Other GitHub Features</vt:lpstr>
      <vt:lpstr>Issues</vt:lpstr>
      <vt:lpstr>Projects</vt:lpstr>
      <vt:lpstr>Agents and Actions</vt:lpstr>
      <vt:lpstr>Using CoPilot Effectively</vt:lpstr>
      <vt:lpstr>Using CoPilot Effectively</vt:lpstr>
      <vt:lpstr>Using CoPilot Effectively</vt:lpstr>
      <vt:lpstr>Using CoPilot Effectively</vt:lpstr>
      <vt:lpstr>Exercise Checkpoint 3 </vt:lpstr>
      <vt:lpstr>Codespaces</vt:lpstr>
      <vt:lpstr>Codespaces</vt:lpstr>
      <vt:lpstr>Codespaces</vt:lpstr>
      <vt:lpstr>Codespaces</vt:lpstr>
      <vt:lpstr>Codespace Walkthrough</vt:lpstr>
      <vt:lpstr>Exercise Checkpoint 4 </vt:lpstr>
      <vt:lpstr>Other GitHub products</vt:lpstr>
      <vt:lpstr>Useful Resources</vt:lpstr>
      <vt:lpstr>Thank you! </vt:lpstr>
    </vt:vector>
  </TitlesOfParts>
  <Company>Aneurin Bevan University Health Board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BigQuery SQL Training</dc:title>
  <dc:creator>Marie-Claire Griffiths (Aneurin Bevan UHB - Planning)</dc:creator>
  <cp:lastModifiedBy>Jessica Speake (Aneurin Bevan UHB - Digital Data and Technology)</cp:lastModifiedBy>
  <cp:revision>32</cp:revision>
  <cp:lastPrinted>2025-08-21T19:41:27Z</cp:lastPrinted>
  <dcterms:created xsi:type="dcterms:W3CDTF">2025-09-30T14:13:03Z</dcterms:created>
  <dcterms:modified xsi:type="dcterms:W3CDTF">2026-10-23T12:56:36Z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0x010100D3C07746058E2B4780C48ADCCC13CF7E</vt:lpwstr>
  </property>
  <property fmtid="{D5CDD505-2E9C-101B-9397-08002B2CF9AE}" pid="3" name="MediaServiceImageTags">
    <vt:lpwstr/>
  </property>
  <property fmtid="{D5CDD505-2E9C-101B-9397-08002B2CF9AE}" pid="4" name="Order">
    <vt:r8>578000</vt:r8>
  </property>
  <property fmtid="{D5CDD505-2E9C-101B-9397-08002B2CF9AE}" pid="5" name="xd_Signature">
    <vt:bool>false</vt:bool>
  </property>
  <property fmtid="{D5CDD505-2E9C-101B-9397-08002B2CF9AE}" pid="6" name="xd_ProgID">
    <vt:lpwstr/>
  </property>
  <property fmtid="{D5CDD505-2E9C-101B-9397-08002B2CF9AE}" pid="7" name="ComplianceAssetId">
    <vt:lpwstr/>
  </property>
  <property fmtid="{D5CDD505-2E9C-101B-9397-08002B2CF9AE}" pid="8" name="TemplateUrl">
    <vt:lpwstr/>
  </property>
  <property fmtid="{D5CDD505-2E9C-101B-9397-08002B2CF9AE}" pid="9" name="_ExtendedDescription">
    <vt:lpwstr/>
  </property>
  <property fmtid="{D5CDD505-2E9C-101B-9397-08002B2CF9AE}" pid="10" name="TriggerFlowInfo">
    <vt:lpwstr/>
  </property>
  <property fmtid="{D5CDD505-2E9C-101B-9397-08002B2CF9AE}" pid="11" name="Document_x0020_Type">
    <vt:lpwstr>188;#Template|72ecb681-7f24-447b-bff2-3c3e16947b2d</vt:lpwstr>
  </property>
  <property fmtid="{D5CDD505-2E9C-101B-9397-08002B2CF9AE}" pid="12" name="Approver (Role)">
    <vt:lpwstr/>
  </property>
  <property fmtid="{D5CDD505-2E9C-101B-9397-08002B2CF9AE}" pid="13" name="Owner_x0020__x0028_Role_x0029_">
    <vt:lpwstr>687;#Head of PMO ＆ Digital Engagement|8d983f83-8eb7-4a8e-9058-8ef2b063c7e8</vt:lpwstr>
  </property>
  <property fmtid="{D5CDD505-2E9C-101B-9397-08002B2CF9AE}" pid="14" name="Approver_x0020__x0028_Role_x0029_">
    <vt:lpwstr/>
  </property>
  <property fmtid="{D5CDD505-2E9C-101B-9397-08002B2CF9AE}" pid="15" name="AB_x0020__x002d__x0020_Team">
    <vt:lpwstr/>
  </property>
  <property fmtid="{D5CDD505-2E9C-101B-9397-08002B2CF9AE}" pid="16" name="Service">
    <vt:lpwstr>16;#Health Board (Corporate)|0c363e41-cf1f-4305-9014-97a1479fc32c</vt:lpwstr>
  </property>
  <property fmtid="{D5CDD505-2E9C-101B-9397-08002B2CF9AE}" pid="17" name="AB - Team">
    <vt:lpwstr/>
  </property>
  <property fmtid="{D5CDD505-2E9C-101B-9397-08002B2CF9AE}" pid="18" name="Owner (Role)">
    <vt:lpwstr>687;#Head of PMO ＆ Digital Engagement|8d983f83-8eb7-4a8e-9058-8ef2b063c7e8</vt:lpwstr>
  </property>
  <property fmtid="{D5CDD505-2E9C-101B-9397-08002B2CF9AE}" pid="19" name="Document Type">
    <vt:lpwstr>188;#Template|72ecb681-7f24-447b-bff2-3c3e16947b2d</vt:lpwstr>
  </property>
  <property fmtid="{D5CDD505-2E9C-101B-9397-08002B2CF9AE}" pid="20" name="h73e8447ba3c4209afcade2bdc7b7702">
    <vt:lpwstr/>
  </property>
  <property fmtid="{D5CDD505-2E9C-101B-9397-08002B2CF9AE}" pid="21" name="AB_x0020__x002d__x0020_Status">
    <vt:lpwstr/>
  </property>
  <property fmtid="{D5CDD505-2E9C-101B-9397-08002B2CF9AE}" pid="22" name="AB_x0020__x002d__x0020_Domain">
    <vt:lpwstr/>
  </property>
  <property fmtid="{D5CDD505-2E9C-101B-9397-08002B2CF9AE}" pid="23" name="c9d02efa741e40f2994de831c3410112">
    <vt:lpwstr/>
  </property>
  <property fmtid="{D5CDD505-2E9C-101B-9397-08002B2CF9AE}" pid="24" name="AB_x0020__x002d__x0020_Programme">
    <vt:lpwstr/>
  </property>
  <property fmtid="{D5CDD505-2E9C-101B-9397-08002B2CF9AE}" pid="25" name="a8e7dbf1479e477ca90c732c03f2f52e">
    <vt:lpwstr/>
  </property>
  <property fmtid="{D5CDD505-2E9C-101B-9397-08002B2CF9AE}" pid="26" name="AB - Status">
    <vt:lpwstr/>
  </property>
  <property fmtid="{D5CDD505-2E9C-101B-9397-08002B2CF9AE}" pid="27" name="AB - Domain">
    <vt:lpwstr/>
  </property>
  <property fmtid="{D5CDD505-2E9C-101B-9397-08002B2CF9AE}" pid="28" name="AB - Programme">
    <vt:lpwstr/>
  </property>
</Properties>
</file>