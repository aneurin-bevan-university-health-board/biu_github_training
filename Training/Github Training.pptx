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9"/>
  </p:notesMasterIdLst>
  <p:sldIdLst>
    <p:sldId id="275" r:id="rId5"/>
    <p:sldId id="257" r:id="rId6"/>
    <p:sldId id="281" r:id="rId7"/>
    <p:sldId id="276" r:id="rId8"/>
    <p:sldId id="277" r:id="rId9"/>
    <p:sldId id="278" r:id="rId10"/>
    <p:sldId id="279" r:id="rId11"/>
    <p:sldId id="291" r:id="rId12"/>
    <p:sldId id="280" r:id="rId13"/>
    <p:sldId id="282" r:id="rId14"/>
    <p:sldId id="283" r:id="rId15"/>
    <p:sldId id="284" r:id="rId16"/>
    <p:sldId id="285" r:id="rId17"/>
    <p:sldId id="286" r:id="rId18"/>
    <p:sldId id="289" r:id="rId19"/>
    <p:sldId id="287" r:id="rId20"/>
    <p:sldId id="302" r:id="rId21"/>
    <p:sldId id="304" r:id="rId22"/>
    <p:sldId id="305" r:id="rId23"/>
    <p:sldId id="306" r:id="rId24"/>
    <p:sldId id="290" r:id="rId25"/>
    <p:sldId id="292" r:id="rId26"/>
    <p:sldId id="293" r:id="rId27"/>
    <p:sldId id="296" r:id="rId28"/>
    <p:sldId id="295" r:id="rId29"/>
    <p:sldId id="297" r:id="rId30"/>
    <p:sldId id="298" r:id="rId31"/>
    <p:sldId id="299" r:id="rId32"/>
    <p:sldId id="303" r:id="rId33"/>
    <p:sldId id="300" r:id="rId34"/>
    <p:sldId id="301" r:id="rId35"/>
    <p:sldId id="309" r:id="rId36"/>
    <p:sldId id="307" r:id="rId37"/>
    <p:sldId id="30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AF75"/>
    <a:srgbClr val="0B385B"/>
    <a:srgbClr val="FAD776"/>
    <a:srgbClr val="63519D"/>
    <a:srgbClr val="E49B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94"/>
  </p:normalViewPr>
  <p:slideViewPr>
    <p:cSldViewPr snapToGrid="0">
      <p:cViewPr varScale="1">
        <p:scale>
          <a:sx n="109" d="100"/>
          <a:sy n="109" d="100"/>
        </p:scale>
        <p:origin x="1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262E1-CA21-AE4E-AE29-A941BAF2DC72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CD1ED-23FB-224B-B8BA-A58BC2681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0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option (dark) no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E0CB-D8FB-C00F-8107-B01AC13E83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704" y="2427434"/>
            <a:ext cx="6439776" cy="1661993"/>
          </a:xfrm>
        </p:spPr>
        <p:txBody>
          <a:bodyPr wrap="square" anchor="t" anchorCtr="0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PowerPoint </a:t>
            </a:r>
            <a:br>
              <a:rPr lang="en-GB" dirty="0"/>
            </a:br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17533-EFA9-EA0B-1841-A6DA2710B1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8705" y="1830388"/>
            <a:ext cx="6439775" cy="387798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mtClean="0">
                <a:solidFill>
                  <a:srgbClr val="FAD776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effectLst/>
                <a:latin typeface="Helvetica Neue" panose="02000503000000020004" pitchFamily="2" charset="0"/>
              </a:rPr>
              <a:t>Aneurin Bevan University Health Board</a:t>
            </a:r>
            <a:endParaRPr lang="en-US" dirty="0"/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23B2AB24-CA51-8D23-49C3-8D67F0782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900" y="432105"/>
            <a:ext cx="2644321" cy="7571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51AFF80-D9DE-5C46-0B11-12822EF42B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835797" y="5321039"/>
            <a:ext cx="23729487" cy="1501228"/>
          </a:xfrm>
          <a:prstGeom prst="rect">
            <a:avLst/>
          </a:prstGeom>
        </p:spPr>
      </p:pic>
      <p:pic>
        <p:nvPicPr>
          <p:cNvPr id="23" name="Picture 2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4A5E99E-4B26-A376-69F2-FE25CECD12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41809" y="405330"/>
            <a:ext cx="2053291" cy="790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2BFC18-856D-5CBD-0918-7748DEB5A0C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06815" y="443852"/>
            <a:ext cx="2778370" cy="73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9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option (light) no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E0CB-D8FB-C00F-8107-B01AC13E83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704" y="2427434"/>
            <a:ext cx="6439776" cy="1661993"/>
          </a:xfrm>
        </p:spPr>
        <p:txBody>
          <a:bodyPr wrap="square"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PowerPoint </a:t>
            </a:r>
            <a:br>
              <a:rPr lang="en-GB" dirty="0"/>
            </a:br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17533-EFA9-EA0B-1841-A6DA2710B1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8705" y="1830388"/>
            <a:ext cx="7364759" cy="387798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mtClean="0">
                <a:solidFill>
                  <a:schemeClr val="accent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effectLst/>
                <a:latin typeface="Helvetica Neue" panose="02000503000000020004" pitchFamily="2" charset="0"/>
              </a:rPr>
              <a:t>Aneurin Bevan University Health Board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2AB24-CA51-8D23-49C3-8D67F0782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96900" y="432105"/>
            <a:ext cx="2644320" cy="757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286814-48D4-B22F-0E52-B1F83C5623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flipH="1">
            <a:off x="-91417" y="5989430"/>
            <a:ext cx="12283417" cy="757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8FEBA1-31B0-6AC1-A261-11A3ED6DA9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86371" y="3771900"/>
            <a:ext cx="3305629" cy="3305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80FA61-AA35-4648-B51B-4E12FE8CBE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541809" y="405330"/>
            <a:ext cx="2053290" cy="790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AF3F5-5953-7939-9748-B1A3181E39C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742809" y="453357"/>
            <a:ext cx="2706382" cy="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0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option (light)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289C33A-DB41-56FF-AFEF-307981591E8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0" y="-3"/>
            <a:ext cx="6095930" cy="6706895"/>
          </a:xfrm>
          <a:prstGeom prst="round1Rect">
            <a:avLst>
              <a:gd name="adj" fmla="val 50000"/>
            </a:avLst>
          </a:prstGeom>
          <a:solidFill>
            <a:srgbClr val="FAD77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5E0CB-D8FB-C00F-8107-B01AC13E83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21024" y="2427434"/>
            <a:ext cx="4819136" cy="3089446"/>
          </a:xfrm>
        </p:spPr>
        <p:txBody>
          <a:bodyPr wrap="square"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PowerPoint </a:t>
            </a:r>
            <a:br>
              <a:rPr lang="en-GB" dirty="0"/>
            </a:br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17533-EFA9-EA0B-1841-A6DA2710B1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1025" y="1830388"/>
            <a:ext cx="4819135" cy="27699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 smtClean="0">
                <a:solidFill>
                  <a:schemeClr val="accent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effectLst/>
                <a:latin typeface="Helvetica Neue" panose="02000503000000020004" pitchFamily="2" charset="0"/>
              </a:rPr>
              <a:t>Aneurin Bevan University Health Board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2AB24-CA51-8D23-49C3-8D67F0782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459220" y="432105"/>
            <a:ext cx="2644320" cy="757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286814-48D4-B22F-0E52-B1F83C5623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flipH="1">
            <a:off x="-91417" y="5989430"/>
            <a:ext cx="12283417" cy="757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631792-8D3A-463A-6DD3-1A42DEF4D5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57941" y="453357"/>
            <a:ext cx="2706382" cy="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5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option (dark) with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1"/>
            <a:ext cx="6096000" cy="6711884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FAD77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CAB12-408B-9A06-65BD-830E6E0A64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704" y="2427434"/>
            <a:ext cx="4941056" cy="3028486"/>
          </a:xfrm>
        </p:spPr>
        <p:txBody>
          <a:bodyPr wrap="square" anchor="t" anchorCtr="0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PowerPoint </a:t>
            </a:r>
            <a:br>
              <a:rPr lang="en-GB" dirty="0"/>
            </a:br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76C3EB0-2C86-E39B-4469-BB0D2EEBD64D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758705" y="1830389"/>
            <a:ext cx="4504175" cy="27699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 smtClean="0">
                <a:solidFill>
                  <a:srgbClr val="FAD776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effectLst/>
                <a:latin typeface="Helvetica Neue" panose="02000503000000020004" pitchFamily="2" charset="0"/>
              </a:rPr>
              <a:t>Aneurin Bevan University Health Board</a:t>
            </a:r>
            <a:endParaRPr lang="en-US" dirty="0"/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D5B8DBDA-E8E2-15C5-CC34-3689522DE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900" y="432105"/>
            <a:ext cx="2644321" cy="757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C4C54B-22FC-E090-FC75-BA3A380940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425596" y="5822841"/>
            <a:ext cx="15315850" cy="968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B833A0-B39F-F35C-D346-B4680D668C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01207" y="443852"/>
            <a:ext cx="2778370" cy="73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3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ullet slide with singl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4100" y="1880579"/>
            <a:ext cx="4423799" cy="405723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64" y="1880579"/>
            <a:ext cx="2471895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7934" y="2297913"/>
            <a:ext cx="2471894" cy="740442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455"/>
            <a:ext cx="6360716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CB6D972-E386-76E5-62A4-40145CE8D8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64" y="3338989"/>
            <a:ext cx="2471895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4A8932F6-EE2D-94AF-624D-83A4F26D9B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934" y="3798071"/>
            <a:ext cx="2471894" cy="740442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964AB2C-80B6-3776-AFFA-B0BCF41E37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8264" y="4797399"/>
            <a:ext cx="2471895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6AEFD41F-9490-6DA5-246F-881A550D26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7934" y="5217546"/>
            <a:ext cx="2471894" cy="740442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A484361A-8FF6-137E-1E60-288206AF8C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82669" y="1880579"/>
            <a:ext cx="2471895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C1A502BF-E04F-A511-D3E5-E1C5BE5C99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82339" y="2312301"/>
            <a:ext cx="2471894" cy="740442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CEBD845B-9411-4175-7B57-DDC605A51F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82669" y="3338989"/>
            <a:ext cx="2471895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B9FC9085-8B6C-9B25-8517-366BACDB2E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82339" y="3770711"/>
            <a:ext cx="2471894" cy="740442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81783EB-0D32-7E00-CB9E-6EEC6C8920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882669" y="4797399"/>
            <a:ext cx="2471895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B8EB114-8553-715A-62ED-0557797978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882339" y="5229121"/>
            <a:ext cx="2471894" cy="740442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B2CA19BC-587E-020B-CA45-BD4FFABE9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186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bullet slide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7934" y="1694812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64" y="2659572"/>
            <a:ext cx="2147371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7934" y="3048643"/>
            <a:ext cx="2147370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455"/>
            <a:ext cx="6360716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D4C2F88-BF1D-D6E9-6FB5-469B88E6D74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627433" y="1694812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682E4-3A0C-CE13-8546-E9E18CACC5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27763" y="2659572"/>
            <a:ext cx="2147371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7EC2551-0C89-BFA5-9CCE-DDE6284E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627433" y="3048643"/>
            <a:ext cx="2147370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5F60A58-8588-1CBC-A369-25388F18D1BC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416932" y="1694812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32248A4-40FC-534B-5EFB-749A70E539F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17262" y="2659572"/>
            <a:ext cx="2147371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35226F3-0E1D-256B-97B9-6C98BD4EDB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16932" y="3048643"/>
            <a:ext cx="2147370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4CAF251-B777-064D-A243-1D03BACCF314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9206430" y="1694812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C05FD25-71FA-22D1-FB9C-55B4F45166E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06760" y="2659572"/>
            <a:ext cx="2147371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0645B0A-1B26-A7A3-291C-1ABB84D9992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06430" y="3048643"/>
            <a:ext cx="2147370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828348CD-ACD2-DFF4-800E-F274AFAAC30B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837934" y="4021324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3FBB9C1-D4DE-B676-DB13-4DDA71407D0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8264" y="4986084"/>
            <a:ext cx="2147371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759BCFA5-4A16-4E19-55C6-01EEBF421A1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7934" y="5385315"/>
            <a:ext cx="2147370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995ED2D2-FD2C-D2A6-0303-D2D27B53B838}"/>
              </a:ext>
            </a:extLst>
          </p:cNvPr>
          <p:cNvSpPr>
            <a:spLocks noGrp="1"/>
          </p:cNvSpPr>
          <p:nvPr>
            <p:ph type="pic" idx="30"/>
          </p:nvPr>
        </p:nvSpPr>
        <p:spPr>
          <a:xfrm>
            <a:off x="3627433" y="4021324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6ADAF9CA-0AFA-16CC-37E1-C752D6306FE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27763" y="4986084"/>
            <a:ext cx="2147371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56DD63EE-2DE1-DA7B-DB1D-B5F5E41F05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27433" y="5385315"/>
            <a:ext cx="2147370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7DCE758-429F-D421-57EE-69DE3E8F6DA5}"/>
              </a:ext>
            </a:extLst>
          </p:cNvPr>
          <p:cNvSpPr>
            <a:spLocks noGrp="1"/>
          </p:cNvSpPr>
          <p:nvPr>
            <p:ph type="pic" idx="33"/>
          </p:nvPr>
        </p:nvSpPr>
        <p:spPr>
          <a:xfrm>
            <a:off x="6416932" y="4021324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24BBF753-275C-C0A1-B02B-4EC1E237DA0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17262" y="4986084"/>
            <a:ext cx="2147371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38A8196D-3BEF-9258-BBF1-8D6D32790FA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16932" y="5385315"/>
            <a:ext cx="2147370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A8C408E5-A54B-17F8-1B26-D78884AFE4F8}"/>
              </a:ext>
            </a:extLst>
          </p:cNvPr>
          <p:cNvSpPr>
            <a:spLocks noGrp="1"/>
          </p:cNvSpPr>
          <p:nvPr>
            <p:ph type="pic" idx="36"/>
          </p:nvPr>
        </p:nvSpPr>
        <p:spPr>
          <a:xfrm>
            <a:off x="9206430" y="4021324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B0CE0909-F2F5-6229-2A40-4200DB8F97F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06760" y="4986084"/>
            <a:ext cx="2147371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24C3164E-A22B-243F-1FE3-8077B0E210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06430" y="5385315"/>
            <a:ext cx="2147370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39B9785F-F454-5161-3908-F5AA6EE96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700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ullet slide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7934" y="1694812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64" y="2659572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7933" y="3058803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455"/>
            <a:ext cx="6360716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5357B822-1F46-EF68-98AB-1266026A9F9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414511" y="1694812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03ACB0B-D2D6-8793-6DDF-32DEDC9D17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14841" y="2659572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5246C35-35AF-5747-3591-3B90326EC8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14510" y="3058803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B3C80A0-CEAE-4303-404B-BA29C03800C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7991089" y="1694812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D6BF785-ECAA-AA70-0AE0-DA7FF9D3B6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91419" y="2659572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BA32623-5265-29C3-5825-763BDB6B28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91088" y="3058803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915D3A1-7889-84BB-2617-E407080EE08C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837934" y="3917151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549CD5A-107B-B40E-BA85-D262D217C7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38264" y="4881911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68F5A9F-8220-9920-9E82-9E7442AB580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7933" y="5281142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8F8C17CB-1C98-0900-AFA5-53F04EF6A463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4414511" y="3917151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06DE5A3-A38E-1BD7-F172-AB99F0DBBF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14841" y="4881911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140DFA81-F9C1-5BE8-9790-1E7A6F3566E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14510" y="5281142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483088B-39F5-1949-7004-DCD8A82A1E2E}"/>
              </a:ext>
            </a:extLst>
          </p:cNvPr>
          <p:cNvSpPr>
            <a:spLocks noGrp="1"/>
          </p:cNvSpPr>
          <p:nvPr>
            <p:ph type="pic" idx="30"/>
          </p:nvPr>
        </p:nvSpPr>
        <p:spPr>
          <a:xfrm>
            <a:off x="7991089" y="3917151"/>
            <a:ext cx="757348" cy="7404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C87FE08-9EA5-A548-3C31-04A258ABC2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91419" y="4881911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742C4827-D280-318C-8AEE-43CAD6DC75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91088" y="5281142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9F35571C-D369-12D3-EE1D-3003D6469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11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ullet slide with 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64" y="2238397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7933" y="2637628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455"/>
            <a:ext cx="3705520" cy="997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549CD5A-107B-B40E-BA85-D262D217C7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38264" y="3535301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68F5A9F-8220-9920-9E82-9E7442AB580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7933" y="3934532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483088B-39F5-1949-7004-DCD8A82A1E2E}"/>
              </a:ext>
            </a:extLst>
          </p:cNvPr>
          <p:cNvSpPr>
            <a:spLocks noGrp="1"/>
          </p:cNvSpPr>
          <p:nvPr>
            <p:ph type="pic" idx="30"/>
          </p:nvPr>
        </p:nvSpPr>
        <p:spPr>
          <a:xfrm>
            <a:off x="4864232" y="1"/>
            <a:ext cx="7327768" cy="67118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9F35571C-D369-12D3-EE1D-3003D6469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71A9C36-F28A-2984-4E83-DBDD982406B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38264" y="4836200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A3678E8-3AC9-7667-B351-4DDC4A4EF03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7933" y="5235431"/>
            <a:ext cx="3362711" cy="53310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433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nfo slide with singl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7933" y="2012179"/>
            <a:ext cx="3392757" cy="33170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8600" y="2012179"/>
            <a:ext cx="6755200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98269" y="2513010"/>
            <a:ext cx="6755531" cy="2816195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455"/>
            <a:ext cx="6360716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0C569E0-37B6-73C2-5F50-5ADF00159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08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page with single graphic 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76034" y="1896655"/>
            <a:ext cx="3392757" cy="33170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12DB22-CD1B-7D4A-9134-ED9E1C9534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96655"/>
            <a:ext cx="3436838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Statement page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0C569E0-37B6-73C2-5F50-5ADF00159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51964-F9B3-582C-1138-6D1E48DC82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64" y="1453072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rgbClr val="FAD77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1578B1-7A9C-9501-1880-BD836E8648E1}"/>
              </a:ext>
            </a:extLst>
          </p:cNvPr>
          <p:cNvCxnSpPr/>
          <p:nvPr userDrawn="1"/>
        </p:nvCxnSpPr>
        <p:spPr>
          <a:xfrm>
            <a:off x="-38100" y="6718300"/>
            <a:ext cx="123063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68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page with single graphic V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23241" y="1896655"/>
            <a:ext cx="3392757" cy="33170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12DB22-CD1B-7D4A-9134-ED9E1C9534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6300" y="2340238"/>
            <a:ext cx="3436838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Statement page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0C569E0-37B6-73C2-5F50-5ADF00159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51964-F9B3-582C-1138-6D1E48DC82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6364" y="1896655"/>
            <a:ext cx="3362712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rgbClr val="FAD77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AFC3CD-A577-A39E-B89C-3F9908016659}"/>
              </a:ext>
            </a:extLst>
          </p:cNvPr>
          <p:cNvCxnSpPr/>
          <p:nvPr userDrawn="1"/>
        </p:nvCxnSpPr>
        <p:spPr>
          <a:xfrm>
            <a:off x="-38100" y="6718300"/>
            <a:ext cx="123063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975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ullet slide with icons (coloured background)">
    <p:bg>
      <p:bgPr>
        <a:solidFill>
          <a:srgbClr val="6351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476669" y="1847684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12DB22-CD1B-7D4A-9134-ED9E1C9534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0C569E0-37B6-73C2-5F50-5ADF00159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51964-F9B3-582C-1138-6D1E48DC82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2438" y="3544433"/>
            <a:ext cx="2292230" cy="332399"/>
          </a:xfrm>
        </p:spPr>
        <p:txBody>
          <a:bodyPr wrap="square" anchor="t" anchorCtr="0">
            <a:noAutofit/>
          </a:bodyPr>
          <a:lstStyle>
            <a:lvl1pPr algn="ctr">
              <a:defRPr sz="2200" b="1">
                <a:solidFill>
                  <a:srgbClr val="FAD77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17A339C-ACC0-E5C9-1443-7F60488B429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464469" y="1847684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5049CDF-57FB-1E5B-0262-BB5A40F76D55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52269" y="1847684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0011A0-9346-E922-AA1C-9048D9E693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97538" y="3544433"/>
            <a:ext cx="2292230" cy="332399"/>
          </a:xfrm>
        </p:spPr>
        <p:txBody>
          <a:bodyPr wrap="square" anchor="t" anchorCtr="0">
            <a:noAutofit/>
          </a:bodyPr>
          <a:lstStyle>
            <a:lvl1pPr algn="ctr">
              <a:defRPr sz="2200" b="1">
                <a:solidFill>
                  <a:srgbClr val="FAD77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D417083-05F1-3C98-F43B-328E59055E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10738" y="3544433"/>
            <a:ext cx="2292230" cy="332399"/>
          </a:xfrm>
        </p:spPr>
        <p:txBody>
          <a:bodyPr wrap="square" anchor="t" anchorCtr="0">
            <a:noAutofit/>
          </a:bodyPr>
          <a:lstStyle>
            <a:lvl1pPr algn="ctr">
              <a:defRPr sz="2200" b="1">
                <a:solidFill>
                  <a:srgbClr val="FAD77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FBA7B5-423F-34B3-F9F2-15AD6E26DA13}"/>
              </a:ext>
            </a:extLst>
          </p:cNvPr>
          <p:cNvCxnSpPr/>
          <p:nvPr userDrawn="1"/>
        </p:nvCxnSpPr>
        <p:spPr>
          <a:xfrm>
            <a:off x="-38100" y="6718300"/>
            <a:ext cx="123063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45651A2-600B-D4D0-8D9C-E208688E21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97538" y="4011573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6AC9F8-04E8-561D-A123-5BFB1BAC4E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21886" y="4011573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844E616-3334-F1AB-B000-5844CEF92FD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03008" y="4011573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74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ullet slide with icons (coloured background)">
    <p:bg>
      <p:bgPr>
        <a:solidFill>
          <a:srgbClr val="FAD7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41769" y="1636825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12DB22-CD1B-7D4A-9134-ED9E1C9534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0C569E0-37B6-73C2-5F50-5ADF00159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71054DB-3976-92EF-E2D6-67FC1AB5A75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404115" y="1636825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EFE25D5-16F3-5497-6392-9E456C889D2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956969" y="1636825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4141F3BA-8554-8C0E-E7AD-ABC40FA13C06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1641769" y="3983741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38DE595-44F8-E854-4414-7EC53F655C63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5404115" y="3983741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7CB03A73-9FE7-F44F-B0E2-92D4FFFB75C8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956969" y="3983741"/>
            <a:ext cx="1383769" cy="1352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A45F617-15CC-CB7B-52FD-669CA42894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2438" y="955170"/>
            <a:ext cx="2292230" cy="332399"/>
          </a:xfrm>
        </p:spPr>
        <p:txBody>
          <a:bodyPr wrap="square" anchor="t" anchorCtr="0">
            <a:noAutofit/>
          </a:bodyPr>
          <a:lstStyle>
            <a:lvl1pPr algn="ctr">
              <a:defRPr sz="22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78E1A-8FF7-4273-26A3-535FD35F62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87538" y="3186952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B82DC95-6B1B-D2FF-1D21-90881433624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54469" y="3186952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E4C453B-838D-33D8-EB78-17F959D99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502739" y="3186952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214765C-B1F9-07BE-1A90-DE778F64122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87538" y="5527242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3E7C791-5510-2628-B623-54B45DC76AC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954469" y="5527242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682E466-FFA3-1722-D871-05A729FA967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502739" y="5527242"/>
            <a:ext cx="2292230" cy="281142"/>
          </a:xfrm>
        </p:spPr>
        <p:txBody>
          <a:bodyPr wrap="square" anchor="t" anchorCtr="0">
            <a:noAutofit/>
          </a:bodyPr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221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455"/>
            <a:ext cx="6360716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A484361A-8FF6-137E-1E60-288206AF8C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329" y="2071079"/>
            <a:ext cx="5258235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6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C1A502BF-E04F-A511-D3E5-E1C5BE5C99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0" y="2502801"/>
            <a:ext cx="5258233" cy="3116838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B2CA19BC-587E-020B-CA45-BD4FFABE9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82CD335-5366-4205-624D-AA1B4E304D9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838200" y="1972314"/>
            <a:ext cx="4518025" cy="3647436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131930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455"/>
            <a:ext cx="6360716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B2CA19BC-587E-020B-CA45-BD4FFABE9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651AD66-44B0-177B-F07B-76FE26E3B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51064" y="5027474"/>
            <a:ext cx="3362712" cy="317367"/>
          </a:xfrm>
        </p:spPr>
        <p:txBody>
          <a:bodyPr wrap="square">
            <a:noAutofit/>
          </a:bodyPr>
          <a:lstStyle>
            <a:lvl1pPr algn="ctr"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F56FD95-047D-2EAF-9366-565662FB32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733" y="5426705"/>
            <a:ext cx="3362711" cy="533107"/>
          </a:xfrm>
        </p:spPr>
        <p:txBody>
          <a:bodyPr wrap="square">
            <a:noAutofit/>
          </a:bodyPr>
          <a:lstStyle>
            <a:lvl1pPr algn="ctr"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A8FF431-2F43-3608-7E01-FDCE7DC8E8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75564" y="5027474"/>
            <a:ext cx="3362712" cy="317367"/>
          </a:xfrm>
        </p:spPr>
        <p:txBody>
          <a:bodyPr wrap="square">
            <a:noAutofit/>
          </a:bodyPr>
          <a:lstStyle>
            <a:lvl1pPr algn="ctr"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7E7DD5A-A646-C13D-59EE-4BE67CE844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75233" y="5426705"/>
            <a:ext cx="3362711" cy="533107"/>
          </a:xfrm>
        </p:spPr>
        <p:txBody>
          <a:bodyPr wrap="square">
            <a:noAutofit/>
          </a:bodyPr>
          <a:lstStyle>
            <a:lvl1pPr algn="ctr"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4266F819-BADB-9067-4306-3AC60C51DEA0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939666" y="1671638"/>
            <a:ext cx="4784843" cy="3082925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Chart Placeholder 12">
            <a:extLst>
              <a:ext uri="{FF2B5EF4-FFF2-40B4-BE49-F238E27FC236}">
                <a16:creationId xmlns:a16="http://schemas.microsoft.com/office/drawing/2014/main" id="{E388CCDD-A019-7F8F-8F0B-EB6D68BCF0F3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6464166" y="1671638"/>
            <a:ext cx="4784843" cy="3082925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75366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nfo slide with single photo (curved corner) right hand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532" y="2209723"/>
            <a:ext cx="4798698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1" y="2710554"/>
            <a:ext cx="4799028" cy="326275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0156"/>
            <a:ext cx="4798698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72E3676-D4F7-1273-9BC3-AC5183A8C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1844"/>
            <a:ext cx="6096000" cy="6701952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FAD77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81EFD77-D1FF-AA29-9071-E2E134F7A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945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nfo slide with single photo (curved corner) left hand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0" y="-2"/>
            <a:ext cx="6095930" cy="6702460"/>
          </a:xfrm>
          <a:prstGeom prst="round1Rect">
            <a:avLst>
              <a:gd name="adj" fmla="val 50000"/>
            </a:avLst>
          </a:prstGeom>
          <a:solidFill>
            <a:srgbClr val="FAD77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48927" y="2209723"/>
            <a:ext cx="4804873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48597" y="2710554"/>
            <a:ext cx="4805203" cy="326275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596" y="760156"/>
            <a:ext cx="4804873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641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nfo slide with single photo left hand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1" y="-1"/>
            <a:ext cx="6096001" cy="67248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1047" y="2209723"/>
            <a:ext cx="4992753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60717" y="2710554"/>
            <a:ext cx="4992754" cy="326275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716" y="760156"/>
            <a:ext cx="4993084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5644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nfo slide with single photo right hand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D395C-5094-16BA-B866-A9ED30B1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-1"/>
            <a:ext cx="6096001" cy="67248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FE22-FEEC-E123-EBEA-B0E8520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DB22-CD1B-7D4A-9134-ED9E1C9534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C4A556-4255-638B-687F-64A72B932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530" y="2209723"/>
            <a:ext cx="4676479" cy="317367"/>
          </a:xfrm>
        </p:spPr>
        <p:txBody>
          <a:bodyPr wrap="square"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CC5098-97E1-9DE1-7210-434D630124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10554"/>
            <a:ext cx="4676480" cy="3262757"/>
          </a:xfr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A222C92-A3C6-6AAE-9009-24FAA96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60156"/>
            <a:ext cx="4676789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4050B81-65ED-63B6-37E7-CC2AB8644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230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505577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20AE8-89C6-343D-E6CC-5BC29F67E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455"/>
            <a:ext cx="6360716" cy="4985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18051-ACE4-9B66-E6A8-89F0375A9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22664"/>
            <a:ext cx="4752904" cy="180767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24033-9A8E-5144-225E-212CF3D9A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249" y="6324031"/>
            <a:ext cx="187551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F12DB22-CD1B-7D4A-9134-ED9E1C9534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C6C8D88-4570-341C-1942-62BA4CC5FAEC}"/>
              </a:ext>
            </a:extLst>
          </p:cNvPr>
          <p:cNvGrpSpPr/>
          <p:nvPr userDrawn="1"/>
        </p:nvGrpSpPr>
        <p:grpSpPr>
          <a:xfrm>
            <a:off x="-48984" y="6711041"/>
            <a:ext cx="12319907" cy="163285"/>
            <a:chOff x="-48984" y="6711041"/>
            <a:chExt cx="12319907" cy="163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BE167C-9C3F-9B6B-D9F1-CC66CC4D3E6E}"/>
                </a:ext>
              </a:extLst>
            </p:cNvPr>
            <p:cNvSpPr/>
            <p:nvPr userDrawn="1"/>
          </p:nvSpPr>
          <p:spPr>
            <a:xfrm>
              <a:off x="-48984" y="6723740"/>
              <a:ext cx="1232807" cy="150586"/>
            </a:xfrm>
            <a:prstGeom prst="rect">
              <a:avLst/>
            </a:prstGeom>
            <a:solidFill>
              <a:srgbClr val="E49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9A124B-88F3-18BB-79EA-49272F538472}"/>
                </a:ext>
              </a:extLst>
            </p:cNvPr>
            <p:cNvSpPr/>
            <p:nvPr userDrawn="1"/>
          </p:nvSpPr>
          <p:spPr>
            <a:xfrm>
              <a:off x="1183823" y="6723740"/>
              <a:ext cx="1232807" cy="1505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427AA3-D5AD-D56D-8886-0F5B3BFCAACE}"/>
                </a:ext>
              </a:extLst>
            </p:cNvPr>
            <p:cNvSpPr/>
            <p:nvPr userDrawn="1"/>
          </p:nvSpPr>
          <p:spPr>
            <a:xfrm>
              <a:off x="2416630" y="6723740"/>
              <a:ext cx="1232807" cy="1505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8B4CB5-88F2-7594-DB9D-9868E101E2D6}"/>
                </a:ext>
              </a:extLst>
            </p:cNvPr>
            <p:cNvSpPr/>
            <p:nvPr userDrawn="1"/>
          </p:nvSpPr>
          <p:spPr>
            <a:xfrm>
              <a:off x="3641273" y="6723740"/>
              <a:ext cx="1232807" cy="150586"/>
            </a:xfrm>
            <a:prstGeom prst="rect">
              <a:avLst/>
            </a:prstGeom>
            <a:solidFill>
              <a:srgbClr val="FAD7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FB38EA-AE76-1FAC-7459-B9E5E31B29E7}"/>
                </a:ext>
              </a:extLst>
            </p:cNvPr>
            <p:cNvSpPr/>
            <p:nvPr userDrawn="1"/>
          </p:nvSpPr>
          <p:spPr>
            <a:xfrm>
              <a:off x="4874080" y="6723740"/>
              <a:ext cx="1232807" cy="15058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CE83CA5-7FDB-D3B2-94CD-CE2B9A515400}"/>
                </a:ext>
              </a:extLst>
            </p:cNvPr>
            <p:cNvSpPr/>
            <p:nvPr userDrawn="1"/>
          </p:nvSpPr>
          <p:spPr>
            <a:xfrm>
              <a:off x="6106888" y="6723740"/>
              <a:ext cx="1232807" cy="150586"/>
            </a:xfrm>
            <a:prstGeom prst="rect">
              <a:avLst/>
            </a:prstGeom>
            <a:solidFill>
              <a:srgbClr val="2DA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C90443-7A67-D6D3-59C1-E76016A6367C}"/>
                </a:ext>
              </a:extLst>
            </p:cNvPr>
            <p:cNvSpPr/>
            <p:nvPr userDrawn="1"/>
          </p:nvSpPr>
          <p:spPr>
            <a:xfrm>
              <a:off x="7339695" y="6723740"/>
              <a:ext cx="1232807" cy="15058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A54361-7357-9ED4-4FD4-4C668794CF3C}"/>
                </a:ext>
              </a:extLst>
            </p:cNvPr>
            <p:cNvSpPr/>
            <p:nvPr userDrawn="1"/>
          </p:nvSpPr>
          <p:spPr>
            <a:xfrm>
              <a:off x="8572502" y="6723740"/>
              <a:ext cx="1232807" cy="15058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64274A6-9666-47C1-AFE9-E237465E4688}"/>
                </a:ext>
              </a:extLst>
            </p:cNvPr>
            <p:cNvSpPr/>
            <p:nvPr userDrawn="1"/>
          </p:nvSpPr>
          <p:spPr>
            <a:xfrm>
              <a:off x="9805309" y="6723740"/>
              <a:ext cx="1232807" cy="150586"/>
            </a:xfrm>
            <a:prstGeom prst="rect">
              <a:avLst/>
            </a:prstGeom>
            <a:solidFill>
              <a:srgbClr val="6351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0786CD9-2EBC-1E3F-A197-772ACEBD902C}"/>
                </a:ext>
              </a:extLst>
            </p:cNvPr>
            <p:cNvSpPr/>
            <p:nvPr userDrawn="1"/>
          </p:nvSpPr>
          <p:spPr>
            <a:xfrm>
              <a:off x="11038116" y="6723740"/>
              <a:ext cx="1232807" cy="15058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69F5EF5-02A3-13C5-A920-536200E3C57F}"/>
                </a:ext>
              </a:extLst>
            </p:cNvPr>
            <p:cNvCxnSpPr/>
            <p:nvPr userDrawn="1"/>
          </p:nvCxnSpPr>
          <p:spPr>
            <a:xfrm>
              <a:off x="-48984" y="6711041"/>
              <a:ext cx="1231990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CF2DA01-7562-47A7-E79D-F07BC71C2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4031"/>
            <a:ext cx="124232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abuhb.nhs.wales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25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70" r:id="rId3"/>
    <p:sldLayoutId id="2147483668" r:id="rId4"/>
    <p:sldLayoutId id="2147483662" r:id="rId5"/>
    <p:sldLayoutId id="2147483663" r:id="rId6"/>
    <p:sldLayoutId id="2147483664" r:id="rId7"/>
    <p:sldLayoutId id="2147483672" r:id="rId8"/>
    <p:sldLayoutId id="2147483665" r:id="rId9"/>
    <p:sldLayoutId id="2147483673" r:id="rId10"/>
    <p:sldLayoutId id="2147483675" r:id="rId11"/>
    <p:sldLayoutId id="2147483674" r:id="rId12"/>
    <p:sldLayoutId id="2147483676" r:id="rId13"/>
    <p:sldLayoutId id="2147483677" r:id="rId14"/>
    <p:sldLayoutId id="2147483678" r:id="rId15"/>
    <p:sldLayoutId id="2147483666" r:id="rId16"/>
    <p:sldLayoutId id="2147483669" r:id="rId17"/>
    <p:sldLayoutId id="2147483667" r:id="rId18"/>
    <p:sldLayoutId id="2147483671" r:id="rId19"/>
    <p:sldLayoutId id="2147483679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3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2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b="1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eurin-Bevan-University-Health-Board/biu_GitHub_Training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gcymru.github.io/Solutions-Exchange/solutions.html?sort=updated" TargetMode="External"/><Relationship Id="rId2" Type="http://schemas.openxmlformats.org/officeDocument/2006/relationships/hyperlink" Target="https://abuhb.haloitsm.com/portal/service?btn=103&amp;root_category=22&amp;autolog=true&amp;shownewticket=true&amp;categoryid=52&amp;id=456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1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4" y="2427434"/>
            <a:ext cx="6439776" cy="830997"/>
          </a:xfrm>
        </p:spPr>
        <p:txBody>
          <a:bodyPr/>
          <a:lstStyle/>
          <a:p>
            <a:r>
              <a:rPr lang="en-GB" dirty="0" err="1"/>
              <a:t>Github</a:t>
            </a:r>
            <a:r>
              <a:rPr lang="en-GB" dirty="0"/>
              <a:t>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87F23-C395-09E0-5E46-D147412EC7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260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42" y="389565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Modules to be covered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11" y="1204859"/>
            <a:ext cx="11013670" cy="459005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Char char="•"/>
            </a:pPr>
            <a:r>
              <a:rPr lang="en-GB" sz="2200" dirty="0"/>
              <a:t>GitHub Overview</a:t>
            </a:r>
            <a:br>
              <a:rPr lang="en-GB" sz="2200" dirty="0"/>
            </a:br>
            <a:endParaRPr lang="en-GB" sz="2200" dirty="0"/>
          </a:p>
          <a:p>
            <a:pPr marL="285750" indent="-285750">
              <a:buChar char="•"/>
            </a:pPr>
            <a:r>
              <a:rPr lang="en-GB" sz="2200" dirty="0"/>
              <a:t>Key Git Concepts</a:t>
            </a:r>
            <a:br>
              <a:rPr lang="en-GB" sz="2200" dirty="0"/>
            </a:br>
            <a:endParaRPr lang="en-GB" sz="2200" dirty="0"/>
          </a:p>
          <a:p>
            <a:pPr marL="285750" indent="-285750">
              <a:buChar char="•"/>
            </a:pPr>
            <a:r>
              <a:rPr lang="en-GB" sz="2200" dirty="0"/>
              <a:t>Other GitHub Features </a:t>
            </a:r>
            <a:endParaRPr lang="en-GB" sz="2200" b="0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sz="2200" b="0" dirty="0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GB" sz="2200" dirty="0"/>
              <a:t>Using </a:t>
            </a:r>
            <a:r>
              <a:rPr lang="en-GB" sz="2200" dirty="0" err="1"/>
              <a:t>CoPilot</a:t>
            </a:r>
            <a:r>
              <a:rPr lang="en-GB" sz="2200" dirty="0"/>
              <a:t> effectively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endParaRPr lang="en-GB" sz="2200" b="0" dirty="0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GB" sz="2200" b="0" dirty="0" err="1"/>
              <a:t>Codespaces</a:t>
            </a:r>
            <a:endParaRPr lang="en-GB" sz="2200" b="0" dirty="0"/>
          </a:p>
          <a:p>
            <a:pPr marL="285750" indent="-285750">
              <a:buFont typeface="Arial,Sans-Serif" panose="020B0604020202020204" pitchFamily="34" charset="0"/>
              <a:buChar char="•"/>
            </a:pPr>
            <a:endParaRPr lang="en-GB" sz="2200" b="0" dirty="0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GB" sz="2200" b="0" dirty="0"/>
              <a:t>Exploring other </a:t>
            </a:r>
            <a:r>
              <a:rPr lang="en-GB" sz="2200" b="0" dirty="0" err="1"/>
              <a:t>Github</a:t>
            </a:r>
            <a:r>
              <a:rPr lang="en-GB" sz="2200" b="0" dirty="0"/>
              <a:t> products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 descr="Clipboard Clip Art at Clker.com - vector clip art online, royalty free &amp;  public domain">
            <a:extLst>
              <a:ext uri="{FF2B5EF4-FFF2-40B4-BE49-F238E27FC236}">
                <a16:creationId xmlns:a16="http://schemas.microsoft.com/office/drawing/2014/main" id="{B0E3B12E-F74D-B766-ADC4-E51E3EB95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951" y="2033038"/>
            <a:ext cx="2903119" cy="29337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90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4" y="2427434"/>
            <a:ext cx="6439776" cy="830997"/>
          </a:xfrm>
        </p:spPr>
        <p:txBody>
          <a:bodyPr/>
          <a:lstStyle/>
          <a:p>
            <a:r>
              <a:rPr lang="en-GB" dirty="0"/>
              <a:t>GitHub Overview</a:t>
            </a:r>
          </a:p>
        </p:txBody>
      </p:sp>
    </p:spTree>
    <p:extLst>
      <p:ext uri="{BB962C8B-B14F-4D97-AF65-F5344CB8AC3E}">
        <p14:creationId xmlns:p14="http://schemas.microsoft.com/office/powerpoint/2010/main" val="1394554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42" y="389565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Git vs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11" y="1204859"/>
            <a:ext cx="11013670" cy="45900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4</a:t>
            </a:fld>
            <a:endParaRPr lang="en-GB"/>
          </a:p>
        </p:txBody>
      </p:sp>
      <p:pic>
        <p:nvPicPr>
          <p:cNvPr id="1026" name="Picture 2" descr="Git - Logo Downloads">
            <a:extLst>
              <a:ext uri="{FF2B5EF4-FFF2-40B4-BE49-F238E27FC236}">
                <a16:creationId xmlns:a16="http://schemas.microsoft.com/office/drawing/2014/main" id="{56E22239-CCA2-4E39-BDC9-1F34AEB8F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11" y="4911831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Git Hub Icon On White Background 16833872 ...">
            <a:extLst>
              <a:ext uri="{FF2B5EF4-FFF2-40B4-BE49-F238E27FC236}">
                <a16:creationId xmlns:a16="http://schemas.microsoft.com/office/drawing/2014/main" id="{0EBAD5EE-31A7-4981-AD91-73C20C0EB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356" y="4911831"/>
            <a:ext cx="18002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C22999-8ACD-415B-825B-81AEC5879DE4}"/>
              </a:ext>
            </a:extLst>
          </p:cNvPr>
          <p:cNvSpPr txBox="1"/>
          <p:nvPr/>
        </p:nvSpPr>
        <p:spPr>
          <a:xfrm>
            <a:off x="1049867" y="1160547"/>
            <a:ext cx="10503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Git keeps track of changes to a codebase or project. </a:t>
            </a:r>
            <a:r>
              <a:rPr lang="en-GB" dirty="0" err="1"/>
              <a:t>Github</a:t>
            </a:r>
            <a:r>
              <a:rPr lang="en-GB" dirty="0"/>
              <a:t> helps teams share and manage these changes.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86C84A21-09CA-4689-9A3D-42C21CC5D247}"/>
              </a:ext>
            </a:extLst>
          </p:cNvPr>
          <p:cNvSpPr/>
          <p:nvPr/>
        </p:nvSpPr>
        <p:spPr>
          <a:xfrm>
            <a:off x="1699876" y="2306159"/>
            <a:ext cx="3706283" cy="2498015"/>
          </a:xfrm>
          <a:prstGeom prst="wedgeEllipseCallout">
            <a:avLst>
              <a:gd name="adj1" fmla="val -47560"/>
              <a:gd name="adj2" fmla="val 686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Created by Linus Torvalds in 2005, Git is a distributed version control system. </a:t>
            </a:r>
          </a:p>
          <a:p>
            <a:pPr algn="ctr"/>
            <a:endParaRPr lang="en-GB" sz="1200" dirty="0">
              <a:solidFill>
                <a:schemeClr val="tx1"/>
              </a:solidFill>
            </a:endParaRP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It operates locally and invoked through commands. </a:t>
            </a:r>
          </a:p>
          <a:p>
            <a:pPr algn="ctr"/>
            <a:endParaRPr lang="en-GB" sz="1200" dirty="0">
              <a:solidFill>
                <a:schemeClr val="tx1"/>
              </a:solidFill>
            </a:endParaRP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Git exists without </a:t>
            </a:r>
            <a:r>
              <a:rPr lang="en-GB" sz="1200" dirty="0" err="1">
                <a:solidFill>
                  <a:schemeClr val="tx1"/>
                </a:solidFill>
              </a:rPr>
              <a:t>Github</a:t>
            </a:r>
            <a:r>
              <a:rPr lang="en-GB" sz="12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DE663009-7A1C-4BFD-9236-ACA387EA2CF6}"/>
              </a:ext>
            </a:extLst>
          </p:cNvPr>
          <p:cNvSpPr/>
          <p:nvPr/>
        </p:nvSpPr>
        <p:spPr>
          <a:xfrm>
            <a:off x="5717116" y="2207475"/>
            <a:ext cx="3706283" cy="3033392"/>
          </a:xfrm>
          <a:prstGeom prst="wedgeEllipseCallout">
            <a:avLst>
              <a:gd name="adj1" fmla="val 66431"/>
              <a:gd name="adj2" fmla="val 5135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Developed by Microsoft, </a:t>
            </a:r>
            <a:r>
              <a:rPr lang="en-GB" sz="1200" dirty="0" err="1">
                <a:solidFill>
                  <a:schemeClr val="tx1"/>
                </a:solidFill>
              </a:rPr>
              <a:t>Github</a:t>
            </a:r>
            <a:r>
              <a:rPr lang="en-GB" sz="1200" dirty="0">
                <a:solidFill>
                  <a:schemeClr val="tx1"/>
                </a:solidFill>
              </a:rPr>
              <a:t> provides an online space to store repositories and foster collaboration amongst teams. </a:t>
            </a:r>
          </a:p>
          <a:p>
            <a:pPr algn="ctr"/>
            <a:endParaRPr lang="en-GB" sz="1200" dirty="0">
              <a:solidFill>
                <a:schemeClr val="tx1"/>
              </a:solidFill>
            </a:endParaRP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Enhances Git with additional features including seamless integration with other online tools. </a:t>
            </a:r>
          </a:p>
          <a:p>
            <a:pPr algn="ctr"/>
            <a:endParaRPr lang="en-GB" sz="1200" dirty="0">
              <a:solidFill>
                <a:schemeClr val="tx1"/>
              </a:solidFill>
            </a:endParaRP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Github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b="1" dirty="0">
                <a:solidFill>
                  <a:schemeClr val="tx1"/>
                </a:solidFill>
              </a:rPr>
              <a:t>cannot work </a:t>
            </a:r>
            <a:r>
              <a:rPr lang="en-GB" sz="1200" dirty="0">
                <a:solidFill>
                  <a:schemeClr val="tx1"/>
                </a:solidFill>
              </a:rPr>
              <a:t>with Git. </a:t>
            </a:r>
          </a:p>
        </p:txBody>
      </p:sp>
    </p:spTree>
    <p:extLst>
      <p:ext uri="{BB962C8B-B14F-4D97-AF65-F5344CB8AC3E}">
        <p14:creationId xmlns:p14="http://schemas.microsoft.com/office/powerpoint/2010/main" val="377352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 err="1"/>
              <a:t>Github</a:t>
            </a:r>
            <a:r>
              <a:rPr lang="en-GB" sz="3200" b="1" u="sng" dirty="0"/>
              <a:t> Enterprise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11" y="1204859"/>
            <a:ext cx="11013670" cy="45900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5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22999-8ACD-415B-825B-81AEC5879DE4}"/>
              </a:ext>
            </a:extLst>
          </p:cNvPr>
          <p:cNvSpPr txBox="1"/>
          <p:nvPr/>
        </p:nvSpPr>
        <p:spPr>
          <a:xfrm>
            <a:off x="520911" y="1475001"/>
            <a:ext cx="105032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ABUHB uses </a:t>
            </a:r>
            <a:r>
              <a:rPr lang="en-GB" b="1" dirty="0" err="1"/>
              <a:t>Github</a:t>
            </a:r>
            <a:r>
              <a:rPr lang="en-GB" b="1" dirty="0"/>
              <a:t> Enterprise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Our organisation differs from a personal </a:t>
            </a:r>
            <a:r>
              <a:rPr lang="en-GB" dirty="0" err="1"/>
              <a:t>Github</a:t>
            </a:r>
            <a:r>
              <a:rPr lang="en-GB" dirty="0"/>
              <a:t> free account.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Access is controlled through the organisation and admins set policies for repositories, </a:t>
            </a:r>
            <a:r>
              <a:rPr lang="en-GB" dirty="0" err="1"/>
              <a:t>codespaces</a:t>
            </a:r>
            <a:r>
              <a:rPr lang="en-GB" dirty="0"/>
              <a:t>, </a:t>
            </a:r>
            <a:r>
              <a:rPr lang="en-GB" dirty="0" err="1"/>
              <a:t>CoPilot</a:t>
            </a:r>
            <a:r>
              <a:rPr lang="en-GB" dirty="0"/>
              <a:t> usage and other features.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What </a:t>
            </a:r>
            <a:r>
              <a:rPr lang="en-GB" b="1" dirty="0" err="1"/>
              <a:t>Github</a:t>
            </a:r>
            <a:r>
              <a:rPr lang="en-GB" b="1" dirty="0"/>
              <a:t> Enterprise provides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Ability to enforce branch protection and need for reviews on private repositories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Centralised user management and permissions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Full auditability of log-ins and compliance reporting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Increased governance over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286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Why </a:t>
            </a:r>
            <a:r>
              <a:rPr lang="en-GB" sz="3200" b="1" u="sng" dirty="0" err="1"/>
              <a:t>Github</a:t>
            </a:r>
            <a:r>
              <a:rPr lang="en-GB" sz="3200" b="1" u="sng" dirty="0"/>
              <a:t> fo</a:t>
            </a:r>
            <a:r>
              <a:rPr lang="en-GB" sz="3200" u="sng" dirty="0"/>
              <a:t>r analytics?</a:t>
            </a:r>
            <a:endParaRPr lang="en-GB" sz="32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11" y="1204859"/>
            <a:ext cx="11013670" cy="45900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520911" y="1475001"/>
            <a:ext cx="105032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Faster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Removes technical barriers for collaborative work.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Ability to reuse shared codes and resources.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Enhanced 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Share code securely within approved protocols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Ability to add advanced security checks on code and analytics.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Collaboration and auditability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All code lives in repositories – not emails, </a:t>
            </a:r>
            <a:r>
              <a:rPr lang="en-GB" dirty="0" err="1"/>
              <a:t>Sharepoint</a:t>
            </a:r>
            <a:r>
              <a:rPr lang="en-GB" dirty="0"/>
              <a:t> or personal folders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Every change can be traceable and version history easily documented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Ability to rollback changes – no need for manual backups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Single source of truth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One canonical repository per project or product (with ability to fork/clone repos if required)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Ability to add protection to production resources – only reviewed code can reach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Better quality assurance and knowledge transfer</a:t>
            </a:r>
          </a:p>
        </p:txBody>
      </p:sp>
    </p:spTree>
    <p:extLst>
      <p:ext uri="{BB962C8B-B14F-4D97-AF65-F5344CB8AC3E}">
        <p14:creationId xmlns:p14="http://schemas.microsoft.com/office/powerpoint/2010/main" val="315699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 err="1"/>
              <a:t>Github</a:t>
            </a:r>
            <a:r>
              <a:rPr lang="en-GB" sz="3200" b="1" u="sng" dirty="0"/>
              <a:t> Usage 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11" y="1204859"/>
            <a:ext cx="11013670" cy="45900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520911" y="1475001"/>
            <a:ext cx="105032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GB" dirty="0"/>
              <a:t>Avoid making key changes in the main branch – develop in dedicated feature branches with consistent naming.</a:t>
            </a:r>
          </a:p>
          <a:p>
            <a:pPr algn="ctr"/>
            <a:r>
              <a:rPr lang="en-GB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GB" dirty="0"/>
              <a:t>Utilise pull requests (PRs) to improve code quality and knowledge sharing. </a:t>
            </a:r>
          </a:p>
          <a:p>
            <a:pPr algn="ctr"/>
            <a:endParaRPr lang="en-GB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GB" dirty="0"/>
              <a:t>Write meaningful commit messages – makes versioning and history of code easier to understand</a:t>
            </a:r>
          </a:p>
          <a:p>
            <a:pPr algn="ctr"/>
            <a:endParaRPr lang="en-GB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GB" dirty="0"/>
              <a:t>Every repository should have a README.md that explains: 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dirty="0"/>
              <a:t>Purpose of the project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dirty="0"/>
              <a:t>How to run it and its dependencies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dirty="0"/>
              <a:t>Key contacts </a:t>
            </a:r>
          </a:p>
          <a:p>
            <a:pPr algn="ctr"/>
            <a:endParaRPr lang="en-GB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GB" dirty="0"/>
              <a:t>Use Issues and Projects for clear collaborative tracking. </a:t>
            </a:r>
          </a:p>
        </p:txBody>
      </p:sp>
    </p:spTree>
    <p:extLst>
      <p:ext uri="{BB962C8B-B14F-4D97-AF65-F5344CB8AC3E}">
        <p14:creationId xmlns:p14="http://schemas.microsoft.com/office/powerpoint/2010/main" val="48227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u="sng" dirty="0"/>
              <a:t>Navigating a repository</a:t>
            </a:r>
            <a:endParaRPr lang="en-GB" sz="32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11" y="1204859"/>
            <a:ext cx="11013670" cy="45900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8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8AAA1-70A7-4D66-A851-03CCD3143A05}"/>
              </a:ext>
            </a:extLst>
          </p:cNvPr>
          <p:cNvSpPr txBox="1"/>
          <p:nvPr/>
        </p:nvSpPr>
        <p:spPr>
          <a:xfrm>
            <a:off x="520911" y="1352667"/>
            <a:ext cx="720068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tabs: 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Code – where all code and documentation is stored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Issues – raise bugs/tasks for developers to work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Pull requests – review changes before merging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Agents – Ability to create custom agents to automate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Actions – ability to add automated workflows and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Security &amp; Alerts – ability to add credential scanning, data quality and dependency checks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Projects – Kanban board(s) for planning and tracking activities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Insights – contributor and activity statistics</a:t>
            </a:r>
          </a:p>
        </p:txBody>
      </p:sp>
    </p:spTree>
    <p:extLst>
      <p:ext uri="{BB962C8B-B14F-4D97-AF65-F5344CB8AC3E}">
        <p14:creationId xmlns:p14="http://schemas.microsoft.com/office/powerpoint/2010/main" val="70008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9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6588"/>
            <a:ext cx="3436838" cy="498598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Exercise Checkpoint 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 fontScale="32500" lnSpcReduction="20000"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779D3-41A0-4920-B5C8-8AA53282B9B8}"/>
              </a:ext>
            </a:extLst>
          </p:cNvPr>
          <p:cNvSpPr txBox="1"/>
          <p:nvPr/>
        </p:nvSpPr>
        <p:spPr>
          <a:xfrm>
            <a:off x="609600" y="1611755"/>
            <a:ext cx="568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Navigate through </a:t>
            </a:r>
            <a:r>
              <a:rPr lang="en-GB" b="1" dirty="0" err="1">
                <a:solidFill>
                  <a:schemeClr val="bg1"/>
                </a:solidFill>
              </a:rPr>
              <a:t>Github</a:t>
            </a:r>
            <a:r>
              <a:rPr lang="en-GB" b="1" dirty="0">
                <a:solidFill>
                  <a:schemeClr val="bg1"/>
                </a:solidFill>
              </a:rPr>
              <a:t> to find the training repo and your dedicated workspace. 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Sign into </a:t>
            </a:r>
            <a:r>
              <a:rPr lang="en-GB" dirty="0" err="1">
                <a:solidFill>
                  <a:schemeClr val="bg1"/>
                </a:solidFill>
              </a:rPr>
              <a:t>Github</a:t>
            </a:r>
            <a:r>
              <a:rPr lang="en-GB" dirty="0">
                <a:solidFill>
                  <a:schemeClr val="bg1"/>
                </a:solidFill>
              </a:rPr>
              <a:t> with your account (you may be asked to authenticate via Microsoft Authenticator).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Search for the following repository in ABUHB’s main page: </a:t>
            </a:r>
            <a:r>
              <a:rPr lang="en-GB" b="1" i="0" u="none" strike="noStrike" dirty="0" err="1">
                <a:solidFill>
                  <a:srgbClr val="1F2328"/>
                </a:solidFill>
                <a:effectLst/>
                <a:latin typeface="Mona Sans VF"/>
                <a:hlinkClick r:id="rId2"/>
              </a:rPr>
              <a:t>biu_GitHub_Training</a:t>
            </a:r>
            <a:endParaRPr lang="en-GB" b="1" i="0" u="none" strike="noStrike" dirty="0">
              <a:solidFill>
                <a:schemeClr val="bg1"/>
              </a:solidFill>
              <a:effectLst/>
              <a:latin typeface="Mona Sans VF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  <a:latin typeface="Mona Sans VF"/>
              </a:rPr>
              <a:t>Open the participants folder and find your folder named </a:t>
            </a:r>
            <a:r>
              <a:rPr lang="en-GB" dirty="0" err="1">
                <a:solidFill>
                  <a:schemeClr val="bg1"/>
                </a:solidFill>
                <a:latin typeface="Mona Sans VF"/>
              </a:rPr>
              <a:t>firstname-lastname</a:t>
            </a:r>
            <a:r>
              <a:rPr lang="en-GB" dirty="0">
                <a:solidFill>
                  <a:schemeClr val="bg1"/>
                </a:solidFill>
                <a:latin typeface="Mona Sans VF"/>
              </a:rPr>
              <a:t>. 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>
              <a:solidFill>
                <a:schemeClr val="bg1"/>
              </a:solidFill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3802757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4" y="2427434"/>
            <a:ext cx="6439776" cy="830997"/>
          </a:xfrm>
        </p:spPr>
        <p:txBody>
          <a:bodyPr/>
          <a:lstStyle/>
          <a:p>
            <a:r>
              <a:rPr lang="en-GB" dirty="0"/>
              <a:t>Key Git Concepts</a:t>
            </a:r>
          </a:p>
        </p:txBody>
      </p:sp>
    </p:spTree>
    <p:extLst>
      <p:ext uri="{BB962C8B-B14F-4D97-AF65-F5344CB8AC3E}">
        <p14:creationId xmlns:p14="http://schemas.microsoft.com/office/powerpoint/2010/main" val="321014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How Git Stores Your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11" y="1204859"/>
            <a:ext cx="11013670" cy="45900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11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520911" y="1475001"/>
            <a:ext cx="51178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Object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Blob – file content (your code)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Tree – directory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Commit – a snapshot of your code with metadata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stores snapshots of the whole project, not just differences.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Objects are addressed by a SHA-1 Hash – all changes have a unique hash.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 changes are performed using underlying git CLI code. </a:t>
            </a:r>
          </a:p>
        </p:txBody>
      </p:sp>
      <p:pic>
        <p:nvPicPr>
          <p:cNvPr id="6" name="object_model.png" descr="Diagram: a commit points to a tree, which points to blobs and sub-trees">
            <a:extLst>
              <a:ext uri="{FF2B5EF4-FFF2-40B4-BE49-F238E27FC236}">
                <a16:creationId xmlns:a16="http://schemas.microsoft.com/office/drawing/2014/main" id="{A31D9058-7206-44D1-A834-7935F234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290" y="1317082"/>
            <a:ext cx="5583291" cy="400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5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How Git Stores Your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11" y="1204859"/>
            <a:ext cx="11013670" cy="45900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12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520911" y="1475001"/>
            <a:ext cx="51178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Your files will live in three places: </a:t>
            </a:r>
          </a:p>
          <a:p>
            <a:endParaRPr lang="en-GB" b="1" dirty="0"/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Working directory </a:t>
            </a:r>
            <a:r>
              <a:rPr lang="en-GB" dirty="0"/>
              <a:t>– where you edit the files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Staging area </a:t>
            </a:r>
            <a:r>
              <a:rPr lang="en-GB" dirty="0"/>
              <a:t>– you can control what changes can then go into the next commit 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Repository </a:t>
            </a:r>
            <a:r>
              <a:rPr lang="en-GB" dirty="0"/>
              <a:t>– what changes have been committed into history </a:t>
            </a:r>
            <a:endParaRPr lang="en-GB" b="1" dirty="0"/>
          </a:p>
        </p:txBody>
      </p:sp>
      <p:pic>
        <p:nvPicPr>
          <p:cNvPr id="8" name="three_trees.png" descr="Diagram: files move from working directory to staging area to repository">
            <a:extLst>
              <a:ext uri="{FF2B5EF4-FFF2-40B4-BE49-F238E27FC236}">
                <a16:creationId xmlns:a16="http://schemas.microsoft.com/office/drawing/2014/main" id="{67662F40-73F0-4D1E-96A1-A5D32C902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535" y="1534791"/>
            <a:ext cx="5583291" cy="362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1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146" y="332495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How Git Stores Your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13</a:t>
            </a:fld>
            <a:endParaRPr lang="en-GB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3BC90AE-2E99-4DD5-85DC-1139652465F9}"/>
              </a:ext>
            </a:extLst>
          </p:cNvPr>
          <p:cNvGrpSpPr/>
          <p:nvPr/>
        </p:nvGrpSpPr>
        <p:grpSpPr>
          <a:xfrm>
            <a:off x="133001" y="1361177"/>
            <a:ext cx="11597964" cy="5234012"/>
            <a:chOff x="133001" y="1361177"/>
            <a:chExt cx="11597964" cy="523401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5DBC184-A3D6-441D-B82F-3A85324ACC68}"/>
                </a:ext>
              </a:extLst>
            </p:cNvPr>
            <p:cNvGrpSpPr/>
            <p:nvPr/>
          </p:nvGrpSpPr>
          <p:grpSpPr>
            <a:xfrm>
              <a:off x="213299" y="1361177"/>
              <a:ext cx="11517666" cy="3152838"/>
              <a:chOff x="35500" y="2055444"/>
              <a:chExt cx="11517666" cy="315283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31423420-4DA3-4EF6-9F7A-9C8807B2C1BA}"/>
                  </a:ext>
                </a:extLst>
              </p:cNvPr>
              <p:cNvGrpSpPr/>
              <p:nvPr/>
            </p:nvGrpSpPr>
            <p:grpSpPr>
              <a:xfrm>
                <a:off x="35500" y="2787827"/>
                <a:ext cx="1436462" cy="1546272"/>
                <a:chOff x="375406" y="1281595"/>
                <a:chExt cx="1436462" cy="1546272"/>
              </a:xfrm>
            </p:grpSpPr>
            <p:sp>
              <p:nvSpPr>
                <p:cNvPr id="9" name="Scroll: Vertical 8">
                  <a:extLst>
                    <a:ext uri="{FF2B5EF4-FFF2-40B4-BE49-F238E27FC236}">
                      <a16:creationId xmlns:a16="http://schemas.microsoft.com/office/drawing/2014/main" id="{D4EEF7DE-C88F-44C9-A3A1-229284A2B91D}"/>
                    </a:ext>
                  </a:extLst>
                </p:cNvPr>
                <p:cNvSpPr/>
                <p:nvPr/>
              </p:nvSpPr>
              <p:spPr>
                <a:xfrm>
                  <a:off x="537059" y="1482552"/>
                  <a:ext cx="1113156" cy="972127"/>
                </a:xfrm>
                <a:prstGeom prst="verticalScroll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/>
                    <a:t>Original document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5641698-8760-4F07-B90E-B3CFED1AB60F}"/>
                    </a:ext>
                  </a:extLst>
                </p:cNvPr>
                <p:cNvSpPr/>
                <p:nvPr/>
              </p:nvSpPr>
              <p:spPr>
                <a:xfrm>
                  <a:off x="375406" y="1281595"/>
                  <a:ext cx="1436462" cy="1546272"/>
                </a:xfrm>
                <a:prstGeom prst="rect">
                  <a:avLst/>
                </a:prstGeom>
                <a:noFill/>
                <a:ln>
                  <a:solidFill>
                    <a:srgbClr val="6351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E0971DA-6C49-4487-AA00-75C8062D6F3D}"/>
                    </a:ext>
                  </a:extLst>
                </p:cNvPr>
                <p:cNvSpPr txBox="1"/>
                <p:nvPr/>
              </p:nvSpPr>
              <p:spPr>
                <a:xfrm>
                  <a:off x="471253" y="2513005"/>
                  <a:ext cx="127774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100" b="1" dirty="0"/>
                    <a:t>Main/Production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BE07CA28-2E28-4461-872D-0E63CAC3BF07}"/>
                  </a:ext>
                </a:extLst>
              </p:cNvPr>
              <p:cNvGrpSpPr/>
              <p:nvPr/>
            </p:nvGrpSpPr>
            <p:grpSpPr>
              <a:xfrm>
                <a:off x="1426856" y="3317494"/>
                <a:ext cx="1715541" cy="455970"/>
                <a:chOff x="1973521" y="1598761"/>
                <a:chExt cx="1715541" cy="455970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8DB04EB9-3D5A-43D3-A714-02E9CC5D07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6323" y="2054731"/>
                  <a:ext cx="140993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5D9E9AF-F6FB-44DB-9A70-6F03142E969A}"/>
                    </a:ext>
                  </a:extLst>
                </p:cNvPr>
                <p:cNvSpPr txBox="1"/>
                <p:nvPr/>
              </p:nvSpPr>
              <p:spPr>
                <a:xfrm>
                  <a:off x="1973521" y="1598761"/>
                  <a:ext cx="171554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 b="1" dirty="0"/>
                    <a:t>PULL into your branch</a:t>
                  </a:r>
                </a:p>
              </p:txBody>
            </p:sp>
          </p:grpSp>
          <p:pic>
            <p:nvPicPr>
              <p:cNvPr id="2050" name="Picture 2" descr="A guy is pulling all his strength the rope. 42847417 PNG">
                <a:extLst>
                  <a:ext uri="{FF2B5EF4-FFF2-40B4-BE49-F238E27FC236}">
                    <a16:creationId xmlns:a16="http://schemas.microsoft.com/office/drawing/2014/main" id="{9E612667-9571-4F35-893E-FC2B2D0818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579894" y="3798582"/>
                <a:ext cx="1409700" cy="1409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6644267-6525-49A0-BD00-98B902EF75C4}"/>
                  </a:ext>
                </a:extLst>
              </p:cNvPr>
              <p:cNvGrpSpPr/>
              <p:nvPr/>
            </p:nvGrpSpPr>
            <p:grpSpPr>
              <a:xfrm>
                <a:off x="3256343" y="2890765"/>
                <a:ext cx="1436462" cy="1546272"/>
                <a:chOff x="375406" y="1281595"/>
                <a:chExt cx="1436462" cy="1546272"/>
              </a:xfrm>
            </p:grpSpPr>
            <p:sp>
              <p:nvSpPr>
                <p:cNvPr id="33" name="Scroll: Vertical 32">
                  <a:extLst>
                    <a:ext uri="{FF2B5EF4-FFF2-40B4-BE49-F238E27FC236}">
                      <a16:creationId xmlns:a16="http://schemas.microsoft.com/office/drawing/2014/main" id="{6F64A31B-F5F7-4A74-83BB-BF0464F040CC}"/>
                    </a:ext>
                  </a:extLst>
                </p:cNvPr>
                <p:cNvSpPr/>
                <p:nvPr/>
              </p:nvSpPr>
              <p:spPr>
                <a:xfrm>
                  <a:off x="537059" y="1424216"/>
                  <a:ext cx="1113156" cy="972127"/>
                </a:xfrm>
                <a:prstGeom prst="verticalScroll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/>
                    <a:t>Copy of original document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C5BEEEA5-5A70-4C29-B11C-15FC35928321}"/>
                    </a:ext>
                  </a:extLst>
                </p:cNvPr>
                <p:cNvSpPr/>
                <p:nvPr/>
              </p:nvSpPr>
              <p:spPr>
                <a:xfrm>
                  <a:off x="375406" y="1281595"/>
                  <a:ext cx="1436462" cy="1546272"/>
                </a:xfrm>
                <a:prstGeom prst="rect">
                  <a:avLst/>
                </a:prstGeom>
                <a:noFill/>
                <a:ln>
                  <a:solidFill>
                    <a:srgbClr val="6351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7C39B98-9A6D-453A-B3DC-D20244101320}"/>
                    </a:ext>
                  </a:extLst>
                </p:cNvPr>
                <p:cNvSpPr txBox="1"/>
                <p:nvPr/>
              </p:nvSpPr>
              <p:spPr>
                <a:xfrm>
                  <a:off x="474856" y="2427439"/>
                  <a:ext cx="127774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100" b="1" dirty="0"/>
                    <a:t>Your dev branch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9E7D1A1-B03C-493C-A80F-A54A3186DD86}"/>
                  </a:ext>
                </a:extLst>
              </p:cNvPr>
              <p:cNvGrpSpPr/>
              <p:nvPr/>
            </p:nvGrpSpPr>
            <p:grpSpPr>
              <a:xfrm>
                <a:off x="4719312" y="3379625"/>
                <a:ext cx="1715541" cy="455970"/>
                <a:chOff x="1973521" y="1598761"/>
                <a:chExt cx="1715541" cy="455970"/>
              </a:xfrm>
            </p:grpSpPr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3FA30884-5FA9-4690-9DA8-495EAD5E8C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6323" y="2054731"/>
                  <a:ext cx="140993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E4C95B8-550B-476F-9D8A-A7A1C75E4852}"/>
                    </a:ext>
                  </a:extLst>
                </p:cNvPr>
                <p:cNvSpPr txBox="1"/>
                <p:nvPr/>
              </p:nvSpPr>
              <p:spPr>
                <a:xfrm>
                  <a:off x="1973521" y="1598761"/>
                  <a:ext cx="171554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 b="1" dirty="0"/>
                    <a:t>Commit your changes</a:t>
                  </a: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C9E3729-A1C3-47B3-9DE5-DA3E340C30AA}"/>
                  </a:ext>
                </a:extLst>
              </p:cNvPr>
              <p:cNvGrpSpPr/>
              <p:nvPr/>
            </p:nvGrpSpPr>
            <p:grpSpPr>
              <a:xfrm>
                <a:off x="6443703" y="2970390"/>
                <a:ext cx="1436462" cy="1546272"/>
                <a:chOff x="375406" y="1281595"/>
                <a:chExt cx="1436462" cy="1546272"/>
              </a:xfrm>
            </p:grpSpPr>
            <p:sp>
              <p:nvSpPr>
                <p:cNvPr id="41" name="Scroll: Vertical 40">
                  <a:extLst>
                    <a:ext uri="{FF2B5EF4-FFF2-40B4-BE49-F238E27FC236}">
                      <a16:creationId xmlns:a16="http://schemas.microsoft.com/office/drawing/2014/main" id="{B79A45D5-AC50-4EFF-858A-8D7E12D86423}"/>
                    </a:ext>
                  </a:extLst>
                </p:cNvPr>
                <p:cNvSpPr/>
                <p:nvPr/>
              </p:nvSpPr>
              <p:spPr>
                <a:xfrm>
                  <a:off x="537059" y="1424216"/>
                  <a:ext cx="1113156" cy="972127"/>
                </a:xfrm>
                <a:prstGeom prst="verticalScroll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/>
                    <a:t>Adjusted document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9B5C36B5-01B1-4B84-85A3-5E4FA1382A7D}"/>
                    </a:ext>
                  </a:extLst>
                </p:cNvPr>
                <p:cNvSpPr/>
                <p:nvPr/>
              </p:nvSpPr>
              <p:spPr>
                <a:xfrm>
                  <a:off x="375406" y="1281595"/>
                  <a:ext cx="1436462" cy="1546272"/>
                </a:xfrm>
                <a:prstGeom prst="rect">
                  <a:avLst/>
                </a:prstGeom>
                <a:noFill/>
                <a:ln>
                  <a:solidFill>
                    <a:srgbClr val="6351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C81BC2F-1E86-45B7-A551-EB05E5FC7966}"/>
                    </a:ext>
                  </a:extLst>
                </p:cNvPr>
                <p:cNvSpPr txBox="1"/>
                <p:nvPr/>
              </p:nvSpPr>
              <p:spPr>
                <a:xfrm>
                  <a:off x="474856" y="2427439"/>
                  <a:ext cx="127774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100" b="1" dirty="0"/>
                    <a:t>Your dev branch</a:t>
                  </a:r>
                </a:p>
              </p:txBody>
            </p:sp>
          </p:grpSp>
          <p:pic>
            <p:nvPicPr>
              <p:cNvPr id="2052" name="Picture 4">
                <a:extLst>
                  <a:ext uri="{FF2B5EF4-FFF2-40B4-BE49-F238E27FC236}">
                    <a16:creationId xmlns:a16="http://schemas.microsoft.com/office/drawing/2014/main" id="{8A2A559C-2060-4F2F-8DE9-57FD8F9CA9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53891" y="3886031"/>
                <a:ext cx="977370" cy="9773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6A99FFDD-E996-42E6-BECA-D51DD5E94B11}"/>
                  </a:ext>
                </a:extLst>
              </p:cNvPr>
              <p:cNvGrpSpPr/>
              <p:nvPr/>
            </p:nvGrpSpPr>
            <p:grpSpPr>
              <a:xfrm>
                <a:off x="10116704" y="3025446"/>
                <a:ext cx="1436462" cy="1546272"/>
                <a:chOff x="375406" y="1281595"/>
                <a:chExt cx="1436462" cy="1546272"/>
              </a:xfrm>
            </p:grpSpPr>
            <p:sp>
              <p:nvSpPr>
                <p:cNvPr id="50" name="Scroll: Vertical 49">
                  <a:extLst>
                    <a:ext uri="{FF2B5EF4-FFF2-40B4-BE49-F238E27FC236}">
                      <a16:creationId xmlns:a16="http://schemas.microsoft.com/office/drawing/2014/main" id="{044C974C-8D10-4D1A-9BD6-2D6DD749F5CE}"/>
                    </a:ext>
                  </a:extLst>
                </p:cNvPr>
                <p:cNvSpPr/>
                <p:nvPr/>
              </p:nvSpPr>
              <p:spPr>
                <a:xfrm>
                  <a:off x="537059" y="1424216"/>
                  <a:ext cx="1113156" cy="972127"/>
                </a:xfrm>
                <a:prstGeom prst="verticalScroll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/>
                    <a:t>Adjusted document</a:t>
                  </a: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764B8BDA-3F78-4FC4-A3DE-C12D37F1D7DC}"/>
                    </a:ext>
                  </a:extLst>
                </p:cNvPr>
                <p:cNvSpPr/>
                <p:nvPr/>
              </p:nvSpPr>
              <p:spPr>
                <a:xfrm>
                  <a:off x="375406" y="1281595"/>
                  <a:ext cx="1436462" cy="1546272"/>
                </a:xfrm>
                <a:prstGeom prst="rect">
                  <a:avLst/>
                </a:prstGeom>
                <a:noFill/>
                <a:ln>
                  <a:solidFill>
                    <a:srgbClr val="6351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56C35F8-3E2E-4212-B7EE-F5C32762B58C}"/>
                    </a:ext>
                  </a:extLst>
                </p:cNvPr>
                <p:cNvSpPr txBox="1"/>
                <p:nvPr/>
              </p:nvSpPr>
              <p:spPr>
                <a:xfrm>
                  <a:off x="474856" y="2427439"/>
                  <a:ext cx="127774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100" b="1" dirty="0"/>
                    <a:t>Your dev branch</a:t>
                  </a:r>
                </a:p>
              </p:txBody>
            </p:sp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45E2986-1C82-443A-9EE4-734F4BE3FF02}"/>
                  </a:ext>
                </a:extLst>
              </p:cNvPr>
              <p:cNvSpPr/>
              <p:nvPr/>
            </p:nvSpPr>
            <p:spPr>
              <a:xfrm>
                <a:off x="3151247" y="2091270"/>
                <a:ext cx="4993686" cy="27721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1780F54-013B-4577-BFAC-E75D8792B87B}"/>
                  </a:ext>
                </a:extLst>
              </p:cNvPr>
              <p:cNvSpPr txBox="1"/>
              <p:nvPr/>
            </p:nvSpPr>
            <p:spPr>
              <a:xfrm>
                <a:off x="3886069" y="2212802"/>
                <a:ext cx="33130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/>
                  <a:t>Your local workspace/desktop</a:t>
                </a: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2277E4E0-02FB-4ADD-A505-5BA7A84510E3}"/>
                  </a:ext>
                </a:extLst>
              </p:cNvPr>
              <p:cNvGrpSpPr/>
              <p:nvPr/>
            </p:nvGrpSpPr>
            <p:grpSpPr>
              <a:xfrm>
                <a:off x="8362058" y="3317494"/>
                <a:ext cx="1715541" cy="461665"/>
                <a:chOff x="1973521" y="1598761"/>
                <a:chExt cx="1715541" cy="461665"/>
              </a:xfrm>
            </p:grpSpPr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A3062A74-687F-46C5-AA27-014CFFC611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6323" y="2054731"/>
                  <a:ext cx="140993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CAE17FF-F490-4A43-9ADB-8BC383B71813}"/>
                    </a:ext>
                  </a:extLst>
                </p:cNvPr>
                <p:cNvSpPr txBox="1"/>
                <p:nvPr/>
              </p:nvSpPr>
              <p:spPr>
                <a:xfrm>
                  <a:off x="1973521" y="1598761"/>
                  <a:ext cx="171554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 b="1" dirty="0"/>
                    <a:t>Push your changes into </a:t>
                  </a:r>
                  <a:r>
                    <a:rPr lang="en-GB" sz="1200" b="1" dirty="0" err="1"/>
                    <a:t>Github</a:t>
                  </a:r>
                  <a:endParaRPr lang="en-GB" sz="1200" b="1" dirty="0"/>
                </a:p>
              </p:txBody>
            </p:sp>
          </p:grpSp>
          <p:pic>
            <p:nvPicPr>
              <p:cNvPr id="2054" name="Picture 6" descr="Push - Free hands and gestures icons">
                <a:extLst>
                  <a:ext uri="{FF2B5EF4-FFF2-40B4-BE49-F238E27FC236}">
                    <a16:creationId xmlns:a16="http://schemas.microsoft.com/office/drawing/2014/main" id="{235B0CA3-0C25-45C3-AEFA-FA8B7E4554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720925" y="3894216"/>
                <a:ext cx="1103293" cy="11032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EF2B14F-24ED-403C-BC48-F4D8EB12122F}"/>
                  </a:ext>
                </a:extLst>
              </p:cNvPr>
              <p:cNvSpPr txBox="1"/>
              <p:nvPr/>
            </p:nvSpPr>
            <p:spPr>
              <a:xfrm>
                <a:off x="416393" y="2055444"/>
                <a:ext cx="2111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 err="1"/>
                  <a:t>Github</a:t>
                </a:r>
                <a:endParaRPr lang="en-GB" b="1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71F8060-9D71-4F9F-98D7-3352CA02FD02}"/>
                  </a:ext>
                </a:extLst>
              </p:cNvPr>
              <p:cNvSpPr txBox="1"/>
              <p:nvPr/>
            </p:nvSpPr>
            <p:spPr>
              <a:xfrm>
                <a:off x="9061135" y="2091270"/>
                <a:ext cx="2111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 err="1"/>
                  <a:t>Github</a:t>
                </a:r>
                <a:endParaRPr lang="en-GB" b="1" dirty="0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675E00A2-DEBE-4A8C-8D67-19C5310253FB}"/>
                </a:ext>
              </a:extLst>
            </p:cNvPr>
            <p:cNvGrpSpPr/>
            <p:nvPr/>
          </p:nvGrpSpPr>
          <p:grpSpPr>
            <a:xfrm>
              <a:off x="7716104" y="4975011"/>
              <a:ext cx="1436462" cy="1546272"/>
              <a:chOff x="7428238" y="5026026"/>
              <a:chExt cx="1436462" cy="1546272"/>
            </a:xfrm>
          </p:grpSpPr>
          <p:sp>
            <p:nvSpPr>
              <p:cNvPr id="68" name="Scroll: Vertical 67">
                <a:extLst>
                  <a:ext uri="{FF2B5EF4-FFF2-40B4-BE49-F238E27FC236}">
                    <a16:creationId xmlns:a16="http://schemas.microsoft.com/office/drawing/2014/main" id="{788CCA70-02A5-47F7-AA11-710277895753}"/>
                  </a:ext>
                </a:extLst>
              </p:cNvPr>
              <p:cNvSpPr/>
              <p:nvPr/>
            </p:nvSpPr>
            <p:spPr>
              <a:xfrm>
                <a:off x="7541849" y="5225718"/>
                <a:ext cx="1261546" cy="972127"/>
              </a:xfrm>
              <a:prstGeom prst="verticalScroll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/>
                  <a:t>Unreviewed document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0BFFF8A-8229-46E0-852B-EEA9A6B78411}"/>
                  </a:ext>
                </a:extLst>
              </p:cNvPr>
              <p:cNvSpPr/>
              <p:nvPr/>
            </p:nvSpPr>
            <p:spPr>
              <a:xfrm>
                <a:off x="7428238" y="5026026"/>
                <a:ext cx="1436462" cy="1546272"/>
              </a:xfrm>
              <a:prstGeom prst="rect">
                <a:avLst/>
              </a:prstGeom>
              <a:noFill/>
              <a:ln>
                <a:solidFill>
                  <a:srgbClr val="6351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C252FF4-AF0E-46DD-AEE9-3F37F3DD26DB}"/>
                  </a:ext>
                </a:extLst>
              </p:cNvPr>
              <p:cNvSpPr txBox="1"/>
              <p:nvPr/>
            </p:nvSpPr>
            <p:spPr>
              <a:xfrm>
                <a:off x="7586584" y="6284155"/>
                <a:ext cx="127774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Your dev branch</a:t>
                </a:r>
              </a:p>
            </p:txBody>
          </p:sp>
        </p:grpSp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B0393E53-24EE-4B11-8F0B-F65281C506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319734" y="4116491"/>
              <a:ext cx="2108235" cy="1952447"/>
            </a:xfrm>
            <a:prstGeom prst="bentConnector3">
              <a:avLst>
                <a:gd name="adj1" fmla="val 9979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9F95041-93D8-420B-9814-5116ACAE9920}"/>
                </a:ext>
              </a:extLst>
            </p:cNvPr>
            <p:cNvSpPr txBox="1"/>
            <p:nvPr/>
          </p:nvSpPr>
          <p:spPr>
            <a:xfrm>
              <a:off x="9408418" y="5256524"/>
              <a:ext cx="17155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Open a pull request for review!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6B7432F-98EA-4BA7-9490-C53A9A349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3868" y="6053861"/>
              <a:ext cx="31157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56" name="Picture 8" descr="Review And Approve Icons - Free SVG &amp; PNG Review And Approve Images - Noun Project">
              <a:extLst>
                <a:ext uri="{FF2B5EF4-FFF2-40B4-BE49-F238E27FC236}">
                  <a16:creationId xmlns:a16="http://schemas.microsoft.com/office/drawing/2014/main" id="{DCD3894A-3EBE-4C4C-B27D-569721E17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1427" y="4850311"/>
              <a:ext cx="977370" cy="97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3C6A167-F7FA-4271-AA17-7E14578D217A}"/>
                </a:ext>
              </a:extLst>
            </p:cNvPr>
            <p:cNvSpPr txBox="1"/>
            <p:nvPr/>
          </p:nvSpPr>
          <p:spPr>
            <a:xfrm>
              <a:off x="5624192" y="5199101"/>
              <a:ext cx="17155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Reviewer approves pull request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D9E8AD1B-4238-457D-A1A3-5D543F80517F}"/>
                </a:ext>
              </a:extLst>
            </p:cNvPr>
            <p:cNvGrpSpPr/>
            <p:nvPr/>
          </p:nvGrpSpPr>
          <p:grpSpPr>
            <a:xfrm>
              <a:off x="2393551" y="4905633"/>
              <a:ext cx="1575318" cy="1689556"/>
              <a:chOff x="7428238" y="5048054"/>
              <a:chExt cx="1436462" cy="1546272"/>
            </a:xfrm>
          </p:grpSpPr>
          <p:sp>
            <p:nvSpPr>
              <p:cNvPr id="91" name="Scroll: Vertical 90">
                <a:extLst>
                  <a:ext uri="{FF2B5EF4-FFF2-40B4-BE49-F238E27FC236}">
                    <a16:creationId xmlns:a16="http://schemas.microsoft.com/office/drawing/2014/main" id="{3BBBFB06-43B4-4BFD-8075-A6117782AF69}"/>
                  </a:ext>
                </a:extLst>
              </p:cNvPr>
              <p:cNvSpPr/>
              <p:nvPr/>
            </p:nvSpPr>
            <p:spPr>
              <a:xfrm>
                <a:off x="7547652" y="5335127"/>
                <a:ext cx="1261546" cy="972127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/>
                  <a:t>New version of document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90C9014-0461-47EE-9435-A332D89A44DE}"/>
                  </a:ext>
                </a:extLst>
              </p:cNvPr>
              <p:cNvSpPr/>
              <p:nvPr/>
            </p:nvSpPr>
            <p:spPr>
              <a:xfrm>
                <a:off x="7428238" y="5048054"/>
                <a:ext cx="1436462" cy="1546272"/>
              </a:xfrm>
              <a:prstGeom prst="rect">
                <a:avLst/>
              </a:prstGeom>
              <a:noFill/>
              <a:ln>
                <a:solidFill>
                  <a:srgbClr val="6351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F8A2FA5-404B-490B-BBC3-DE9FC3556868}"/>
                  </a:ext>
                </a:extLst>
              </p:cNvPr>
              <p:cNvSpPr txBox="1"/>
              <p:nvPr/>
            </p:nvSpPr>
            <p:spPr>
              <a:xfrm>
                <a:off x="7586584" y="6284155"/>
                <a:ext cx="1277743" cy="217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Main/Production</a:t>
                </a:r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89A88F0-39D5-4DBE-8322-31F1F75E90A4}"/>
                </a:ext>
              </a:extLst>
            </p:cNvPr>
            <p:cNvSpPr txBox="1"/>
            <p:nvPr/>
          </p:nvSpPr>
          <p:spPr>
            <a:xfrm>
              <a:off x="246337" y="2090097"/>
              <a:ext cx="16060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Commit hash: a3bcde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9358BDD-A91B-41F9-ABC5-1013477BD38E}"/>
                </a:ext>
              </a:extLst>
            </p:cNvPr>
            <p:cNvSpPr txBox="1"/>
            <p:nvPr/>
          </p:nvSpPr>
          <p:spPr>
            <a:xfrm>
              <a:off x="2485107" y="4905633"/>
              <a:ext cx="16060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Commit hash: b4fhef</a:t>
              </a:r>
            </a:p>
          </p:txBody>
        </p: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A02CC5BD-BF07-4CA7-939F-499200776EE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86669" y="4396668"/>
              <a:ext cx="2395204" cy="1105059"/>
            </a:xfrm>
            <a:prstGeom prst="bentConnector3">
              <a:avLst>
                <a:gd name="adj1" fmla="val 159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3F397E9-B3E2-4F04-BC71-FD6B7F397D3F}"/>
                </a:ext>
              </a:extLst>
            </p:cNvPr>
            <p:cNvSpPr txBox="1"/>
            <p:nvPr/>
          </p:nvSpPr>
          <p:spPr>
            <a:xfrm>
              <a:off x="133001" y="4062203"/>
              <a:ext cx="100144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New version overwrites old version. Ready for new developer to pull!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592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146" y="332495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How Git Stores Your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14</a:t>
            </a:fld>
            <a:endParaRPr lang="en-GB"/>
          </a:p>
        </p:txBody>
      </p:sp>
      <p:pic>
        <p:nvPicPr>
          <p:cNvPr id="3076" name="Picture 4" descr="Git Branches System Flowchart | Flowchart Template">
            <a:extLst>
              <a:ext uri="{FF2B5EF4-FFF2-40B4-BE49-F238E27FC236}">
                <a16:creationId xmlns:a16="http://schemas.microsoft.com/office/drawing/2014/main" id="{DC5F6D7C-7DDF-47FF-BFA6-099412BBF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3" y="1305401"/>
            <a:ext cx="5765269" cy="446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5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Standard </a:t>
            </a:r>
            <a:r>
              <a:rPr lang="en-GB" sz="3200" b="1" u="sng" dirty="0" err="1"/>
              <a:t>Github</a:t>
            </a:r>
            <a:r>
              <a:rPr lang="en-GB" sz="3200" u="sng" dirty="0"/>
              <a:t> Files</a:t>
            </a:r>
            <a:endParaRPr lang="en-GB" sz="3200" b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597111" y="1449601"/>
            <a:ext cx="51178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All GitHub Repositories should contain the following: 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README markdown file.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.</a:t>
            </a:r>
            <a:r>
              <a:rPr lang="en-GB" dirty="0" err="1"/>
              <a:t>gitignore</a:t>
            </a:r>
            <a:r>
              <a:rPr lang="en-GB" dirty="0"/>
              <a:t> file.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.</a:t>
            </a:r>
            <a:r>
              <a:rPr lang="en-GB" dirty="0" err="1"/>
              <a:t>gitkeep</a:t>
            </a:r>
            <a:r>
              <a:rPr lang="en-GB" dirty="0"/>
              <a:t> file to create an empty folder if required.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.</a:t>
            </a:r>
            <a:r>
              <a:rPr lang="en-GB" b="1" dirty="0" err="1"/>
              <a:t>gitignore</a:t>
            </a:r>
            <a:r>
              <a:rPr lang="en-GB" b="1" dirty="0"/>
              <a:t> tells Git which files and folders should not be stored in a repository. Examples include credentials, cached data, log files (which could expose sensitive information) and local developer settings.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098" name="Picture 2" descr="Webinar: Patient Health Data and Protecting Privacy During Research">
            <a:extLst>
              <a:ext uri="{FF2B5EF4-FFF2-40B4-BE49-F238E27FC236}">
                <a16:creationId xmlns:a16="http://schemas.microsoft.com/office/drawing/2014/main" id="{877EE04D-FD86-43B3-B71D-DCF8FADBA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7" t="18535" r="21682" b="14117"/>
          <a:stretch/>
        </p:blipFill>
        <p:spPr bwMode="auto">
          <a:xfrm>
            <a:off x="6764868" y="2040467"/>
            <a:ext cx="3817484" cy="248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&quot;Not Allowed&quot; Symbol 8">
            <a:extLst>
              <a:ext uri="{FF2B5EF4-FFF2-40B4-BE49-F238E27FC236}">
                <a16:creationId xmlns:a16="http://schemas.microsoft.com/office/drawing/2014/main" id="{D8E2CD29-5DE7-42F2-88B5-43D53108668B}"/>
              </a:ext>
            </a:extLst>
          </p:cNvPr>
          <p:cNvSpPr/>
          <p:nvPr/>
        </p:nvSpPr>
        <p:spPr>
          <a:xfrm>
            <a:off x="6155267" y="1063082"/>
            <a:ext cx="5117889" cy="4897451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28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16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6588"/>
            <a:ext cx="3436838" cy="498598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Exercise Checkpoint 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 fontScale="32500" lnSpcReduction="20000"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779D3-41A0-4920-B5C8-8AA53282B9B8}"/>
              </a:ext>
            </a:extLst>
          </p:cNvPr>
          <p:cNvSpPr txBox="1"/>
          <p:nvPr/>
        </p:nvSpPr>
        <p:spPr>
          <a:xfrm>
            <a:off x="609600" y="1611755"/>
            <a:ext cx="568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Create your feature branch and fill in your README.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In </a:t>
            </a:r>
            <a:r>
              <a:rPr lang="en-GB" dirty="0" err="1">
                <a:solidFill>
                  <a:schemeClr val="bg1"/>
                </a:solidFill>
              </a:rPr>
              <a:t>Github</a:t>
            </a:r>
            <a:r>
              <a:rPr lang="en-GB" dirty="0">
                <a:solidFill>
                  <a:schemeClr val="bg1"/>
                </a:solidFill>
              </a:rPr>
              <a:t>, create your own feature branch.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  <a:latin typeface="Mona Sans VF"/>
              </a:rPr>
              <a:t>Open your README in your participant folder and fill this in.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  <a:latin typeface="Mona Sans VF"/>
              </a:rPr>
              <a:t>Stage and commit this with the message: Fill in my area README.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>
              <a:solidFill>
                <a:schemeClr val="bg1"/>
              </a:solidFill>
              <a:latin typeface="Mona Sans VF"/>
            </a:endParaRPr>
          </a:p>
          <a:p>
            <a:pPr marL="800100" lvl="1" indent="-342900">
              <a:buFont typeface="+mj-lt"/>
              <a:buAutoNum type="arabicPeriod"/>
            </a:pPr>
            <a:endParaRPr lang="en-GB" dirty="0">
              <a:solidFill>
                <a:schemeClr val="bg1"/>
              </a:solidFill>
              <a:latin typeface="Mona Sans VF"/>
            </a:endParaRPr>
          </a:p>
          <a:p>
            <a:pPr lvl="1"/>
            <a:endParaRPr lang="en-GB" dirty="0">
              <a:solidFill>
                <a:schemeClr val="bg1"/>
              </a:solidFill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768163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3" y="2427434"/>
            <a:ext cx="10007063" cy="830997"/>
          </a:xfrm>
        </p:spPr>
        <p:txBody>
          <a:bodyPr/>
          <a:lstStyle/>
          <a:p>
            <a:r>
              <a:rPr lang="en-GB" dirty="0"/>
              <a:t>Other GitHub Features</a:t>
            </a:r>
          </a:p>
        </p:txBody>
      </p:sp>
    </p:spTree>
    <p:extLst>
      <p:ext uri="{BB962C8B-B14F-4D97-AF65-F5344CB8AC3E}">
        <p14:creationId xmlns:p14="http://schemas.microsoft.com/office/powerpoint/2010/main" val="1763569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Issues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18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444711" y="1314134"/>
            <a:ext cx="48046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Github</a:t>
            </a:r>
            <a:r>
              <a:rPr lang="en-GB" dirty="0"/>
              <a:t> Issues are digital task cards used to track work, bugs and request improvements/suggestions within a software project.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Issues can be linked to agentic working – once an issue has been raised, an agent can then complete the work and open up a pull request for a human to review.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Encourages collaboration and better organisation – provides history of decisions and assignment of work to team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Templates can be set up to standardise requests/bug issue forms.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2CF61-AF29-4E2D-845B-672428F07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272" y="1536700"/>
            <a:ext cx="5716687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5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Projects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19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444711" y="1314134"/>
            <a:ext cx="95036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Resembles a Kanban/</a:t>
            </a:r>
            <a:r>
              <a:rPr lang="en-GB" dirty="0" err="1"/>
              <a:t>devops</a:t>
            </a:r>
            <a:r>
              <a:rPr lang="en-GB" dirty="0"/>
              <a:t> board that managers can link issues/tasks to key milestones and task phases.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Automatically move and assign tasks to users using agents/</a:t>
            </a:r>
            <a:r>
              <a:rPr lang="en-GB" dirty="0" err="1"/>
              <a:t>Github</a:t>
            </a:r>
            <a:r>
              <a:rPr lang="en-GB" dirty="0"/>
              <a:t> actions.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Allows for work and delivery in one place with real-time progress tracking.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Supports agile way of working with prioritisation and sprint tracking.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36F9E-12B6-40F9-8232-D059D1735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17" y="4259815"/>
            <a:ext cx="10545445" cy="128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Agents and 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20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681778" y="1458067"/>
            <a:ext cx="95036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Actions – automated tasks that follow pre-defined instructions by users, e.g.; running data quality checks, sending an email,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Agents – custom built AI workers that can automate recurring business activities and free up staff to work on more strategic work.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algn="ctr"/>
            <a:r>
              <a:rPr lang="en-GB" b="1" dirty="0"/>
              <a:t>An action automates a task. An agent automates a responsibility.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DA29B7-D69A-44B8-8319-269529E26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196" y="4305310"/>
            <a:ext cx="2376203" cy="1494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8AD209-FE1C-42D6-B339-10D6BB17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725" y="4368801"/>
            <a:ext cx="2859271" cy="143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0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3" y="2427434"/>
            <a:ext cx="7401885" cy="1661993"/>
          </a:xfrm>
        </p:spPr>
        <p:txBody>
          <a:bodyPr/>
          <a:lstStyle/>
          <a:p>
            <a:r>
              <a:rPr lang="en-GB" dirty="0"/>
              <a:t>Using </a:t>
            </a:r>
            <a:r>
              <a:rPr lang="en-GB" dirty="0" err="1"/>
              <a:t>CoPilot</a:t>
            </a:r>
            <a:r>
              <a:rPr lang="en-GB" dirty="0"/>
              <a:t> Effectively</a:t>
            </a:r>
          </a:p>
        </p:txBody>
      </p:sp>
    </p:spTree>
    <p:extLst>
      <p:ext uri="{BB962C8B-B14F-4D97-AF65-F5344CB8AC3E}">
        <p14:creationId xmlns:p14="http://schemas.microsoft.com/office/powerpoint/2010/main" val="816599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Using </a:t>
            </a:r>
            <a:r>
              <a:rPr lang="en-GB" sz="3200" b="1" u="sng" dirty="0" err="1"/>
              <a:t>CoPilot</a:t>
            </a:r>
            <a:r>
              <a:rPr lang="en-GB" sz="3200" b="1" u="sng" dirty="0"/>
              <a:t> Effectively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22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444711" y="1314134"/>
            <a:ext cx="95036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Functions the same as 365 </a:t>
            </a:r>
            <a:r>
              <a:rPr lang="en-GB" dirty="0" err="1"/>
              <a:t>CoPilot</a:t>
            </a:r>
            <a:r>
              <a:rPr lang="en-GB" dirty="0"/>
              <a:t>.</a:t>
            </a:r>
          </a:p>
          <a:p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Enables users to ground prompts in specific codebases and enables users to pin resources/files to the query window to generate more relevant and accurate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organisation being an enterprise allows users to select which language model to use for query and development.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GitHub </a:t>
            </a:r>
            <a:r>
              <a:rPr lang="en-GB" dirty="0" err="1"/>
              <a:t>CoPilot</a:t>
            </a:r>
            <a:r>
              <a:rPr lang="en-GB" dirty="0"/>
              <a:t> allows for agentic working and planning projects whereas 365 </a:t>
            </a:r>
            <a:r>
              <a:rPr lang="en-GB" dirty="0" err="1"/>
              <a:t>CoPilot</a:t>
            </a:r>
            <a:r>
              <a:rPr lang="en-GB" dirty="0"/>
              <a:t> can only answer questions.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Widely accessible within </a:t>
            </a:r>
            <a:r>
              <a:rPr lang="en-GB" dirty="0" err="1"/>
              <a:t>Github</a:t>
            </a:r>
            <a:r>
              <a:rPr lang="en-GB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42269B-0B38-415F-928C-BDD6BE3F3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2" y="5257387"/>
            <a:ext cx="11827935" cy="7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19461-1438-426A-83DE-E382B446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CDDF79-451E-491C-8005-C3E599C1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Using </a:t>
            </a:r>
            <a:r>
              <a:rPr lang="en-GB" sz="3200" b="1" u="sng" dirty="0" err="1"/>
              <a:t>CoPilot</a:t>
            </a:r>
            <a:r>
              <a:rPr lang="en-GB" sz="3200" b="1" u="sng" dirty="0"/>
              <a:t> Effectively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6EE99-FA82-4B98-AA7D-A923F512E5AA}"/>
              </a:ext>
            </a:extLst>
          </p:cNvPr>
          <p:cNvSpPr txBox="1"/>
          <p:nvPr/>
        </p:nvSpPr>
        <p:spPr>
          <a:xfrm>
            <a:off x="444711" y="1314134"/>
            <a:ext cx="9503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Get better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Give context – the columns, the metric definition and the output you want.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Work in small steps and iterate.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Ask </a:t>
            </a:r>
            <a:r>
              <a:rPr lang="en-GB" dirty="0" err="1"/>
              <a:t>CoPilot</a:t>
            </a:r>
            <a:r>
              <a:rPr lang="en-GB" dirty="0"/>
              <a:t> to explain code you do not understand.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4E387BB3-0A01-47DA-AE9C-074848F94DDC}"/>
              </a:ext>
            </a:extLst>
          </p:cNvPr>
          <p:cNvSpPr/>
          <p:nvPr/>
        </p:nvSpPr>
        <p:spPr>
          <a:xfrm>
            <a:off x="2387602" y="3689527"/>
            <a:ext cx="3132666" cy="227573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B385B"/>
                </a:solidFill>
              </a:rPr>
              <a:t>Give me SQL.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C53E747E-AEFD-4F26-868B-80FF370B1932}"/>
              </a:ext>
            </a:extLst>
          </p:cNvPr>
          <p:cNvSpPr/>
          <p:nvPr/>
        </p:nvSpPr>
        <p:spPr>
          <a:xfrm>
            <a:off x="6413601" y="3748795"/>
            <a:ext cx="2975932" cy="2275733"/>
          </a:xfrm>
          <a:prstGeom prst="wedgeEllipseCallout">
            <a:avLst>
              <a:gd name="adj1" fmla="val 45469"/>
              <a:gd name="adj2" fmla="val 64361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B385B"/>
                </a:solidFill>
              </a:rPr>
              <a:t>Create a SQL snippet using the file *** to determine how many patients were in A&amp;E last month.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9D0DD-B35D-4128-874F-35A316B52666}"/>
              </a:ext>
            </a:extLst>
          </p:cNvPr>
          <p:cNvSpPr txBox="1"/>
          <p:nvPr/>
        </p:nvSpPr>
        <p:spPr>
          <a:xfrm>
            <a:off x="4250266" y="3178878"/>
            <a:ext cx="481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You are the reviewer! Not the agent!</a:t>
            </a:r>
          </a:p>
        </p:txBody>
      </p:sp>
    </p:spTree>
    <p:extLst>
      <p:ext uri="{BB962C8B-B14F-4D97-AF65-F5344CB8AC3E}">
        <p14:creationId xmlns:p14="http://schemas.microsoft.com/office/powerpoint/2010/main" val="262788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19461-1438-426A-83DE-E382B446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CDDF79-451E-491C-8005-C3E599C1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Using </a:t>
            </a:r>
            <a:r>
              <a:rPr lang="en-GB" sz="3200" b="1" u="sng" dirty="0" err="1"/>
              <a:t>CoPilot</a:t>
            </a:r>
            <a:r>
              <a:rPr lang="en-GB" sz="3200" b="1" u="sng" dirty="0"/>
              <a:t> Effectively</a:t>
            </a:r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5050632F-9678-42A1-9DB8-DF0C387D14C1}"/>
              </a:ext>
            </a:extLst>
          </p:cNvPr>
          <p:cNvSpPr/>
          <p:nvPr/>
        </p:nvSpPr>
        <p:spPr>
          <a:xfrm>
            <a:off x="1947331" y="1803400"/>
            <a:ext cx="1464733" cy="1447800"/>
          </a:xfrm>
          <a:prstGeom prst="smileyFac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EB78D-6787-4D0A-8CB6-ABC9D68FBD2A}"/>
              </a:ext>
            </a:extLst>
          </p:cNvPr>
          <p:cNvSpPr txBox="1"/>
          <p:nvPr/>
        </p:nvSpPr>
        <p:spPr>
          <a:xfrm>
            <a:off x="1344187" y="3518963"/>
            <a:ext cx="26710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Standard </a:t>
            </a:r>
            <a:r>
              <a:rPr lang="en-GB" dirty="0" err="1"/>
              <a:t>CoPilot</a:t>
            </a:r>
            <a:r>
              <a:rPr lang="en-GB" dirty="0"/>
              <a:t> response to prompts.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“What is this SQL script doing?”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CAFB85C-F6B2-4252-A800-C5205D6A8BDD}"/>
              </a:ext>
            </a:extLst>
          </p:cNvPr>
          <p:cNvSpPr/>
          <p:nvPr/>
        </p:nvSpPr>
        <p:spPr>
          <a:xfrm>
            <a:off x="5003800" y="2362200"/>
            <a:ext cx="2362200" cy="889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17C36C29-912A-497C-87E8-EF34007C3BA8}"/>
              </a:ext>
            </a:extLst>
          </p:cNvPr>
          <p:cNvSpPr/>
          <p:nvPr/>
        </p:nvSpPr>
        <p:spPr>
          <a:xfrm>
            <a:off x="3565471" y="1803400"/>
            <a:ext cx="899476" cy="855133"/>
          </a:xfrm>
          <a:prstGeom prst="wedgeEllipseCallout">
            <a:avLst>
              <a:gd name="adj1" fmla="val -104608"/>
              <a:gd name="adj2" fmla="val 75371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464AC-08AA-4D76-95C6-DB702F8DF557}"/>
              </a:ext>
            </a:extLst>
          </p:cNvPr>
          <p:cNvSpPr txBox="1"/>
          <p:nvPr/>
        </p:nvSpPr>
        <p:spPr>
          <a:xfrm>
            <a:off x="7685721" y="3361266"/>
            <a:ext cx="26710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Agentic </a:t>
            </a:r>
            <a:r>
              <a:rPr lang="en-GB" dirty="0" err="1"/>
              <a:t>CoPilot</a:t>
            </a:r>
            <a:r>
              <a:rPr lang="en-GB" dirty="0"/>
              <a:t> can take a prompt, plan steps and complete actions to achieve this.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“Make my SQL script more efficient.”</a:t>
            </a:r>
          </a:p>
        </p:txBody>
      </p:sp>
      <p:sp>
        <p:nvSpPr>
          <p:cNvPr id="14" name="Smiley Face 13">
            <a:extLst>
              <a:ext uri="{FF2B5EF4-FFF2-40B4-BE49-F238E27FC236}">
                <a16:creationId xmlns:a16="http://schemas.microsoft.com/office/drawing/2014/main" id="{54261C53-DD3B-4DEB-AF63-9752CC9409AD}"/>
              </a:ext>
            </a:extLst>
          </p:cNvPr>
          <p:cNvSpPr/>
          <p:nvPr/>
        </p:nvSpPr>
        <p:spPr>
          <a:xfrm>
            <a:off x="8288865" y="1803400"/>
            <a:ext cx="1464733" cy="1447800"/>
          </a:xfrm>
          <a:prstGeom prst="smileyFac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Graphic 16" descr="Muscular arm with solid fill">
            <a:extLst>
              <a:ext uri="{FF2B5EF4-FFF2-40B4-BE49-F238E27FC236}">
                <a16:creationId xmlns:a16="http://schemas.microsoft.com/office/drawing/2014/main" id="{65FC4F21-BB02-4A19-AA7D-1C2660859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2785" y="19653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3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25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6588"/>
            <a:ext cx="3436838" cy="498598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Exercise Checkpoint 3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 fontScale="32500" lnSpcReduction="20000"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779D3-41A0-4920-B5C8-8AA53282B9B8}"/>
              </a:ext>
            </a:extLst>
          </p:cNvPr>
          <p:cNvSpPr txBox="1"/>
          <p:nvPr/>
        </p:nvSpPr>
        <p:spPr>
          <a:xfrm>
            <a:off x="609600" y="1611755"/>
            <a:ext cx="5689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In your participant folder in your feature branch, there is a .</a:t>
            </a:r>
            <a:r>
              <a:rPr lang="en-GB" b="1" dirty="0" err="1">
                <a:solidFill>
                  <a:schemeClr val="bg1"/>
                </a:solidFill>
              </a:rPr>
              <a:t>py</a:t>
            </a:r>
            <a:r>
              <a:rPr lang="en-GB" b="1" dirty="0">
                <a:solidFill>
                  <a:schemeClr val="bg1"/>
                </a:solidFill>
              </a:rPr>
              <a:t> script. Open this and work with </a:t>
            </a:r>
            <a:r>
              <a:rPr lang="en-GB" b="1" dirty="0" err="1">
                <a:solidFill>
                  <a:schemeClr val="bg1"/>
                </a:solidFill>
              </a:rPr>
              <a:t>CoPilot</a:t>
            </a:r>
            <a:r>
              <a:rPr lang="en-GB" b="1" dirty="0">
                <a:solidFill>
                  <a:schemeClr val="bg1"/>
                </a:solidFill>
              </a:rPr>
              <a:t> to understand and optimise the script.</a:t>
            </a:r>
          </a:p>
          <a:p>
            <a:pPr lvl="1"/>
            <a:endParaRPr lang="en-GB" b="1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n-GB" b="1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Open the PY file in your feature branch in </a:t>
            </a:r>
            <a:r>
              <a:rPr lang="en-GB" dirty="0" err="1">
                <a:solidFill>
                  <a:schemeClr val="bg1"/>
                </a:solidFill>
              </a:rPr>
              <a:t>Github</a:t>
            </a:r>
            <a:r>
              <a:rPr lang="en-GB" dirty="0">
                <a:solidFill>
                  <a:schemeClr val="bg1"/>
                </a:solidFill>
              </a:rPr>
              <a:t>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Use the following prompt within </a:t>
            </a:r>
            <a:r>
              <a:rPr lang="en-GB" dirty="0" err="1">
                <a:solidFill>
                  <a:schemeClr val="bg1"/>
                </a:solidFill>
              </a:rPr>
              <a:t>CoPilot</a:t>
            </a:r>
            <a:r>
              <a:rPr lang="en-GB" dirty="0">
                <a:solidFill>
                  <a:schemeClr val="bg1"/>
                </a:solidFill>
              </a:rPr>
              <a:t>: </a:t>
            </a:r>
            <a:r>
              <a:rPr lang="en-GB" i="1" dirty="0">
                <a:solidFill>
                  <a:srgbClr val="2DAF75"/>
                </a:solidFill>
              </a:rPr>
              <a:t>please explain what this file is doing. </a:t>
            </a:r>
            <a:endParaRPr lang="en-GB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  <a:latin typeface="Mona Sans VF"/>
              </a:rPr>
              <a:t>Ask </a:t>
            </a:r>
            <a:r>
              <a:rPr lang="en-GB" dirty="0" err="1">
                <a:solidFill>
                  <a:schemeClr val="bg1"/>
                </a:solidFill>
                <a:latin typeface="Mona Sans VF"/>
              </a:rPr>
              <a:t>CoPilot</a:t>
            </a:r>
            <a:r>
              <a:rPr lang="en-GB" dirty="0">
                <a:solidFill>
                  <a:schemeClr val="bg1"/>
                </a:solidFill>
                <a:latin typeface="Mona Sans VF"/>
              </a:rPr>
              <a:t> to make suggestions on how to improve the file.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  <a:latin typeface="Mona Sans VF"/>
              </a:rPr>
              <a:t>Use the following prompt in Agent Mode to generate a technical document: </a:t>
            </a:r>
            <a:r>
              <a:rPr lang="en-GB" i="1" dirty="0">
                <a:solidFill>
                  <a:srgbClr val="2DAF75"/>
                </a:solidFill>
                <a:latin typeface="Mona Sans VF"/>
              </a:rPr>
              <a:t>create a technical document to explain this file.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  <a:latin typeface="Mona Sans VF"/>
              </a:rPr>
              <a:t>The agent will potentially produce this within its new feature branch. Open a pull request to pull these changes into your feature branch.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>
              <a:solidFill>
                <a:schemeClr val="bg1"/>
              </a:solidFill>
              <a:latin typeface="Mona Sans VF"/>
            </a:endParaRPr>
          </a:p>
          <a:p>
            <a:pPr marL="800100" lvl="1" indent="-342900">
              <a:buFont typeface="+mj-lt"/>
              <a:buAutoNum type="arabicPeriod"/>
            </a:pPr>
            <a:endParaRPr lang="en-GB" dirty="0">
              <a:solidFill>
                <a:schemeClr val="bg1"/>
              </a:solidFill>
              <a:latin typeface="Mona Sans VF"/>
            </a:endParaRPr>
          </a:p>
          <a:p>
            <a:pPr lvl="1"/>
            <a:endParaRPr lang="en-GB" dirty="0">
              <a:solidFill>
                <a:schemeClr val="bg1"/>
              </a:solidFill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3870304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3" y="2427434"/>
            <a:ext cx="7401885" cy="830997"/>
          </a:xfrm>
        </p:spPr>
        <p:txBody>
          <a:bodyPr/>
          <a:lstStyle/>
          <a:p>
            <a:r>
              <a:rPr lang="en-GB" dirty="0" err="1"/>
              <a:t>Codespaces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3802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 err="1"/>
              <a:t>Codespaces</a:t>
            </a:r>
            <a:endParaRPr lang="en-GB" sz="3200" b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27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444711" y="1314134"/>
            <a:ext cx="95036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VS Code within the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ready-to-use development environment, opened from a repository in your browser.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Python packages and extensions are already pre-installed.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Integrated with </a:t>
            </a:r>
            <a:r>
              <a:rPr lang="en-GB" dirty="0" err="1"/>
              <a:t>CoPilot</a:t>
            </a:r>
            <a:r>
              <a:rPr lang="en-GB" dirty="0"/>
              <a:t> and </a:t>
            </a:r>
            <a:r>
              <a:rPr lang="en-GB" dirty="0" err="1"/>
              <a:t>Github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b="1" dirty="0"/>
              <a:t>Why use compared to local VS code?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Everyone in the team gets the same environment.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Great for onboarding, quick fixes and reviewing pull requests in one place. </a:t>
            </a:r>
          </a:p>
        </p:txBody>
      </p:sp>
      <p:pic>
        <p:nvPicPr>
          <p:cNvPr id="6" name="codespace_arch.png" descr="Diagram: a browser connects to a Codespace built from the devcontainer file in the repository">
            <a:extLst>
              <a:ext uri="{FF2B5EF4-FFF2-40B4-BE49-F238E27FC236}">
                <a16:creationId xmlns:a16="http://schemas.microsoft.com/office/drawing/2014/main" id="{49982548-BE8A-4D89-922E-546907C5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305" y="3602960"/>
            <a:ext cx="3770694" cy="282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6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 err="1"/>
              <a:t>Codespaces</a:t>
            </a:r>
            <a:endParaRPr lang="en-GB" sz="3200" b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28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D14C2-A169-4D7D-8E9D-FA85404B5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78" y="2165384"/>
            <a:ext cx="5202556" cy="320866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C7E4C8-55F2-4ACF-B44F-2EEA112757D6}"/>
              </a:ext>
            </a:extLst>
          </p:cNvPr>
          <p:cNvCxnSpPr/>
          <p:nvPr/>
        </p:nvCxnSpPr>
        <p:spPr>
          <a:xfrm flipV="1">
            <a:off x="5926667" y="1879600"/>
            <a:ext cx="1701800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A722A9-377D-45F8-BC70-F071F2F43069}"/>
              </a:ext>
            </a:extLst>
          </p:cNvPr>
          <p:cNvCxnSpPr>
            <a:cxnSpLocks/>
          </p:cNvCxnSpPr>
          <p:nvPr/>
        </p:nvCxnSpPr>
        <p:spPr>
          <a:xfrm>
            <a:off x="6096000" y="4572000"/>
            <a:ext cx="1625600" cy="905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0615A2-E42F-4486-BD12-B7AA2C220AC2}"/>
              </a:ext>
            </a:extLst>
          </p:cNvPr>
          <p:cNvSpPr/>
          <p:nvPr/>
        </p:nvSpPr>
        <p:spPr>
          <a:xfrm>
            <a:off x="8009467" y="1261533"/>
            <a:ext cx="27432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Will open in separate browser window for users without VS Code.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224040-E4E4-473A-848A-73DFF61E5A5F}"/>
              </a:ext>
            </a:extLst>
          </p:cNvPr>
          <p:cNvSpPr/>
          <p:nvPr/>
        </p:nvSpPr>
        <p:spPr>
          <a:xfrm>
            <a:off x="8009467" y="5101167"/>
            <a:ext cx="27432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 be accessed through VS Code locally.</a:t>
            </a:r>
          </a:p>
        </p:txBody>
      </p:sp>
    </p:spTree>
    <p:extLst>
      <p:ext uri="{BB962C8B-B14F-4D97-AF65-F5344CB8AC3E}">
        <p14:creationId xmlns:p14="http://schemas.microsoft.com/office/powerpoint/2010/main" val="959260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 err="1"/>
              <a:t>Codespaces</a:t>
            </a:r>
            <a:endParaRPr lang="en-GB" sz="3200" b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29</a:t>
            </a:fld>
            <a:endParaRPr lang="en-GB"/>
          </a:p>
        </p:txBody>
      </p:sp>
      <p:pic>
        <p:nvPicPr>
          <p:cNvPr id="11" name="sde_fit.png" descr="Diagram: code moves from GitHub to the Secure Data Environment; real data never leaves it">
            <a:extLst>
              <a:ext uri="{FF2B5EF4-FFF2-40B4-BE49-F238E27FC236}">
                <a16:creationId xmlns:a16="http://schemas.microsoft.com/office/drawing/2014/main" id="{7CC9D1C3-7383-4B34-B40C-23D046CA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78" y="1653560"/>
            <a:ext cx="5583291" cy="41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23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3" y="2427434"/>
            <a:ext cx="10007063" cy="1661993"/>
          </a:xfrm>
        </p:spPr>
        <p:txBody>
          <a:bodyPr/>
          <a:lstStyle/>
          <a:p>
            <a:r>
              <a:rPr lang="en-GB" dirty="0" err="1"/>
              <a:t>Codespace</a:t>
            </a:r>
            <a:r>
              <a:rPr lang="en-GB" dirty="0"/>
              <a:t> Walkthrough</a:t>
            </a:r>
          </a:p>
        </p:txBody>
      </p:sp>
    </p:spTree>
    <p:extLst>
      <p:ext uri="{BB962C8B-B14F-4D97-AF65-F5344CB8AC3E}">
        <p14:creationId xmlns:p14="http://schemas.microsoft.com/office/powerpoint/2010/main" val="1236093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31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6588"/>
            <a:ext cx="3436838" cy="498598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Exercise Checkpoint 4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6EDB-FD47-0120-E2F7-AE5FAB5706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 fontScale="32500" lnSpcReduction="20000"/>
          </a:bodyPr>
          <a:lstStyle/>
          <a:p>
            <a:pPr lvl="1"/>
            <a:br>
              <a:rPr lang="en-GB" dirty="0"/>
            </a:br>
            <a:endParaRPr lang="en-GB" dirty="0"/>
          </a:p>
          <a:p>
            <a:pPr marL="285750" indent="-285750">
              <a:buChar char="•"/>
            </a:pPr>
            <a:endParaRPr lang="en-GB" dirty="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779D3-41A0-4920-B5C8-8AA53282B9B8}"/>
              </a:ext>
            </a:extLst>
          </p:cNvPr>
          <p:cNvSpPr txBox="1"/>
          <p:nvPr/>
        </p:nvSpPr>
        <p:spPr>
          <a:xfrm>
            <a:off x="609600" y="1611755"/>
            <a:ext cx="56896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Open up a </a:t>
            </a:r>
            <a:r>
              <a:rPr lang="en-GB" b="1" dirty="0" err="1">
                <a:solidFill>
                  <a:schemeClr val="bg1"/>
                </a:solidFill>
              </a:rPr>
              <a:t>codespace</a:t>
            </a:r>
            <a:r>
              <a:rPr lang="en-GB" b="1" dirty="0">
                <a:solidFill>
                  <a:schemeClr val="bg1"/>
                </a:solidFill>
              </a:rPr>
              <a:t> in your feature branch and use </a:t>
            </a:r>
            <a:r>
              <a:rPr lang="en-GB" b="1" dirty="0" err="1">
                <a:solidFill>
                  <a:schemeClr val="bg1"/>
                </a:solidFill>
              </a:rPr>
              <a:t>CoPilot</a:t>
            </a:r>
            <a:r>
              <a:rPr lang="en-GB" b="1" dirty="0">
                <a:solidFill>
                  <a:schemeClr val="bg1"/>
                </a:solidFill>
              </a:rPr>
              <a:t> as an agent to help troubleshoot a badly written SQL script.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Create a new </a:t>
            </a:r>
            <a:r>
              <a:rPr lang="en-GB" dirty="0" err="1">
                <a:solidFill>
                  <a:schemeClr val="bg1"/>
                </a:solidFill>
              </a:rPr>
              <a:t>codespace</a:t>
            </a:r>
            <a:r>
              <a:rPr lang="en-GB" dirty="0">
                <a:solidFill>
                  <a:schemeClr val="bg1"/>
                </a:solidFill>
              </a:rPr>
              <a:t> in your feature branch in GitHub. Your </a:t>
            </a:r>
            <a:r>
              <a:rPr lang="en-GB" dirty="0" err="1">
                <a:solidFill>
                  <a:schemeClr val="bg1"/>
                </a:solidFill>
              </a:rPr>
              <a:t>codespace</a:t>
            </a:r>
            <a:r>
              <a:rPr lang="en-GB" dirty="0">
                <a:solidFill>
                  <a:schemeClr val="bg1"/>
                </a:solidFill>
              </a:rPr>
              <a:t> URL is randomly generated so will not be the same as your neighbour!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In your participant folder, there is a .</a:t>
            </a:r>
            <a:r>
              <a:rPr lang="en-GB" dirty="0" err="1">
                <a:solidFill>
                  <a:schemeClr val="bg1"/>
                </a:solidFill>
              </a:rPr>
              <a:t>sql</a:t>
            </a:r>
            <a:r>
              <a:rPr lang="en-GB" dirty="0">
                <a:solidFill>
                  <a:schemeClr val="bg1"/>
                </a:solidFill>
              </a:rPr>
              <a:t> file. Use </a:t>
            </a:r>
            <a:r>
              <a:rPr lang="en-GB" dirty="0" err="1">
                <a:solidFill>
                  <a:schemeClr val="bg1"/>
                </a:solidFill>
              </a:rPr>
              <a:t>CoPilot</a:t>
            </a:r>
            <a:r>
              <a:rPr lang="en-GB" dirty="0">
                <a:solidFill>
                  <a:schemeClr val="bg1"/>
                </a:solidFill>
              </a:rPr>
              <a:t> in Ask mode to review the file.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Revert </a:t>
            </a:r>
            <a:r>
              <a:rPr lang="en-GB" dirty="0" err="1">
                <a:solidFill>
                  <a:schemeClr val="bg1"/>
                </a:solidFill>
              </a:rPr>
              <a:t>CoPilot</a:t>
            </a:r>
            <a:r>
              <a:rPr lang="en-GB" dirty="0">
                <a:solidFill>
                  <a:schemeClr val="bg1"/>
                </a:solidFill>
              </a:rPr>
              <a:t> into Agent mode and prompt it to fix the errors in your file.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Ask </a:t>
            </a:r>
            <a:r>
              <a:rPr lang="en-GB" dirty="0" err="1">
                <a:solidFill>
                  <a:schemeClr val="bg1"/>
                </a:solidFill>
              </a:rPr>
              <a:t>CoPilot</a:t>
            </a:r>
            <a:r>
              <a:rPr lang="en-GB" dirty="0">
                <a:solidFill>
                  <a:schemeClr val="bg1"/>
                </a:solidFill>
              </a:rPr>
              <a:t> to generate a document to explain the SQL code.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Commit and push your changes out of the </a:t>
            </a:r>
            <a:r>
              <a:rPr lang="en-GB" dirty="0" err="1">
                <a:solidFill>
                  <a:schemeClr val="bg1"/>
                </a:solidFill>
              </a:rPr>
              <a:t>codespace</a:t>
            </a:r>
            <a:r>
              <a:rPr lang="en-GB" dirty="0">
                <a:solidFill>
                  <a:schemeClr val="bg1"/>
                </a:solidFill>
              </a:rPr>
              <a:t> into GitHub. 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n-GB" b="1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n-GB" dirty="0">
              <a:solidFill>
                <a:schemeClr val="bg1"/>
              </a:solidFill>
              <a:latin typeface="Mona Sans VF"/>
            </a:endParaRPr>
          </a:p>
          <a:p>
            <a:pPr marL="800100" lvl="1" indent="-342900">
              <a:buFont typeface="+mj-lt"/>
              <a:buAutoNum type="arabicPeriod"/>
            </a:pPr>
            <a:endParaRPr lang="en-GB" dirty="0">
              <a:solidFill>
                <a:schemeClr val="bg1"/>
              </a:solidFill>
              <a:latin typeface="Mona Sans VF"/>
            </a:endParaRPr>
          </a:p>
          <a:p>
            <a:pPr lvl="1"/>
            <a:endParaRPr lang="en-GB" dirty="0">
              <a:solidFill>
                <a:schemeClr val="bg1"/>
              </a:solidFill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345070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3" y="2427434"/>
            <a:ext cx="10007063" cy="830997"/>
          </a:xfrm>
        </p:spPr>
        <p:txBody>
          <a:bodyPr/>
          <a:lstStyle/>
          <a:p>
            <a:r>
              <a:rPr lang="en-GB" dirty="0"/>
              <a:t>Other GitHub products</a:t>
            </a:r>
          </a:p>
        </p:txBody>
      </p:sp>
    </p:spTree>
    <p:extLst>
      <p:ext uri="{BB962C8B-B14F-4D97-AF65-F5344CB8AC3E}">
        <p14:creationId xmlns:p14="http://schemas.microsoft.com/office/powerpoint/2010/main" val="1327175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F58-1B02-2B5E-16AB-F41892BB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11" y="427020"/>
            <a:ext cx="8343789" cy="636062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Useful Resources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1F9B-D9FC-06E8-07A8-52FCF507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33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5C012-3404-4C60-A760-764C43E567DF}"/>
              </a:ext>
            </a:extLst>
          </p:cNvPr>
          <p:cNvSpPr txBox="1"/>
          <p:nvPr/>
        </p:nvSpPr>
        <p:spPr>
          <a:xfrm>
            <a:off x="444711" y="1314134"/>
            <a:ext cx="95036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should have access now to the full </a:t>
            </a:r>
            <a:r>
              <a:rPr lang="en-GB" dirty="0" err="1"/>
              <a:t>BIU_GithubTraining</a:t>
            </a:r>
            <a:r>
              <a:rPr lang="en-GB" dirty="0"/>
              <a:t> repo.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Halo ticket for new GitHub requirements: </a:t>
            </a:r>
            <a:r>
              <a:rPr lang="en-GB" dirty="0">
                <a:hlinkClick r:id="rId2"/>
              </a:rPr>
              <a:t>ABUHB Self-Service Portal – GitHub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NHS Wales Solution Exchange: </a:t>
            </a:r>
            <a:r>
              <a:rPr lang="fr-FR" dirty="0">
                <a:hlinkClick r:id="rId3"/>
              </a:rPr>
              <a:t>NHS Wales Solutions Exchange - Browse Solutions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Speak to a member of the GitHub Admin team! </a:t>
            </a:r>
            <a:endParaRPr lang="en-GB" dirty="0"/>
          </a:p>
        </p:txBody>
      </p:sp>
      <p:pic>
        <p:nvPicPr>
          <p:cNvPr id="5122" name="Picture 2" descr="Question clipart Images - Free Download on Magnific (formerly Freepik)">
            <a:extLst>
              <a:ext uri="{FF2B5EF4-FFF2-40B4-BE49-F238E27FC236}">
                <a16:creationId xmlns:a16="http://schemas.microsoft.com/office/drawing/2014/main" id="{F8F1E633-2C9D-4645-9367-80A403262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521" y="3596511"/>
            <a:ext cx="2470914" cy="247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82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8DD-3FB4-ECF1-7474-46B34CAE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03" y="2427434"/>
            <a:ext cx="10007063" cy="830997"/>
          </a:xfrm>
        </p:spPr>
        <p:txBody>
          <a:bodyPr/>
          <a:lstStyle/>
          <a:p>
            <a:r>
              <a:rPr lang="en-GB" dirty="0"/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2326958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BUHB colour palette 1">
      <a:dk1>
        <a:srgbClr val="0B385B"/>
      </a:dk1>
      <a:lt1>
        <a:srgbClr val="FFFFFF"/>
      </a:lt1>
      <a:dk2>
        <a:srgbClr val="0B385B"/>
      </a:dk2>
      <a:lt2>
        <a:srgbClr val="F5F5F5"/>
      </a:lt2>
      <a:accent1>
        <a:srgbClr val="EE4458"/>
      </a:accent1>
      <a:accent2>
        <a:srgbClr val="FE9C1F"/>
      </a:accent2>
      <a:accent3>
        <a:srgbClr val="C8E267"/>
      </a:accent3>
      <a:accent4>
        <a:srgbClr val="00C3D1"/>
      </a:accent4>
      <a:accent5>
        <a:srgbClr val="206C9F"/>
      </a:accent5>
      <a:accent6>
        <a:srgbClr val="853C7E"/>
      </a:accent6>
      <a:hlink>
        <a:srgbClr val="0B385B"/>
      </a:hlink>
      <a:folHlink>
        <a:srgbClr val="6450A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F7E8FA9F-3EA1-A04C-9735-7045C9D67254}" vid="{DF975FF4-3DC5-5E4C-B6CB-BAD29D1FF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C07746058E2B4780C48ADCCC13CF7E" ma:contentTypeVersion="65" ma:contentTypeDescription="Create a new document." ma:contentTypeScope="" ma:versionID="4ce23191b1d0f2551f14c1b35203a729">
  <xsd:schema xmlns:xsd="http://www.w3.org/2001/XMLSchema" xmlns:xs="http://www.w3.org/2001/XMLSchema" xmlns:p="http://schemas.microsoft.com/office/2006/metadata/properties" xmlns:ns2="1483428e-716d-4b33-b115-78d5a8925782" xmlns:ns3="bd0481ee-721b-4901-9dea-7fae852e4c18" xmlns:ns4="e55bf511-4ba5-4939-82c7-95fd6f39aefd" targetNamespace="http://schemas.microsoft.com/office/2006/metadata/properties" ma:root="true" ma:fieldsID="fc6c6fe6a11276e430e41fcdcb36170d" ns2:_="" ns3:_="" ns4:_="">
    <xsd:import namespace="1483428e-716d-4b33-b115-78d5a8925782"/>
    <xsd:import namespace="bd0481ee-721b-4901-9dea-7fae852e4c18"/>
    <xsd:import namespace="e55bf511-4ba5-4939-82c7-95fd6f39aefd"/>
    <xsd:element name="properties">
      <xsd:complexType>
        <xsd:sequence>
          <xsd:element name="documentManagement">
            <xsd:complexType>
              <xsd:all>
                <xsd:element ref="ns2:Author0" minOccurs="0"/>
                <xsd:element ref="ns2:Owner" minOccurs="0"/>
                <xsd:element ref="ns2:Published_x0020_Date" minOccurs="0"/>
                <xsd:element ref="ns2:ReviewSchedule_x0028_months_x0029_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Metadata" minOccurs="0"/>
                <xsd:element ref="ns2:MediaServiceFastMetadata" minOccurs="0"/>
                <xsd:element ref="ns4:TaxCatchAll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2:h4c8ae8ce7454af68b724828ae932791" minOccurs="0"/>
                <xsd:element ref="ns2:o614325ba7f549b1a8b8e19b035d94ff" minOccurs="0"/>
                <xsd:element ref="ns4:TaxCatchAllLabel" minOccurs="0"/>
                <xsd:element ref="ns4:d74cbe23f3244f26857e51a18e649bb1" minOccurs="0"/>
                <xsd:element ref="ns2:UnderReview" minOccurs="0"/>
                <xsd:element ref="ns2:g9bb5d66ff7848828f62e2406995fd6a" minOccurs="0"/>
                <xsd:element ref="ns2:k35bb188367f4e7f84aa638d61a157e7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83428e-716d-4b33-b115-78d5a8925782" elementFormDefault="qualified">
    <xsd:import namespace="http://schemas.microsoft.com/office/2006/documentManagement/types"/>
    <xsd:import namespace="http://schemas.microsoft.com/office/infopath/2007/PartnerControls"/>
    <xsd:element name="Author0" ma:index="2" nillable="true" ma:displayName="Author" ma:format="Dropdown" ma:list="UserInfo" ma:SharePointGroup="0" ma:internalName="Author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wner" ma:index="3" nillable="true" ma:displayName="Owner" ma:description="This identifies the owner of the document - the person responsible for managing it's version status etc" ma:format="Dropdown" ma:list="UserInfo" ma:SharePointGroup="0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ublished_x0020_Date" ma:index="4" nillable="true" ma:displayName="Published Date" ma:format="DateOnly" ma:internalName="Published_x0020_Date" ma:readOnly="false">
      <xsd:simpleType>
        <xsd:restriction base="dms:DateTime"/>
      </xsd:simpleType>
    </xsd:element>
    <xsd:element name="ReviewSchedule_x0028_months_x0029_" ma:index="6" nillable="true" ma:displayName="Review Schedule (Years)" ma:default="3" ma:format="Dropdown" ma:internalName="ReviewSchedule_x0028_months_x0029_" ma:percentage="FALSE">
      <xsd:simpleType>
        <xsd:restriction base="dms:Number"/>
      </xsd:simpleType>
    </xsd:element>
    <xsd:element name="MediaServiceAutoKeyPoints" ma:index="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8" nillable="true" ma:displayName="KeyPoints" ma:hidden="true" ma:internalName="MediaServiceKeyPoints" ma:readOnly="true">
      <xsd:simpleType>
        <xsd:restriction base="dms:Note"/>
      </xsd:simpleType>
    </xsd:element>
    <xsd:element name="MediaServiceOCR" ma:index="11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efaef41-70dc-4075-804e-d4e4dbdaee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h4c8ae8ce7454af68b724828ae932791" ma:index="28" nillable="true" ma:taxonomy="true" ma:internalName="h4c8ae8ce7454af68b724828ae932791" ma:taxonomyFieldName="Document_x0020_Type" ma:displayName="AB - Document Type" ma:indexed="true" ma:default="" ma:fieldId="{14c8ae8c-e745-4af6-8b72-4828ae932791}" ma:sspId="cefaef41-70dc-4075-804e-d4e4dbdaeee0" ma:termSetId="7245b043-24e8-4a47-a571-e61992bff4f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614325ba7f549b1a8b8e19b035d94ff" ma:index="30" nillable="true" ma:taxonomy="true" ma:internalName="o614325ba7f549b1a8b8e19b035d94ff" ma:taxonomyFieldName="Service" ma:displayName="AB - Service" ma:default="" ma:fieldId="{8614325b-a7f5-49b1-a8b8-e19b035d94ff}" ma:sspId="cefaef41-70dc-4075-804e-d4e4dbdaeee0" ma:termSetId="691e2636-b724-4c15-9826-68da7e1ced5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UnderReview" ma:index="34" nillable="true" ma:displayName="Under Review" ma:default="0" ma:format="Dropdown" ma:internalName="UnderReview">
      <xsd:simpleType>
        <xsd:restriction base="dms:Boolean"/>
      </xsd:simpleType>
    </xsd:element>
    <xsd:element name="g9bb5d66ff7848828f62e2406995fd6a" ma:index="36" nillable="true" ma:taxonomy="true" ma:internalName="g9bb5d66ff7848828f62e2406995fd6a" ma:taxonomyFieldName="Owner_x0020__x0028_Role_x0029_" ma:displayName="Owner (Role)" ma:default="" ma:fieldId="{09bb5d66-ff78-4882-8f62-e2406995fd6a}" ma:sspId="cefaef41-70dc-4075-804e-d4e4dbdaeee0" ma:termSetId="858a7a07-3b2f-4655-bf5c-81eeb1ffa6a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35bb188367f4e7f84aa638d61a157e7" ma:index="38" nillable="true" ma:taxonomy="true" ma:internalName="k35bb188367f4e7f84aa638d61a157e7" ma:taxonomyFieldName="Approver_x0020__x0028_Role_x0029_" ma:displayName="Approver (Role)" ma:default="" ma:fieldId="{435bb188-367f-4e7f-84aa-638d61a157e7}" ma:sspId="cefaef41-70dc-4075-804e-d4e4dbdaeee0" ma:termSetId="858a7a07-3b2f-4655-bf5c-81eeb1ffa6a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bjectDetectorVersions" ma:index="3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0481ee-721b-4901-9dea-7fae852e4c1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5bf511-4ba5-4939-82c7-95fd6f39aef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319f7c0a-d1a9-4586-833d-cac689e52a8a}" ma:internalName="TaxCatchAll" ma:showField="CatchAllData" ma:web="bd0481ee-721b-4901-9dea-7fae852e4c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31" nillable="true" ma:displayName="Taxonomy Catch All Column1" ma:hidden="true" ma:list="{319f7c0a-d1a9-4586-833d-cac689e52a8a}" ma:internalName="TaxCatchAllLabel" ma:readOnly="true" ma:showField="CatchAllDataLabel" ma:web="bd0481ee-721b-4901-9dea-7fae852e4c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74cbe23f3244f26857e51a18e649bb1" ma:index="32" nillable="true" ma:taxonomy="true" ma:internalName="d74cbe23f3244f26857e51a18e649bb1" ma:taxonomyFieldName="AB_x0020__x002d__x0020_Team" ma:displayName="AB - Team" ma:default="" ma:fieldId="{d74cbe23-f324-4f26-857e-51a18e649bb1}" ma:taxonomyMulti="true" ma:sspId="cefaef41-70dc-4075-804e-d4e4dbdaeee0" ma:termSetId="312a8f12-3d85-4776-8b2c-0357e4ee5cf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Document 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83428e-716d-4b33-b115-78d5a8925782">
      <Terms xmlns="http://schemas.microsoft.com/office/infopath/2007/PartnerControls"/>
    </lcf76f155ced4ddcb4097134ff3c332f>
    <TaxCatchAll xmlns="e55bf511-4ba5-4939-82c7-95fd6f39aefd">
      <Value>188</Value>
      <Value>16</Value>
      <Value>687</Value>
    </TaxCatchAll>
    <Owner xmlns="1483428e-716d-4b33-b115-78d5a8925782">
      <UserInfo>
        <DisplayName/>
        <AccountId xsi:nil="true"/>
        <AccountType/>
      </UserInfo>
    </Owner>
    <o614325ba7f549b1a8b8e19b035d94ff xmlns="1483428e-716d-4b33-b115-78d5a8925782">
      <Terms xmlns="http://schemas.microsoft.com/office/infopath/2007/PartnerControls">
        <TermInfo xmlns="http://schemas.microsoft.com/office/infopath/2007/PartnerControls">
          <TermName xmlns="http://schemas.microsoft.com/office/infopath/2007/PartnerControls">Health Board (Corporate)</TermName>
          <TermId xmlns="http://schemas.microsoft.com/office/infopath/2007/PartnerControls">0c363e41-cf1f-4305-9014-97a1479fc32c</TermId>
        </TermInfo>
      </Terms>
    </o614325ba7f549b1a8b8e19b035d94ff>
    <ReviewSchedule_x0028_months_x0029_ xmlns="1483428e-716d-4b33-b115-78d5a8925782">3</ReviewSchedule_x0028_months_x0029_>
    <Published_x0020_Date xmlns="1483428e-716d-4b33-b115-78d5a8925782">2026-05-21T23:00:00+00:00</Published_x0020_Date>
    <d74cbe23f3244f26857e51a18e649bb1 xmlns="e55bf511-4ba5-4939-82c7-95fd6f39aefd">
      <Terms xmlns="http://schemas.microsoft.com/office/infopath/2007/PartnerControls"/>
    </d74cbe23f3244f26857e51a18e649bb1>
    <g9bb5d66ff7848828f62e2406995fd6a xmlns="1483428e-716d-4b33-b115-78d5a8925782">
      <Terms xmlns="http://schemas.microsoft.com/office/infopath/2007/PartnerControls">
        <TermInfo xmlns="http://schemas.microsoft.com/office/infopath/2007/PartnerControls">
          <TermName xmlns="http://schemas.microsoft.com/office/infopath/2007/PartnerControls">Head of PMO ＆ Digital Engagement</TermName>
          <TermId xmlns="http://schemas.microsoft.com/office/infopath/2007/PartnerControls">8d983f83-8eb7-4a8e-9058-8ef2b063c7e8</TermId>
        </TermInfo>
      </Terms>
    </g9bb5d66ff7848828f62e2406995fd6a>
    <k35bb188367f4e7f84aa638d61a157e7 xmlns="1483428e-716d-4b33-b115-78d5a8925782">
      <Terms xmlns="http://schemas.microsoft.com/office/infopath/2007/PartnerControls"/>
    </k35bb188367f4e7f84aa638d61a157e7>
    <UnderReview xmlns="1483428e-716d-4b33-b115-78d5a8925782">false</UnderReview>
    <h4c8ae8ce7454af68b724828ae932791 xmlns="1483428e-716d-4b33-b115-78d5a8925782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Template</TermName>
          <TermId xmlns="http://schemas.microsoft.com/office/infopath/2007/PartnerControls">72ecb681-7f24-447b-bff2-3c3e16947b2d</TermId>
        </TermInfo>
      </Terms>
    </h4c8ae8ce7454af68b724828ae932791>
    <Author0 xmlns="1483428e-716d-4b33-b115-78d5a8925782">
      <UserInfo>
        <DisplayName/>
        <AccountId xsi:nil="true"/>
        <AccountType/>
      </UserInfo>
    </Author0>
    <SharedWithUsers xmlns="bd0481ee-721b-4901-9dea-7fae852e4c1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679169C-6CC4-432B-8D8A-84EDE4F251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2431A6-2122-481C-A8D7-9F7BB75B71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83428e-716d-4b33-b115-78d5a8925782"/>
    <ds:schemaRef ds:uri="bd0481ee-721b-4901-9dea-7fae852e4c18"/>
    <ds:schemaRef ds:uri="e55bf511-4ba5-4939-82c7-95fd6f39ae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2BFFEF-C0F7-4036-B4E1-D454B3025A9E}">
  <ds:schemaRefs>
    <ds:schemaRef ds:uri="http://schemas.microsoft.com/office/2006/documentManagement/types"/>
    <ds:schemaRef ds:uri="http://purl.org/dc/elements/1.1/"/>
    <ds:schemaRef ds:uri="1483428e-716d-4b33-b115-78d5a8925782"/>
    <ds:schemaRef ds:uri="http://www.w3.org/XML/1998/namespace"/>
    <ds:schemaRef ds:uri="e55bf511-4ba5-4939-82c7-95fd6f39aefd"/>
    <ds:schemaRef ds:uri="bd0481ee-721b-4901-9dea-7fae852e4c18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1080 ABUHB PowerPoint Template FINAL</Template>
  <TotalTime>335</TotalTime>
  <Words>1680</Words>
  <Application>Microsoft Office PowerPoint</Application>
  <PresentationFormat>Widescreen</PresentationFormat>
  <Paragraphs>298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Arial,Sans-Serif</vt:lpstr>
      <vt:lpstr>Courier New</vt:lpstr>
      <vt:lpstr>Helvetica Neue</vt:lpstr>
      <vt:lpstr>Mona Sans VF</vt:lpstr>
      <vt:lpstr>Wingdings</vt:lpstr>
      <vt:lpstr>Office Theme</vt:lpstr>
      <vt:lpstr>Github Training</vt:lpstr>
      <vt:lpstr>Modules to be covered</vt:lpstr>
      <vt:lpstr>GitHub Overview</vt:lpstr>
      <vt:lpstr>Git vs GitHub</vt:lpstr>
      <vt:lpstr>Github Enterprise Cloud</vt:lpstr>
      <vt:lpstr>Why Github for analytics?</vt:lpstr>
      <vt:lpstr>Github Usage Best Practices</vt:lpstr>
      <vt:lpstr>Navigating a repository</vt:lpstr>
      <vt:lpstr>Exercise Checkpoint 1 </vt:lpstr>
      <vt:lpstr>Key Git Concepts</vt:lpstr>
      <vt:lpstr>How Git Stores Your Work</vt:lpstr>
      <vt:lpstr>How Git Stores Your Work</vt:lpstr>
      <vt:lpstr>How Git Stores Your Work</vt:lpstr>
      <vt:lpstr>How Git Stores Your Work</vt:lpstr>
      <vt:lpstr>Standard Github Files</vt:lpstr>
      <vt:lpstr>Exercise Checkpoint 2 </vt:lpstr>
      <vt:lpstr>Other GitHub Features</vt:lpstr>
      <vt:lpstr>Issues</vt:lpstr>
      <vt:lpstr>Projects</vt:lpstr>
      <vt:lpstr>Agents and Actions</vt:lpstr>
      <vt:lpstr>Using CoPilot Effectively</vt:lpstr>
      <vt:lpstr>Using CoPilot Effectively</vt:lpstr>
      <vt:lpstr>Using CoPilot Effectively</vt:lpstr>
      <vt:lpstr>Using CoPilot Effectively</vt:lpstr>
      <vt:lpstr>Exercise Checkpoint 3 </vt:lpstr>
      <vt:lpstr>Codespaces</vt:lpstr>
      <vt:lpstr>Codespaces</vt:lpstr>
      <vt:lpstr>Codespaces</vt:lpstr>
      <vt:lpstr>Codespaces</vt:lpstr>
      <vt:lpstr>Codespace Walkthrough</vt:lpstr>
      <vt:lpstr>Exercise Checkpoint 4 </vt:lpstr>
      <vt:lpstr>Other GitHub products</vt:lpstr>
      <vt:lpstr>Useful Resources</vt:lpstr>
      <vt:lpstr>Thank you! </vt:lpstr>
    </vt:vector>
  </TitlesOfParts>
  <Company>Aneurin Bevan University Health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BigQuery SQL Training</dc:title>
  <dc:creator>Marie-Claire Griffiths (Aneurin Bevan UHB - Planning)</dc:creator>
  <cp:lastModifiedBy>Jessica Speake (Aneurin Bevan UHB - Digital Data and Technology)</cp:lastModifiedBy>
  <cp:revision>31</cp:revision>
  <cp:lastPrinted>2025-08-21T19:41:27Z</cp:lastPrinted>
  <dcterms:created xsi:type="dcterms:W3CDTF">2025-09-30T14:13:03Z</dcterms:created>
  <dcterms:modified xsi:type="dcterms:W3CDTF">2026-10-23T12:41:50Z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0x010100D3C07746058E2B4780C48ADCCC13CF7E</vt:lpwstr>
  </property>
  <property fmtid="{D5CDD505-2E9C-101B-9397-08002B2CF9AE}" pid="3" name="MediaServiceImageTags">
    <vt:lpwstr/>
  </property>
  <property fmtid="{D5CDD505-2E9C-101B-9397-08002B2CF9AE}" pid="4" name="Order">
    <vt:r8>578000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Document_x0020_Type">
    <vt:lpwstr>188;#Template|72ecb681-7f24-447b-bff2-3c3e16947b2d</vt:lpwstr>
  </property>
  <property fmtid="{D5CDD505-2E9C-101B-9397-08002B2CF9AE}" pid="12" name="Approver (Role)">
    <vt:lpwstr/>
  </property>
  <property fmtid="{D5CDD505-2E9C-101B-9397-08002B2CF9AE}" pid="13" name="Owner_x0020__x0028_Role_x0029_">
    <vt:lpwstr>687;#Head of PMO ＆ Digital Engagement|8d983f83-8eb7-4a8e-9058-8ef2b063c7e8</vt:lpwstr>
  </property>
  <property fmtid="{D5CDD505-2E9C-101B-9397-08002B2CF9AE}" pid="14" name="Approver_x0020__x0028_Role_x0029_">
    <vt:lpwstr/>
  </property>
  <property fmtid="{D5CDD505-2E9C-101B-9397-08002B2CF9AE}" pid="15" name="AB_x0020__x002d__x0020_Team">
    <vt:lpwstr/>
  </property>
  <property fmtid="{D5CDD505-2E9C-101B-9397-08002B2CF9AE}" pid="16" name="Service">
    <vt:lpwstr>16;#Health Board (Corporate)|0c363e41-cf1f-4305-9014-97a1479fc32c</vt:lpwstr>
  </property>
  <property fmtid="{D5CDD505-2E9C-101B-9397-08002B2CF9AE}" pid="17" name="AB - Team">
    <vt:lpwstr/>
  </property>
  <property fmtid="{D5CDD505-2E9C-101B-9397-08002B2CF9AE}" pid="18" name="Owner (Role)">
    <vt:lpwstr>687;#Head of PMO ＆ Digital Engagement|8d983f83-8eb7-4a8e-9058-8ef2b063c7e8</vt:lpwstr>
  </property>
  <property fmtid="{D5CDD505-2E9C-101B-9397-08002B2CF9AE}" pid="19" name="Document Type">
    <vt:lpwstr>188;#Template|72ecb681-7f24-447b-bff2-3c3e16947b2d</vt:lpwstr>
  </property>
  <property fmtid="{D5CDD505-2E9C-101B-9397-08002B2CF9AE}" pid="20" name="h73e8447ba3c4209afcade2bdc7b7702">
    <vt:lpwstr/>
  </property>
  <property fmtid="{D5CDD505-2E9C-101B-9397-08002B2CF9AE}" pid="21" name="AB_x0020__x002d__x0020_Status">
    <vt:lpwstr/>
  </property>
  <property fmtid="{D5CDD505-2E9C-101B-9397-08002B2CF9AE}" pid="22" name="AB_x0020__x002d__x0020_Domain">
    <vt:lpwstr/>
  </property>
  <property fmtid="{D5CDD505-2E9C-101B-9397-08002B2CF9AE}" pid="23" name="c9d02efa741e40f2994de831c3410112">
    <vt:lpwstr/>
  </property>
  <property fmtid="{D5CDD505-2E9C-101B-9397-08002B2CF9AE}" pid="24" name="AB_x0020__x002d__x0020_Programme">
    <vt:lpwstr/>
  </property>
  <property fmtid="{D5CDD505-2E9C-101B-9397-08002B2CF9AE}" pid="25" name="a8e7dbf1479e477ca90c732c03f2f52e">
    <vt:lpwstr/>
  </property>
  <property fmtid="{D5CDD505-2E9C-101B-9397-08002B2CF9AE}" pid="26" name="AB - Status">
    <vt:lpwstr/>
  </property>
  <property fmtid="{D5CDD505-2E9C-101B-9397-08002B2CF9AE}" pid="27" name="AB - Domain">
    <vt:lpwstr/>
  </property>
  <property fmtid="{D5CDD505-2E9C-101B-9397-08002B2CF9AE}" pid="28" name="AB - Programme">
    <vt:lpwstr/>
  </property>
</Properties>
</file>