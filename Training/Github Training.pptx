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75" r:id="rId5"/>
    <p:sldId id="257" r:id="rId6"/>
    <p:sldId id="281" r:id="rId7"/>
    <p:sldId id="276" r:id="rId8"/>
    <p:sldId id="277" r:id="rId9"/>
    <p:sldId id="278" r:id="rId10"/>
    <p:sldId id="310" r:id="rId11"/>
    <p:sldId id="279" r:id="rId12"/>
    <p:sldId id="291" r:id="rId13"/>
    <p:sldId id="280" r:id="rId14"/>
    <p:sldId id="282" r:id="rId15"/>
    <p:sldId id="283" r:id="rId16"/>
    <p:sldId id="284" r:id="rId17"/>
    <p:sldId id="285" r:id="rId18"/>
    <p:sldId id="286" r:id="rId19"/>
    <p:sldId id="289" r:id="rId20"/>
    <p:sldId id="287" r:id="rId21"/>
    <p:sldId id="302" r:id="rId22"/>
    <p:sldId id="304" r:id="rId23"/>
    <p:sldId id="305" r:id="rId24"/>
    <p:sldId id="306" r:id="rId25"/>
    <p:sldId id="311" r:id="rId26"/>
    <p:sldId id="290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3" r:id="rId35"/>
    <p:sldId id="300" r:id="rId36"/>
    <p:sldId id="301" r:id="rId37"/>
    <p:sldId id="309" r:id="rId38"/>
    <p:sldId id="307" r:id="rId39"/>
    <p:sldId id="308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AF75"/>
    <a:srgbClr val="0B385B"/>
    <a:srgbClr val="FAD776"/>
    <a:srgbClr val="63519D"/>
    <a:srgbClr val="E49B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94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262E1-CA21-AE4E-AE29-A941BAF2DC72}" type="datetimeFigureOut">
              <a:rPr lang="en-US" smtClean="0"/>
              <a:t>10/26/2026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CD1ED-23FB-224B-B8BA-A58BC26816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50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dark) no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6439775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51AFF80-D9DE-5C46-0B11-12822EF42B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2835797" y="5321039"/>
            <a:ext cx="23729487" cy="1501228"/>
          </a:xfrm>
          <a:prstGeom prst="rect">
            <a:avLst/>
          </a:prstGeom>
        </p:spPr>
      </p:pic>
      <p:pic>
        <p:nvPicPr>
          <p:cNvPr id="23" name="Picture 2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4A5E99E-4B26-A376-69F2-FE25CECD12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541809" y="405330"/>
            <a:ext cx="2053291" cy="7904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2BFC18-856D-5CBD-0918-7748DEB5A0C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706815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59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light) no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7364759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9690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8FEBA1-31B0-6AC1-A261-11A3ED6DA9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886371" y="3771900"/>
            <a:ext cx="3305629" cy="33056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80FA61-AA35-4648-B51B-4E12FE8CBE3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9541809" y="405330"/>
            <a:ext cx="2053290" cy="7904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DAF3F5-5953-7939-9748-B1A3181E39C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742809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04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light)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6289C33A-DB41-56FF-AFEF-307981591E8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70" y="-3"/>
            <a:ext cx="6095930" cy="6706895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21024" y="2427434"/>
            <a:ext cx="4819136" cy="308944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1025" y="1830388"/>
            <a:ext cx="481913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45922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631792-8D3A-463A-6DD3-1A42DEF4D5E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57941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59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dark) with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"/>
            <a:ext cx="6096000" cy="6711884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ECAB12-408B-9A06-65BD-830E6E0A64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4941056" cy="302848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76C3EB0-2C86-E39B-4469-BB0D2EEBD64D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758705" y="1830389"/>
            <a:ext cx="450417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D5B8DBDA-E8E2-15C5-CC34-3689522DEE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4C54B-22FC-E090-FC75-BA3A380940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425596" y="5822841"/>
            <a:ext cx="15315850" cy="9689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B833A0-B39F-F35C-D346-B4680D668C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801207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432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4100" y="1880579"/>
            <a:ext cx="4423799" cy="405723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2297913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CB6D972-E386-76E5-62A4-40145CE8D8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64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A8932F6-EE2D-94AF-624D-83A4F26D9B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7934" y="379807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964AB2C-80B6-3776-AFFA-B0BCF41E37A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64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6AEFD41F-9490-6DA5-246F-881A550D26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7934" y="5217546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82669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882339" y="231230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CEBD845B-9411-4175-7B57-DDC605A51F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882669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B9FC9085-8B6C-9B25-8517-366BACDB2E0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882339" y="377071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81783EB-0D32-7E00-CB9E-6EEC6C8920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882669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4B8EB114-8553-715A-62ED-0557797978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882339" y="522912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1294186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D4C2F88-BF1D-D6E9-6FB5-469B88E6D74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3627433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6682E4-3A0C-CE13-8546-E9E18CACC5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627763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7EC2551-0C89-BFA5-9CCE-DDE6284ECBF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627433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15F60A58-8588-1CBC-A369-25388F18D1BC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6416932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32248A4-40FC-534B-5EFB-749A70E539F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417262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35226F3-0E1D-256B-97B9-6C98BD4EDB3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16932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4CAF251-B777-064D-A243-1D03BACCF314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9206430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C05FD25-71FA-22D1-FB9C-55B4F45166E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06760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0645B0A-1B26-A7A3-291C-1ABB84D9992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206430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Picture Placeholder 2">
            <a:extLst>
              <a:ext uri="{FF2B5EF4-FFF2-40B4-BE49-F238E27FC236}">
                <a16:creationId xmlns:a16="http://schemas.microsoft.com/office/drawing/2014/main" id="{828348CD-ACD2-DFF4-800E-F274AFAAC30B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837934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63FBB9C1-D4DE-B676-DB13-4DDA71407D0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8264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759BCFA5-4A16-4E19-55C6-01EEBF421A1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7934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995ED2D2-FD2C-D2A6-0303-D2D27B53B838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3627433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6ADAF9CA-0AFA-16CC-37E1-C752D6306FE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627763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56DD63EE-2DE1-DA7B-DB1D-B5F5E41F055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627433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5" name="Picture Placeholder 2">
            <a:extLst>
              <a:ext uri="{FF2B5EF4-FFF2-40B4-BE49-F238E27FC236}">
                <a16:creationId xmlns:a16="http://schemas.microsoft.com/office/drawing/2014/main" id="{37DCE758-429F-D421-57EE-69DE3E8F6DA5}"/>
              </a:ext>
            </a:extLst>
          </p:cNvPr>
          <p:cNvSpPr>
            <a:spLocks noGrp="1"/>
          </p:cNvSpPr>
          <p:nvPr>
            <p:ph type="pic" idx="33"/>
          </p:nvPr>
        </p:nvSpPr>
        <p:spPr>
          <a:xfrm>
            <a:off x="6416932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24BBF753-275C-C0A1-B02B-4EC1E237DA0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17262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38A8196D-3BEF-9258-BBF1-8D6D32790FA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16932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A8C408E5-A54B-17F8-1B26-D78884AFE4F8}"/>
              </a:ext>
            </a:extLst>
          </p:cNvPr>
          <p:cNvSpPr>
            <a:spLocks noGrp="1"/>
          </p:cNvSpPr>
          <p:nvPr>
            <p:ph type="pic" idx="36"/>
          </p:nvPr>
        </p:nvSpPr>
        <p:spPr>
          <a:xfrm>
            <a:off x="9206430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B0CE0909-F2F5-6229-2A40-4200DB8F97F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206760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24C3164E-A22B-243F-1FE3-8077B0E210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06430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1" name="Footer Placeholder 4">
            <a:extLst>
              <a:ext uri="{FF2B5EF4-FFF2-40B4-BE49-F238E27FC236}">
                <a16:creationId xmlns:a16="http://schemas.microsoft.com/office/drawing/2014/main" id="{39B9785F-F454-5161-3908-F5AA6EE966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3823700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5357B822-1F46-EF68-98AB-1266026A9F93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414511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603ACB0B-D2D6-8793-6DDF-32DEDC9D17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4841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5246C35-35AF-5747-3591-3B90326EC8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14510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B3C80A0-CEAE-4303-404B-BA29C03800CE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7991089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D6BF785-ECAA-AA70-0AE0-DA7FF9D3B6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91419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BA32623-5265-29C3-5825-763BDB6B28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991088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3915D3A1-7889-84BB-2617-E407080EE08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837934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8F8C17CB-1C98-0900-AFA5-53F04EF6A463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4414511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06DE5A3-A38E-1BD7-F172-AB99F0DBBF4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414841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40DFA81-F9C1-5BE8-9790-1E7A6F3566E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14510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7991089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FC87FE08-9EA5-A548-3C31-04A258ABC2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91419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742C4827-D280-318C-8AEE-43CAD6DC75B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991088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1956111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singl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238397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2637628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3705520" cy="99719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353530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393453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4864232" y="1"/>
            <a:ext cx="7327768" cy="67118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71A9C36-F28A-2984-4E83-DBDD982406B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38264" y="4836200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A3678E8-3AC9-7667-B351-4DDC4A4EF03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37933" y="5235431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433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3" y="2012179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98600" y="2012179"/>
            <a:ext cx="6755200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98269" y="2513010"/>
            <a:ext cx="6755531" cy="2816195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415085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976034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96655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4530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578B1-7A9C-9501-1880-BD836E8648E1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686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23241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6300" y="2340238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86364" y="1896655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AFC3CD-A577-A39E-B89C-3F9908016659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975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icons (coloured background)">
    <p:bg>
      <p:bgPr>
        <a:solidFill>
          <a:srgbClr val="6351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4766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24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17A339C-ACC0-E5C9-1443-7F60488B429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54644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35049CDF-57FB-1E5B-0262-BB5A40F76D55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4522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0011A0-9346-E922-AA1C-9048D9E693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975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AD417083-05F1-3C98-F43B-328E59055E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107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8FBA7B5-423F-34B3-F9F2-15AD6E26DA13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45651A2-600B-D4D0-8D9C-E208688E21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9753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6AC9F8-04E8-561D-A123-5BFB1BAC4E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21886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844E616-3334-F1AB-B000-5844CEF92FD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0300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8746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 (coloured background)">
    <p:bg>
      <p:bgPr>
        <a:solidFill>
          <a:srgbClr val="FAD7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6417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571054DB-3976-92EF-E2D6-67FC1AB5A75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5404115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5EFE25D5-16F3-5497-6392-9E456C889D2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89569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4141F3BA-8554-8C0E-E7AD-ABC40FA13C06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16417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38DE595-44F8-E854-4414-7EC53F655C6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404115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CB03A73-9FE7-F44F-B0E2-92D4FFFB75C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89569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7A45F617-15CC-CB7B-52FD-669CA42894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22438" y="955170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878E1A-8FF7-4273-26A3-535FD35F62F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87538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B82DC95-6B1B-D2FF-1D21-90881433624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5446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4C453B-838D-33D8-EB78-17F959D9903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50273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14765C-B1F9-07BE-1A90-DE778F64122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87538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3E7C791-5510-2628-B623-54B45DC76AC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95446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682E466-FFA3-1722-D871-05A729FA96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50273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221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r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329" y="2071079"/>
            <a:ext cx="525823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6000" y="2502801"/>
            <a:ext cx="5258233" cy="3116838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C82CD335-5366-4205-624D-AA1B4E304D9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838200" y="1972314"/>
            <a:ext cx="4518025" cy="3647436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131930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651AD66-44B0-177B-F07B-76FE26E3B3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6510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EF56FD95-047D-2EAF-9366-565662FB32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7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A8FF431-2F43-3608-7E01-FDCE7DC8E8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755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7E7DD5A-A646-C13D-59EE-4BE67CE8440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752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4266F819-BADB-9067-4306-3AC60C51DEA0}"/>
              </a:ext>
            </a:extLst>
          </p:cNvPr>
          <p:cNvSpPr>
            <a:spLocks noGrp="1"/>
          </p:cNvSpPr>
          <p:nvPr>
            <p:ph type="chart" sz="quarter" idx="20"/>
          </p:nvPr>
        </p:nvSpPr>
        <p:spPr>
          <a:xfrm>
            <a:off x="939666" y="1671638"/>
            <a:ext cx="4784843" cy="3082925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  <p:sp>
        <p:nvSpPr>
          <p:cNvPr id="14" name="Chart Placeholder 12">
            <a:extLst>
              <a:ext uri="{FF2B5EF4-FFF2-40B4-BE49-F238E27FC236}">
                <a16:creationId xmlns:a16="http://schemas.microsoft.com/office/drawing/2014/main" id="{E388CCDD-A019-7F8F-8F0B-EB6D68BCF0F3}"/>
              </a:ext>
            </a:extLst>
          </p:cNvPr>
          <p:cNvSpPr>
            <a:spLocks noGrp="1"/>
          </p:cNvSpPr>
          <p:nvPr>
            <p:ph type="chart" sz="quarter" idx="21"/>
          </p:nvPr>
        </p:nvSpPr>
        <p:spPr>
          <a:xfrm>
            <a:off x="6464166" y="1671638"/>
            <a:ext cx="4784843" cy="3082925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75366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2" y="2209723"/>
            <a:ext cx="4798698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1" y="2710554"/>
            <a:ext cx="4799028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156"/>
            <a:ext cx="4798698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72E3676-D4F7-1273-9BC3-AC5183A8C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844"/>
            <a:ext cx="6096000" cy="6701952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81EFD77-D1FF-AA29-9071-E2E134F7A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37619451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0" y="-2"/>
            <a:ext cx="6095930" cy="6702460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48927" y="2209723"/>
            <a:ext cx="480487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48597" y="2710554"/>
            <a:ext cx="4805203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596" y="760156"/>
            <a:ext cx="4804873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6419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-1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61047" y="2209723"/>
            <a:ext cx="499275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0717" y="2710554"/>
            <a:ext cx="4992754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0716" y="760156"/>
            <a:ext cx="4993084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5644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0" y="2209723"/>
            <a:ext cx="4676479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0" y="2710554"/>
            <a:ext cx="4676480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60156"/>
            <a:ext cx="4676789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44050B81-65ED-63B6-37E7-CC2AB8644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3162303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49" y="1012175"/>
            <a:ext cx="11113008" cy="84979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375" y="11036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959" y="104649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2115542"/>
            <a:ext cx="11013670" cy="44515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6505577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020AE8-89C6-343D-E6CC-5BC29F67E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18051-ACE4-9B66-E6A8-89F0375A9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22664"/>
            <a:ext cx="4752904" cy="180767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24033-9A8E-5144-225E-212CF3D9A7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249" y="6324031"/>
            <a:ext cx="18755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C6C8D88-4570-341C-1942-62BA4CC5FAEC}"/>
              </a:ext>
            </a:extLst>
          </p:cNvPr>
          <p:cNvGrpSpPr/>
          <p:nvPr userDrawn="1"/>
        </p:nvGrpSpPr>
        <p:grpSpPr>
          <a:xfrm>
            <a:off x="-48984" y="6711041"/>
            <a:ext cx="12319907" cy="163285"/>
            <a:chOff x="-48984" y="6711041"/>
            <a:chExt cx="12319907" cy="16328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ABE167C-9C3F-9B6B-D9F1-CC66CC4D3E6E}"/>
                </a:ext>
              </a:extLst>
            </p:cNvPr>
            <p:cNvSpPr/>
            <p:nvPr userDrawn="1"/>
          </p:nvSpPr>
          <p:spPr>
            <a:xfrm>
              <a:off x="-48984" y="6723740"/>
              <a:ext cx="1232807" cy="150586"/>
            </a:xfrm>
            <a:prstGeom prst="rect">
              <a:avLst/>
            </a:prstGeom>
            <a:solidFill>
              <a:srgbClr val="E49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9A124B-88F3-18BB-79EA-49272F538472}"/>
                </a:ext>
              </a:extLst>
            </p:cNvPr>
            <p:cNvSpPr/>
            <p:nvPr userDrawn="1"/>
          </p:nvSpPr>
          <p:spPr>
            <a:xfrm>
              <a:off x="1183823" y="6723740"/>
              <a:ext cx="1232807" cy="1505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1427AA3-D5AD-D56D-8886-0F5B3BFCAACE}"/>
                </a:ext>
              </a:extLst>
            </p:cNvPr>
            <p:cNvSpPr/>
            <p:nvPr userDrawn="1"/>
          </p:nvSpPr>
          <p:spPr>
            <a:xfrm>
              <a:off x="2416630" y="6723740"/>
              <a:ext cx="1232807" cy="1505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F8B4CB5-88F2-7594-DB9D-9868E101E2D6}"/>
                </a:ext>
              </a:extLst>
            </p:cNvPr>
            <p:cNvSpPr/>
            <p:nvPr userDrawn="1"/>
          </p:nvSpPr>
          <p:spPr>
            <a:xfrm>
              <a:off x="3641273" y="6723740"/>
              <a:ext cx="1232807" cy="150586"/>
            </a:xfrm>
            <a:prstGeom prst="rect">
              <a:avLst/>
            </a:prstGeom>
            <a:solidFill>
              <a:srgbClr val="FAD77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6FB38EA-AE76-1FAC-7459-B9E5E31B29E7}"/>
                </a:ext>
              </a:extLst>
            </p:cNvPr>
            <p:cNvSpPr/>
            <p:nvPr userDrawn="1"/>
          </p:nvSpPr>
          <p:spPr>
            <a:xfrm>
              <a:off x="4874080" y="6723740"/>
              <a:ext cx="1232807" cy="15058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E83CA5-7FDB-D3B2-94CD-CE2B9A515400}"/>
                </a:ext>
              </a:extLst>
            </p:cNvPr>
            <p:cNvSpPr/>
            <p:nvPr userDrawn="1"/>
          </p:nvSpPr>
          <p:spPr>
            <a:xfrm>
              <a:off x="6106888" y="6723740"/>
              <a:ext cx="1232807" cy="150586"/>
            </a:xfrm>
            <a:prstGeom prst="rect">
              <a:avLst/>
            </a:prstGeom>
            <a:solidFill>
              <a:srgbClr val="2DAF7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C90443-7A67-D6D3-59C1-E76016A6367C}"/>
                </a:ext>
              </a:extLst>
            </p:cNvPr>
            <p:cNvSpPr/>
            <p:nvPr userDrawn="1"/>
          </p:nvSpPr>
          <p:spPr>
            <a:xfrm>
              <a:off x="7339695" y="6723740"/>
              <a:ext cx="1232807" cy="1505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2A54361-7357-9ED4-4FD4-4C668794CF3C}"/>
                </a:ext>
              </a:extLst>
            </p:cNvPr>
            <p:cNvSpPr/>
            <p:nvPr userDrawn="1"/>
          </p:nvSpPr>
          <p:spPr>
            <a:xfrm>
              <a:off x="8572502" y="6723740"/>
              <a:ext cx="1232807" cy="150586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64274A6-9666-47C1-AFE9-E237465E4688}"/>
                </a:ext>
              </a:extLst>
            </p:cNvPr>
            <p:cNvSpPr/>
            <p:nvPr userDrawn="1"/>
          </p:nvSpPr>
          <p:spPr>
            <a:xfrm>
              <a:off x="9805309" y="6723740"/>
              <a:ext cx="1232807" cy="150586"/>
            </a:xfrm>
            <a:prstGeom prst="rect">
              <a:avLst/>
            </a:prstGeom>
            <a:solidFill>
              <a:srgbClr val="63519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0786CD9-2EBC-1E3F-A197-772ACEBD902C}"/>
                </a:ext>
              </a:extLst>
            </p:cNvPr>
            <p:cNvSpPr/>
            <p:nvPr userDrawn="1"/>
          </p:nvSpPr>
          <p:spPr>
            <a:xfrm>
              <a:off x="11038116" y="6723740"/>
              <a:ext cx="1232807" cy="15058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69F5EF5-02A3-13C5-A920-536200E3C57F}"/>
                </a:ext>
              </a:extLst>
            </p:cNvPr>
            <p:cNvCxnSpPr/>
            <p:nvPr userDrawn="1"/>
          </p:nvCxnSpPr>
          <p:spPr>
            <a:xfrm>
              <a:off x="-48984" y="6711041"/>
              <a:ext cx="123199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CF2DA01-7562-47A7-E79D-F07BC71C2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218256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70" r:id="rId3"/>
    <p:sldLayoutId id="2147483668" r:id="rId4"/>
    <p:sldLayoutId id="2147483662" r:id="rId5"/>
    <p:sldLayoutId id="2147483663" r:id="rId6"/>
    <p:sldLayoutId id="2147483664" r:id="rId7"/>
    <p:sldLayoutId id="2147483672" r:id="rId8"/>
    <p:sldLayoutId id="2147483665" r:id="rId9"/>
    <p:sldLayoutId id="2147483673" r:id="rId10"/>
    <p:sldLayoutId id="2147483675" r:id="rId11"/>
    <p:sldLayoutId id="2147483674" r:id="rId12"/>
    <p:sldLayoutId id="2147483676" r:id="rId13"/>
    <p:sldLayoutId id="2147483677" r:id="rId14"/>
    <p:sldLayoutId id="2147483678" r:id="rId15"/>
    <p:sldLayoutId id="2147483666" r:id="rId16"/>
    <p:sldLayoutId id="2147483669" r:id="rId17"/>
    <p:sldLayoutId id="2147483667" r:id="rId18"/>
    <p:sldLayoutId id="2147483671" r:id="rId19"/>
    <p:sldLayoutId id="2147483679" r:id="rId2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3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200" kern="1200">
          <a:solidFill>
            <a:schemeClr val="accent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b="1" kern="1200">
          <a:solidFill>
            <a:schemeClr val="accent6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eurin-Bevan-University-Health-Board/biu_GitHub_Training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gcymru.github.io/Solutions-Exchange/solutions.html?sort=updated" TargetMode="External"/><Relationship Id="rId2" Type="http://schemas.openxmlformats.org/officeDocument/2006/relationships/hyperlink" Target="https://abuhb.haloitsm.com/portal/service?btn=103&amp;root_category=22&amp;autolog=true&amp;shownewticket=true&amp;categoryid=52&amp;id=456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9.jpeg"/><Relationship Id="rId4" Type="http://schemas.openxmlformats.org/officeDocument/2006/relationships/hyperlink" Target="https://github.com/awesomedata/awesome-public-datasets#entertainment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GitHub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E87F23-C395-09E0-5E46-D147412EC7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260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Modules to be covered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285750" indent="-285750">
              <a:buChar char="•"/>
            </a:pPr>
            <a:r>
              <a:rPr lang="en-GB" sz="2200" dirty="0"/>
              <a:t>GitHub Overview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Key Git Concepts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Other GitHub Features </a:t>
            </a:r>
            <a:endParaRPr lang="en-GB" sz="2200" b="0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dirty="0"/>
              <a:t>Using CoPilot effectively</a:t>
            </a:r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/>
              <a:t>Codespaces</a:t>
            </a:r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/>
              <a:t>Exploring other GitHub products</a:t>
            </a:r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" name="Picture 3" descr="Clipboard Clip Art at Clker.com - vector clip art online, royalty free &amp;  public domain">
            <a:extLst>
              <a:ext uri="{FF2B5EF4-FFF2-40B4-BE49-F238E27FC236}">
                <a16:creationId xmlns:a16="http://schemas.microsoft.com/office/drawing/2014/main" id="{B0E3B12E-F74D-B766-ADC4-E51E3EB9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951" y="2033038"/>
            <a:ext cx="2903119" cy="29337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590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GitHub Overview</a:t>
            </a:r>
          </a:p>
        </p:txBody>
      </p:sp>
    </p:spTree>
    <p:extLst>
      <p:ext uri="{BB962C8B-B14F-4D97-AF65-F5344CB8AC3E}">
        <p14:creationId xmlns:p14="http://schemas.microsoft.com/office/powerpoint/2010/main" val="1394554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 vs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4</a:t>
            </a:fld>
            <a:endParaRPr lang="en-GB" dirty="0"/>
          </a:p>
        </p:txBody>
      </p:sp>
      <p:pic>
        <p:nvPicPr>
          <p:cNvPr id="1026" name="Picture 2" descr="Git - Logo Downloads">
            <a:extLst>
              <a:ext uri="{FF2B5EF4-FFF2-40B4-BE49-F238E27FC236}">
                <a16:creationId xmlns:a16="http://schemas.microsoft.com/office/drawing/2014/main" id="{56E22239-CCA2-4E39-BDC9-1F34AEB8F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911" y="4911831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Git Hub Icon On White Background 16833872 ...">
            <a:extLst>
              <a:ext uri="{FF2B5EF4-FFF2-40B4-BE49-F238E27FC236}">
                <a16:creationId xmlns:a16="http://schemas.microsoft.com/office/drawing/2014/main" id="{0EBAD5EE-31A7-4981-AD91-73C20C0EB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4356" y="4911831"/>
            <a:ext cx="180022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1049867" y="1160547"/>
            <a:ext cx="10503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Git keeps track of changes to a codebase or project. GitHub helps teams share and manage these changes.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86C84A21-09CA-4689-9A3D-42C21CC5D247}"/>
              </a:ext>
            </a:extLst>
          </p:cNvPr>
          <p:cNvSpPr/>
          <p:nvPr/>
        </p:nvSpPr>
        <p:spPr>
          <a:xfrm>
            <a:off x="1699876" y="2306159"/>
            <a:ext cx="3706283" cy="2498015"/>
          </a:xfrm>
          <a:prstGeom prst="wedgeEllipseCallout">
            <a:avLst>
              <a:gd name="adj1" fmla="val -47560"/>
              <a:gd name="adj2" fmla="val 6860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Created by Linus Torvalds in 2005, Git is a distributed version control system.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It operates locally and invoked through commands.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Git exists without GitHub. 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DE663009-7A1C-4BFD-9236-ACA387EA2CF6}"/>
              </a:ext>
            </a:extLst>
          </p:cNvPr>
          <p:cNvSpPr/>
          <p:nvPr/>
        </p:nvSpPr>
        <p:spPr>
          <a:xfrm>
            <a:off x="5717116" y="2207475"/>
            <a:ext cx="3706283" cy="3033392"/>
          </a:xfrm>
          <a:prstGeom prst="wedgeEllipseCallout">
            <a:avLst>
              <a:gd name="adj1" fmla="val 66431"/>
              <a:gd name="adj2" fmla="val 5135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Developed by Microsoft, GitHub provides an online space to store repositories and foster collaboration amongst teams.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Enhances Git with additional features including seamless integration with other online tools.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GitHub </a:t>
            </a:r>
            <a:r>
              <a:rPr lang="en-GB" sz="1200" b="1" dirty="0">
                <a:solidFill>
                  <a:schemeClr val="tx1"/>
                </a:solidFill>
              </a:rPr>
              <a:t>cannot work </a:t>
            </a:r>
            <a:r>
              <a:rPr lang="en-GB" sz="1200" dirty="0">
                <a:solidFill>
                  <a:schemeClr val="tx1"/>
                </a:solidFill>
              </a:rPr>
              <a:t>with Git. </a:t>
            </a:r>
          </a:p>
        </p:txBody>
      </p:sp>
    </p:spTree>
    <p:extLst>
      <p:ext uri="{BB962C8B-B14F-4D97-AF65-F5344CB8AC3E}">
        <p14:creationId xmlns:p14="http://schemas.microsoft.com/office/powerpoint/2010/main" val="377352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GitHub Enterprise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5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520911" y="1475001"/>
            <a:ext cx="105032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ABUHB uses GitHub Enterprise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Our organisation differs from a personal GitHub free account.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Access is controlled through the organisation and admins set policies for repositories, codespaces, CoPilot usage and other features.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What GitHub Enterprise provides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enforce branch protection and need for reviews on private repositories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Centralised user management and permissions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Full auditability of log-ins and compliance reporting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Increased governance over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286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GitHub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6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Faster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Removes technical barriers for collaborative work.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reuse shared codes and resources.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Enhanced security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Share code securely within approved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advanced security checks on code and analytics.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Collaboration and auditability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All code lives in repositories – not emails, SharePoint or personal folders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Every change can be traceable and version history easily documented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rollback changes – no need for manual backups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Single source of truth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One canonical repository per project or product (with ability to fork/clone repos if required)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protection to production resources – only reviewed code can reach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Better quality assurance and knowledge transfer</a:t>
            </a:r>
          </a:p>
        </p:txBody>
      </p:sp>
    </p:spTree>
    <p:extLst>
      <p:ext uri="{BB962C8B-B14F-4D97-AF65-F5344CB8AC3E}">
        <p14:creationId xmlns:p14="http://schemas.microsoft.com/office/powerpoint/2010/main" val="3156996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GitHub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7</a:t>
            </a:fld>
            <a:endParaRPr lang="en-GB" dirty="0"/>
          </a:p>
        </p:txBody>
      </p:sp>
      <p:pic>
        <p:nvPicPr>
          <p:cNvPr id="7170" name="Picture 2" descr="Google Cloud Platform Tutorial: From Zero to Hero with GCP">
            <a:extLst>
              <a:ext uri="{FF2B5EF4-FFF2-40B4-BE49-F238E27FC236}">
                <a16:creationId xmlns:a16="http://schemas.microsoft.com/office/drawing/2014/main" id="{A19C2F9B-C1CD-4FDA-93C6-00BA40CFE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32" y="1406046"/>
            <a:ext cx="3103938" cy="1741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mazon Web Services - Wikipedia">
            <a:extLst>
              <a:ext uri="{FF2B5EF4-FFF2-40B4-BE49-F238E27FC236}">
                <a16:creationId xmlns:a16="http://schemas.microsoft.com/office/drawing/2014/main" id="{1DEF9D55-3132-41EF-8890-467D28C0D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90" y="3710214"/>
            <a:ext cx="2161413" cy="1293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Terraform - Visual Studio Marketplace">
            <a:extLst>
              <a:ext uri="{FF2B5EF4-FFF2-40B4-BE49-F238E27FC236}">
                <a16:creationId xmlns:a16="http://schemas.microsoft.com/office/drawing/2014/main" id="{02D2E044-D139-471B-8C85-41FB1F944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490" y="1188637"/>
            <a:ext cx="2161413" cy="2161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Docker - Visual Studio Marketplace">
            <a:extLst>
              <a:ext uri="{FF2B5EF4-FFF2-40B4-BE49-F238E27FC236}">
                <a16:creationId xmlns:a16="http://schemas.microsoft.com/office/drawing/2014/main" id="{09F59136-F823-4162-812F-92B56C632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1874" y="3395830"/>
            <a:ext cx="1901861" cy="162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0" name="Picture 12" descr="Microsoft Teams - Wikipedia">
            <a:extLst>
              <a:ext uri="{FF2B5EF4-FFF2-40B4-BE49-F238E27FC236}">
                <a16:creationId xmlns:a16="http://schemas.microsoft.com/office/drawing/2014/main" id="{7A0271DC-D65E-42AD-B331-E2A137AD6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086" y="1572970"/>
            <a:ext cx="1320396" cy="139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 descr="Distribute your Flutter Application with Azure DevOps and App Center | by Luke Moody | Level Up Coding">
            <a:extLst>
              <a:ext uri="{FF2B5EF4-FFF2-40B4-BE49-F238E27FC236}">
                <a16:creationId xmlns:a16="http://schemas.microsoft.com/office/drawing/2014/main" id="{1CF001B1-D964-42F8-B333-1D76BE43C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2418" y="3429000"/>
            <a:ext cx="2641854" cy="1653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 descr="Dependabot · GitHub">
            <a:extLst>
              <a:ext uri="{FF2B5EF4-FFF2-40B4-BE49-F238E27FC236}">
                <a16:creationId xmlns:a16="http://schemas.microsoft.com/office/drawing/2014/main" id="{3C567452-0870-4E00-9738-F7DABCAF6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184" y="1101415"/>
            <a:ext cx="2046372" cy="2046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 descr="Microsoft Power Automate - Wikipedia">
            <a:extLst>
              <a:ext uri="{FF2B5EF4-FFF2-40B4-BE49-F238E27FC236}">
                <a16:creationId xmlns:a16="http://schemas.microsoft.com/office/drawing/2014/main" id="{1A841108-E423-492D-975F-A53C0154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181" y="3279028"/>
            <a:ext cx="1928424" cy="195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8490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71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1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71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71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71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71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71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71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71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71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71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71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GitHub Usage Best Practices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8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Avoid making key changes in the main branch – develop in dedicated feature branches with consistent naming.</a:t>
            </a:r>
          </a:p>
          <a:p>
            <a:pPr algn="ctr"/>
            <a:r>
              <a:rPr lang="en-GB" dirty="0"/>
              <a:t> </a:t>
            </a:r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Utilise pull requests (PRs) to improve code quality and knowledge sharing.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Write meaningful commit messages – makes versioning and history of code easier to understand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Every repository should have a README.md that explains: 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Purpose of the project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How to run it and its dependencies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Key contacts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Use Issues and Projects for clear collaborative tracking. </a:t>
            </a:r>
          </a:p>
        </p:txBody>
      </p:sp>
    </p:spTree>
    <p:extLst>
      <p:ext uri="{BB962C8B-B14F-4D97-AF65-F5344CB8AC3E}">
        <p14:creationId xmlns:p14="http://schemas.microsoft.com/office/powerpoint/2010/main" val="482272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u="sng" dirty="0"/>
              <a:t>Navigating a repository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9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8AAA1-70A7-4D66-A851-03CCD3143A05}"/>
              </a:ext>
            </a:extLst>
          </p:cNvPr>
          <p:cNvSpPr txBox="1"/>
          <p:nvPr/>
        </p:nvSpPr>
        <p:spPr>
          <a:xfrm>
            <a:off x="520911" y="1352667"/>
            <a:ext cx="720068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Key tabs: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Code – where all code and documentation is stored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– raise bugs/tasks for developers to work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Pull requests – review changes before merging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Ability to create custom agents to automate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ability to add automated workflows and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Security &amp; Alerts – ability to add credential scanning, data quality and dependency checks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Projects – Kanban board(s) for planning and tracking activities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Insights – contributor and activity statistics</a:t>
            </a:r>
          </a:p>
        </p:txBody>
      </p:sp>
    </p:spTree>
    <p:extLst>
      <p:ext uri="{BB962C8B-B14F-4D97-AF65-F5344CB8AC3E}">
        <p14:creationId xmlns:p14="http://schemas.microsoft.com/office/powerpoint/2010/main" val="700087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10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Navigate through GitHub to find the training repo and your dedicated workspace. 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Sign into GitHub with your account (you may be asked to authenticate via Microsoft Authenticator).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Search for the following repository in ABUHB’s main page: </a:t>
            </a:r>
            <a:r>
              <a:rPr lang="en-GB" b="1" i="0" u="none" strike="noStrike" dirty="0">
                <a:solidFill>
                  <a:srgbClr val="1F2328"/>
                </a:solidFill>
                <a:effectLst/>
                <a:latin typeface="Mona Sans VF"/>
                <a:hlinkClick r:id="rId2"/>
              </a:rPr>
              <a:t>biu_GitHub_Training</a:t>
            </a:r>
            <a:endParaRPr lang="en-GB" b="1" i="0" u="none" strike="noStrike" dirty="0">
              <a:solidFill>
                <a:schemeClr val="bg1"/>
              </a:solidFill>
              <a:effectLst/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the participants folder and find your folder named firstname-lastname.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02757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Key Git Concepts</a:t>
            </a:r>
          </a:p>
        </p:txBody>
      </p:sp>
    </p:spTree>
    <p:extLst>
      <p:ext uri="{BB962C8B-B14F-4D97-AF65-F5344CB8AC3E}">
        <p14:creationId xmlns:p14="http://schemas.microsoft.com/office/powerpoint/2010/main" val="32101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12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Object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Blob – file content (your code)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Tree – directory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Commit – a snapshot of your code with metadata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 stores snapshots of the whole project, not just differences.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Objects are addressed by a SHA-1 Hash – all changes have a unique hash.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 changes are performed using underlying git CLI code. </a:t>
            </a:r>
          </a:p>
        </p:txBody>
      </p:sp>
      <p:pic>
        <p:nvPicPr>
          <p:cNvPr id="6" name="object_model.png" descr="Diagram: a commit points to a tree, which points to blobs and sub-trees">
            <a:extLst>
              <a:ext uri="{FF2B5EF4-FFF2-40B4-BE49-F238E27FC236}">
                <a16:creationId xmlns:a16="http://schemas.microsoft.com/office/drawing/2014/main" id="{A31D9058-7206-44D1-A834-7935F234A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290" y="1317082"/>
            <a:ext cx="5583291" cy="400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13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Your files will live in three places: </a:t>
            </a:r>
          </a:p>
          <a:p>
            <a:endParaRPr lang="en-GB" b="1" dirty="0"/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Working directory </a:t>
            </a:r>
            <a:r>
              <a:rPr lang="en-GB" dirty="0"/>
              <a:t>– where you edit the files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Staging area </a:t>
            </a:r>
            <a:r>
              <a:rPr lang="en-GB" dirty="0"/>
              <a:t>– you can control what changes can then go into the next commit 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Repository </a:t>
            </a:r>
            <a:r>
              <a:rPr lang="en-GB" dirty="0"/>
              <a:t>– what changes have been committed into history </a:t>
            </a:r>
            <a:endParaRPr lang="en-GB" b="1" dirty="0"/>
          </a:p>
        </p:txBody>
      </p:sp>
      <p:pic>
        <p:nvPicPr>
          <p:cNvPr id="8" name="three_trees.png" descr="Diagram: files move from working directory to staging area to repository">
            <a:extLst>
              <a:ext uri="{FF2B5EF4-FFF2-40B4-BE49-F238E27FC236}">
                <a16:creationId xmlns:a16="http://schemas.microsoft.com/office/drawing/2014/main" id="{67662F40-73F0-4D1E-96A1-A5D32C902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535" y="1534791"/>
            <a:ext cx="5583291" cy="362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18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14</a:t>
            </a:fld>
            <a:endParaRPr lang="en-GB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3BC90AE-2E99-4DD5-85DC-1139652465F9}"/>
              </a:ext>
            </a:extLst>
          </p:cNvPr>
          <p:cNvGrpSpPr/>
          <p:nvPr/>
        </p:nvGrpSpPr>
        <p:grpSpPr>
          <a:xfrm>
            <a:off x="133001" y="1361177"/>
            <a:ext cx="11597964" cy="5234012"/>
            <a:chOff x="133001" y="1361177"/>
            <a:chExt cx="11597964" cy="523401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25DBC184-A3D6-441D-B82F-3A85324ACC68}"/>
                </a:ext>
              </a:extLst>
            </p:cNvPr>
            <p:cNvGrpSpPr/>
            <p:nvPr/>
          </p:nvGrpSpPr>
          <p:grpSpPr>
            <a:xfrm>
              <a:off x="213299" y="1361177"/>
              <a:ext cx="11517666" cy="3152838"/>
              <a:chOff x="35500" y="2055444"/>
              <a:chExt cx="11517666" cy="3152838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1423420-4DA3-4EF6-9F7A-9C8807B2C1BA}"/>
                  </a:ext>
                </a:extLst>
              </p:cNvPr>
              <p:cNvGrpSpPr/>
              <p:nvPr/>
            </p:nvGrpSpPr>
            <p:grpSpPr>
              <a:xfrm>
                <a:off x="35500" y="2787827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9" name="Scroll: Vertical 8">
                  <a:extLst>
                    <a:ext uri="{FF2B5EF4-FFF2-40B4-BE49-F238E27FC236}">
                      <a16:creationId xmlns:a16="http://schemas.microsoft.com/office/drawing/2014/main" id="{D4EEF7DE-C88F-44C9-A3A1-229284A2B91D}"/>
                    </a:ext>
                  </a:extLst>
                </p:cNvPr>
                <p:cNvSpPr/>
                <p:nvPr/>
              </p:nvSpPr>
              <p:spPr>
                <a:xfrm>
                  <a:off x="537059" y="1482552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Original document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A5641698-8760-4F07-B90E-B3CFED1AB60F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E0971DA-6C49-4487-AA00-75C8062D6F3D}"/>
                    </a:ext>
                  </a:extLst>
                </p:cNvPr>
                <p:cNvSpPr txBox="1"/>
                <p:nvPr/>
              </p:nvSpPr>
              <p:spPr>
                <a:xfrm>
                  <a:off x="471253" y="2513005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Main/Production</a:t>
                  </a:r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BE07CA28-2E28-4461-872D-0E63CAC3BF07}"/>
                  </a:ext>
                </a:extLst>
              </p:cNvPr>
              <p:cNvGrpSpPr/>
              <p:nvPr/>
            </p:nvGrpSpPr>
            <p:grpSpPr>
              <a:xfrm>
                <a:off x="1426856" y="3317494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8DB04EB9-3D5A-43D3-A714-02E9CC5D07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5D9E9AF-F6FB-44DB-9A70-6F03142E969A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PULL into your branch</a:t>
                  </a:r>
                </a:p>
              </p:txBody>
            </p:sp>
          </p:grpSp>
          <p:pic>
            <p:nvPicPr>
              <p:cNvPr id="2050" name="Picture 2" descr="A guy is pulling all his strength the rope. 42847417 PNG">
                <a:extLst>
                  <a:ext uri="{FF2B5EF4-FFF2-40B4-BE49-F238E27FC236}">
                    <a16:creationId xmlns:a16="http://schemas.microsoft.com/office/drawing/2014/main" id="{9E612667-9571-4F35-893E-FC2B2D0818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579894" y="3798582"/>
                <a:ext cx="1409700" cy="14097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6644267-6525-49A0-BD00-98B902EF75C4}"/>
                  </a:ext>
                </a:extLst>
              </p:cNvPr>
              <p:cNvGrpSpPr/>
              <p:nvPr/>
            </p:nvGrpSpPr>
            <p:grpSpPr>
              <a:xfrm>
                <a:off x="3256343" y="2890765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33" name="Scroll: Vertical 32">
                  <a:extLst>
                    <a:ext uri="{FF2B5EF4-FFF2-40B4-BE49-F238E27FC236}">
                      <a16:creationId xmlns:a16="http://schemas.microsoft.com/office/drawing/2014/main" id="{6F64A31B-F5F7-4A74-83BB-BF0464F040CC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Copy of original document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C5BEEEA5-5A70-4C29-B11C-15FC35928321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7C39B98-9A6D-453A-B3DC-D20244101320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9E7D1A1-B03C-493C-A80F-A54A3186DD86}"/>
                  </a:ext>
                </a:extLst>
              </p:cNvPr>
              <p:cNvGrpSpPr/>
              <p:nvPr/>
            </p:nvGrpSpPr>
            <p:grpSpPr>
              <a:xfrm>
                <a:off x="4719312" y="3379625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3FA30884-5FA9-4690-9DA8-495EAD5E8C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4C95B8-550B-476F-9D8A-A7A1C75E4852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Commit your changes</a:t>
                  </a:r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3C9E3729-A1C3-47B3-9DE5-DA3E340C30AA}"/>
                  </a:ext>
                </a:extLst>
              </p:cNvPr>
              <p:cNvGrpSpPr/>
              <p:nvPr/>
            </p:nvGrpSpPr>
            <p:grpSpPr>
              <a:xfrm>
                <a:off x="6443703" y="2970390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41" name="Scroll: Vertical 40">
                  <a:extLst>
                    <a:ext uri="{FF2B5EF4-FFF2-40B4-BE49-F238E27FC236}">
                      <a16:creationId xmlns:a16="http://schemas.microsoft.com/office/drawing/2014/main" id="{B79A45D5-AC50-4EFF-858A-8D7E12D86423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9B5C36B5-01B1-4B84-85A3-5E4FA1382A7D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81BC2F-1E86-45B7-A551-EB05E5FC7966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pic>
            <p:nvPicPr>
              <p:cNvPr id="2052" name="Picture 4">
                <a:extLst>
                  <a:ext uri="{FF2B5EF4-FFF2-40B4-BE49-F238E27FC236}">
                    <a16:creationId xmlns:a16="http://schemas.microsoft.com/office/drawing/2014/main" id="{8A2A559C-2060-4F2F-8DE9-57FD8F9CA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53891" y="3886031"/>
                <a:ext cx="977370" cy="97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A99FFDD-E996-42E6-BECA-D51DD5E94B11}"/>
                  </a:ext>
                </a:extLst>
              </p:cNvPr>
              <p:cNvGrpSpPr/>
              <p:nvPr/>
            </p:nvGrpSpPr>
            <p:grpSpPr>
              <a:xfrm>
                <a:off x="10116704" y="3025446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50" name="Scroll: Vertical 49">
                  <a:extLst>
                    <a:ext uri="{FF2B5EF4-FFF2-40B4-BE49-F238E27FC236}">
                      <a16:creationId xmlns:a16="http://schemas.microsoft.com/office/drawing/2014/main" id="{044C974C-8D10-4D1A-9BD6-2D6DD749F5CE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764B8BDA-3F78-4FC4-A3DE-C12D37F1D7DC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56C35F8-3E2E-4212-B7EE-F5C32762B58C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5E2986-1C82-443A-9EE4-734F4BE3FF02}"/>
                  </a:ext>
                </a:extLst>
              </p:cNvPr>
              <p:cNvSpPr/>
              <p:nvPr/>
            </p:nvSpPr>
            <p:spPr>
              <a:xfrm>
                <a:off x="3151247" y="2091270"/>
                <a:ext cx="4993686" cy="277213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  <a:prstDash val="lgDash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1780F54-013B-4577-BFAC-E75D8792B87B}"/>
                  </a:ext>
                </a:extLst>
              </p:cNvPr>
              <p:cNvSpPr txBox="1"/>
              <p:nvPr/>
            </p:nvSpPr>
            <p:spPr>
              <a:xfrm>
                <a:off x="3886069" y="2212802"/>
                <a:ext cx="33130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Your local workspace/desktop</a:t>
                </a: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2277E4E0-02FB-4ADD-A505-5BA7A84510E3}"/>
                  </a:ext>
                </a:extLst>
              </p:cNvPr>
              <p:cNvGrpSpPr/>
              <p:nvPr/>
            </p:nvGrpSpPr>
            <p:grpSpPr>
              <a:xfrm>
                <a:off x="8362058" y="3317494"/>
                <a:ext cx="1715541" cy="461665"/>
                <a:chOff x="1973521" y="1598761"/>
                <a:chExt cx="1715541" cy="461665"/>
              </a:xfrm>
            </p:grpSpPr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3062A74-687F-46C5-AA27-014CFFC61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CAE17FF-F490-4A43-9ADB-8BC383B71813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Push your changes into GitHub</a:t>
                  </a:r>
                </a:p>
              </p:txBody>
            </p:sp>
          </p:grpSp>
          <p:pic>
            <p:nvPicPr>
              <p:cNvPr id="2054" name="Picture 6" descr="Push - Free hands and gestures icons">
                <a:extLst>
                  <a:ext uri="{FF2B5EF4-FFF2-40B4-BE49-F238E27FC236}">
                    <a16:creationId xmlns:a16="http://schemas.microsoft.com/office/drawing/2014/main" id="{235B0CA3-0C25-45C3-AEFA-FA8B7E455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720925" y="3894216"/>
                <a:ext cx="1103293" cy="11032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2B14F-24ED-403C-BC48-F4D8EB12122F}"/>
                  </a:ext>
                </a:extLst>
              </p:cNvPr>
              <p:cNvSpPr txBox="1"/>
              <p:nvPr/>
            </p:nvSpPr>
            <p:spPr>
              <a:xfrm>
                <a:off x="416393" y="2055444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GitHub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71F8060-9D71-4F9F-98D7-3352CA02FD02}"/>
                  </a:ext>
                </a:extLst>
              </p:cNvPr>
              <p:cNvSpPr txBox="1"/>
              <p:nvPr/>
            </p:nvSpPr>
            <p:spPr>
              <a:xfrm>
                <a:off x="9061135" y="2091270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GitHub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675E00A2-DEBE-4A8C-8D67-19C5310253FB}"/>
                </a:ext>
              </a:extLst>
            </p:cNvPr>
            <p:cNvGrpSpPr/>
            <p:nvPr/>
          </p:nvGrpSpPr>
          <p:grpSpPr>
            <a:xfrm>
              <a:off x="7716104" y="4975011"/>
              <a:ext cx="1436462" cy="1546272"/>
              <a:chOff x="7428238" y="5026026"/>
              <a:chExt cx="1436462" cy="1546272"/>
            </a:xfrm>
          </p:grpSpPr>
          <p:sp>
            <p:nvSpPr>
              <p:cNvPr id="68" name="Scroll: Vertical 67">
                <a:extLst>
                  <a:ext uri="{FF2B5EF4-FFF2-40B4-BE49-F238E27FC236}">
                    <a16:creationId xmlns:a16="http://schemas.microsoft.com/office/drawing/2014/main" id="{788CCA70-02A5-47F7-AA11-710277895753}"/>
                  </a:ext>
                </a:extLst>
              </p:cNvPr>
              <p:cNvSpPr/>
              <p:nvPr/>
            </p:nvSpPr>
            <p:spPr>
              <a:xfrm>
                <a:off x="7541849" y="5225718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Unreviewed document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0BFFF8A-8229-46E0-852B-EEA9A6B78411}"/>
                  </a:ext>
                </a:extLst>
              </p:cNvPr>
              <p:cNvSpPr/>
              <p:nvPr/>
            </p:nvSpPr>
            <p:spPr>
              <a:xfrm>
                <a:off x="7428238" y="5026026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C252FF4-AF0E-46DD-AEE9-3F37F3DD26DB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Your dev branch</a:t>
                </a:r>
              </a:p>
            </p:txBody>
          </p:sp>
        </p:grp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B0393E53-24EE-4B11-8F0B-F65281C506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319734" y="4116491"/>
              <a:ext cx="2108235" cy="1952447"/>
            </a:xfrm>
            <a:prstGeom prst="bentConnector3">
              <a:avLst>
                <a:gd name="adj1" fmla="val 9979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9F95041-93D8-420B-9814-5116ACAE9920}"/>
                </a:ext>
              </a:extLst>
            </p:cNvPr>
            <p:cNvSpPr txBox="1"/>
            <p:nvPr/>
          </p:nvSpPr>
          <p:spPr>
            <a:xfrm>
              <a:off x="9408418" y="5256524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Open a pull request for review!</a:t>
              </a:r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E6B7432F-98EA-4BA7-9490-C53A9A3492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3868" y="6053861"/>
              <a:ext cx="311573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056" name="Picture 8" descr="Review And Approve Icons - Free SVG &amp; PNG Review And Approve Images - Noun Project">
              <a:extLst>
                <a:ext uri="{FF2B5EF4-FFF2-40B4-BE49-F238E27FC236}">
                  <a16:creationId xmlns:a16="http://schemas.microsoft.com/office/drawing/2014/main" id="{DCD3894A-3EBE-4C4C-B27D-569721E17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1427" y="4850311"/>
              <a:ext cx="977370" cy="97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3C6A167-F7FA-4271-AA17-7E14578D217A}"/>
                </a:ext>
              </a:extLst>
            </p:cNvPr>
            <p:cNvSpPr txBox="1"/>
            <p:nvPr/>
          </p:nvSpPr>
          <p:spPr>
            <a:xfrm>
              <a:off x="5624192" y="5199101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Reviewer approves pull request</a:t>
              </a: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D9E8AD1B-4238-457D-A1A3-5D543F80517F}"/>
                </a:ext>
              </a:extLst>
            </p:cNvPr>
            <p:cNvGrpSpPr/>
            <p:nvPr/>
          </p:nvGrpSpPr>
          <p:grpSpPr>
            <a:xfrm>
              <a:off x="2393551" y="4905633"/>
              <a:ext cx="1575318" cy="1689556"/>
              <a:chOff x="7428238" y="5048054"/>
              <a:chExt cx="1436462" cy="1546272"/>
            </a:xfrm>
          </p:grpSpPr>
          <p:sp>
            <p:nvSpPr>
              <p:cNvPr id="91" name="Scroll: Vertical 90">
                <a:extLst>
                  <a:ext uri="{FF2B5EF4-FFF2-40B4-BE49-F238E27FC236}">
                    <a16:creationId xmlns:a16="http://schemas.microsoft.com/office/drawing/2014/main" id="{3BBBFB06-43B4-4BFD-8075-A6117782AF69}"/>
                  </a:ext>
                </a:extLst>
              </p:cNvPr>
              <p:cNvSpPr/>
              <p:nvPr/>
            </p:nvSpPr>
            <p:spPr>
              <a:xfrm>
                <a:off x="7547652" y="5335127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New version of document</a:t>
                </a: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290C9014-0461-47EE-9435-A332D89A44DE}"/>
                  </a:ext>
                </a:extLst>
              </p:cNvPr>
              <p:cNvSpPr/>
              <p:nvPr/>
            </p:nvSpPr>
            <p:spPr>
              <a:xfrm>
                <a:off x="7428238" y="5048054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F8A2FA5-404B-490B-BBC3-DE9FC3556868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1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Main/Production</a:t>
                </a:r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89A88F0-39D5-4DBE-8322-31F1F75E90A4}"/>
                </a:ext>
              </a:extLst>
            </p:cNvPr>
            <p:cNvSpPr txBox="1"/>
            <p:nvPr/>
          </p:nvSpPr>
          <p:spPr>
            <a:xfrm>
              <a:off x="246337" y="2090097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a3bcde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9358BDD-A91B-41F9-ABC5-1013477BD38E}"/>
                </a:ext>
              </a:extLst>
            </p:cNvPr>
            <p:cNvSpPr txBox="1"/>
            <p:nvPr/>
          </p:nvSpPr>
          <p:spPr>
            <a:xfrm>
              <a:off x="2485107" y="4905633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b4fhef</a:t>
              </a:r>
            </a:p>
          </p:txBody>
        </p:sp>
        <p:cxnSp>
          <p:nvCxnSpPr>
            <p:cNvPr id="99" name="Connector: Elbow 98">
              <a:extLst>
                <a:ext uri="{FF2B5EF4-FFF2-40B4-BE49-F238E27FC236}">
                  <a16:creationId xmlns:a16="http://schemas.microsoft.com/office/drawing/2014/main" id="{A02CC5BD-BF07-4CA7-939F-499200776E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6669" y="4396668"/>
              <a:ext cx="2395204" cy="1105059"/>
            </a:xfrm>
            <a:prstGeom prst="bentConnector3">
              <a:avLst>
                <a:gd name="adj1" fmla="val 15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3F397E9-B3E2-4F04-BC71-FD6B7F397D3F}"/>
                </a:ext>
              </a:extLst>
            </p:cNvPr>
            <p:cNvSpPr txBox="1"/>
            <p:nvPr/>
          </p:nvSpPr>
          <p:spPr>
            <a:xfrm>
              <a:off x="133001" y="4062203"/>
              <a:ext cx="100144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New version overwrites old version. Ready for new developer to pull!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6592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15</a:t>
            </a:fld>
            <a:endParaRPr lang="en-GB" dirty="0"/>
          </a:p>
        </p:txBody>
      </p:sp>
      <p:pic>
        <p:nvPicPr>
          <p:cNvPr id="3076" name="Picture 4" descr="Git Branches System Flowchart | Flowchart Template">
            <a:extLst>
              <a:ext uri="{FF2B5EF4-FFF2-40B4-BE49-F238E27FC236}">
                <a16:creationId xmlns:a16="http://schemas.microsoft.com/office/drawing/2014/main" id="{DC5F6D7C-7DDF-47FF-BFA6-099412BBF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663" y="1305401"/>
            <a:ext cx="5765269" cy="4465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959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Standard GitHub</a:t>
            </a:r>
            <a:r>
              <a:rPr lang="en-GB" sz="3200" u="sng" dirty="0"/>
              <a:t> Files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16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97111" y="1449601"/>
            <a:ext cx="511788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All GitHub Repositories should contain the following: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README markdown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.gitignore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.gitkeep file to create an empty folder if required.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.gitignore tells Git which files and folders should not be stored in a repository. Examples include credentials, cached data, log files (which could expose sensitive information) and local developer settings.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098" name="Picture 2" descr="Webinar: Patient Health Data and Protecting Privacy During Research">
            <a:extLst>
              <a:ext uri="{FF2B5EF4-FFF2-40B4-BE49-F238E27FC236}">
                <a16:creationId xmlns:a16="http://schemas.microsoft.com/office/drawing/2014/main" id="{877EE04D-FD86-43B3-B71D-DCF8FADBA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7" t="18535" r="21682" b="14117"/>
          <a:stretch/>
        </p:blipFill>
        <p:spPr bwMode="auto">
          <a:xfrm>
            <a:off x="6764868" y="2040467"/>
            <a:ext cx="3817484" cy="248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D8E2CD29-5DE7-42F2-88B5-43D53108668B}"/>
              </a:ext>
            </a:extLst>
          </p:cNvPr>
          <p:cNvSpPr/>
          <p:nvPr/>
        </p:nvSpPr>
        <p:spPr>
          <a:xfrm>
            <a:off x="6155267" y="1063082"/>
            <a:ext cx="5117889" cy="4897451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28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17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2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Create your feature branch and fill in your README.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GitHub, create your own feature branch.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your README in your participant folder and fill this in.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Stage and commit this with the message: Fill in my area README.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76816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Features</a:t>
            </a:r>
          </a:p>
        </p:txBody>
      </p:sp>
    </p:spTree>
    <p:extLst>
      <p:ext uri="{BB962C8B-B14F-4D97-AF65-F5344CB8AC3E}">
        <p14:creationId xmlns:p14="http://schemas.microsoft.com/office/powerpoint/2010/main" val="1763569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Issues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19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48046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GitHub Issues are digital task cards used to track work, bugs and request improvements/suggestions within a software project.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can be linked to agentic working – once an issue has been raised, an agent can then complete the work and open up a pull request for a human to review.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Encourages collaboration and better organisation – provides history of decisions and assignment of work to team members.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Templates can be set up to standardise requests/bug issue forms.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2CF61-AF29-4E2D-845B-672428F07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272" y="1536700"/>
            <a:ext cx="5716687" cy="37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5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Projects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20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Resembles a Kanban/devops board that managers can link issues/tasks to key milestones and task phases.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Automatically move and assign tasks to users using agents/GitHub actions.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Allows for work and delivery in one place with real-time progress tracking.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Supports agile way of working with prioritisation and sprint tracking.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36F9E-12B6-40F9-8232-D059D1735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17" y="4259815"/>
            <a:ext cx="10545445" cy="128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Agents and Actions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21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681778" y="1458067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automated tasks that follow pre-defined instructions by users, e.g.; running data quality checks, sending an email,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custom built AI workers that can automate recurring business activities and free up staff to work on more strategic work.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algn="ctr"/>
            <a:r>
              <a:rPr lang="en-GB" b="1" dirty="0"/>
              <a:t>An action automates a task. An agent automates a responsibility.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DA29B7-D69A-44B8-8319-269529E26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96" y="4305310"/>
            <a:ext cx="2376203" cy="1494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8AD209-FE1C-42D6-B339-10D6BB17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725" y="4368801"/>
            <a:ext cx="2859271" cy="143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0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Security &amp;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22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681778" y="1458067"/>
            <a:ext cx="950362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Allows users to build security and quality checks for their codebase directly into the development process. This allows teams to identify and address potential risks early.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Security: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 Create different level of access control so only authorised people can make changes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Continuous security monitoring to identify weaknesses including alerting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Detects when passwords or other credentials may have been exposed in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/>
              <a:t>Quality: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Invoke peer review every time a change is pulled into main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Create automated testing to check new changes do not break existing functionality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Encourages continuous improvements and teams to follow agreed development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97677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1661993"/>
          </a:xfrm>
        </p:spPr>
        <p:txBody>
          <a:bodyPr/>
          <a:lstStyle/>
          <a:p>
            <a:r>
              <a:rPr lang="en-GB" dirty="0"/>
              <a:t>Using CoPilot Effectively</a:t>
            </a:r>
          </a:p>
        </p:txBody>
      </p:sp>
    </p:spTree>
    <p:extLst>
      <p:ext uri="{BB962C8B-B14F-4D97-AF65-F5344CB8AC3E}">
        <p14:creationId xmlns:p14="http://schemas.microsoft.com/office/powerpoint/2010/main" val="816599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24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Functions the same as 365 CoPilot.</a:t>
            </a:r>
          </a:p>
          <a:p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Enables users to ground prompts in specific codebases and enables users to pin resources/files to the query window to generate more relevant and accurate responses.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organisation being an enterprise allows users to select which language model to use for query and development.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GitHub CoPilot allows for agentic working and planning projects whereas 365 CoPilot can only answer questions.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Widely accessible within GitHub.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42269B-0B38-415F-928C-BDD6BE3F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32" y="5257387"/>
            <a:ext cx="11827935" cy="7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14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6EE99-FA82-4B98-AA7D-A923F512E5AA}"/>
              </a:ext>
            </a:extLst>
          </p:cNvPr>
          <p:cNvSpPr txBox="1"/>
          <p:nvPr/>
        </p:nvSpPr>
        <p:spPr>
          <a:xfrm>
            <a:off x="444711" y="1314134"/>
            <a:ext cx="9503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Get better answers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Give context – the columns, the metric definition and the output you want.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Work in small steps and iterate.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Ask CoPilot to explain code you do not understand.</a:t>
            </a:r>
          </a:p>
        </p:txBody>
      </p:sp>
      <p:sp>
        <p:nvSpPr>
          <p:cNvPr id="9" name="Speech Bubble: Oval 8">
            <a:extLst>
              <a:ext uri="{FF2B5EF4-FFF2-40B4-BE49-F238E27FC236}">
                <a16:creationId xmlns:a16="http://schemas.microsoft.com/office/drawing/2014/main" id="{4E387BB3-0A01-47DA-AE9C-074848F94DDC}"/>
              </a:ext>
            </a:extLst>
          </p:cNvPr>
          <p:cNvSpPr/>
          <p:nvPr/>
        </p:nvSpPr>
        <p:spPr>
          <a:xfrm>
            <a:off x="2387602" y="3689527"/>
            <a:ext cx="3132666" cy="2275733"/>
          </a:xfrm>
          <a:prstGeom prst="wedgeEllipse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Give me SQL.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C53E747E-AEFD-4F26-868B-80FF370B1932}"/>
              </a:ext>
            </a:extLst>
          </p:cNvPr>
          <p:cNvSpPr/>
          <p:nvPr/>
        </p:nvSpPr>
        <p:spPr>
          <a:xfrm>
            <a:off x="6413601" y="3748795"/>
            <a:ext cx="2975932" cy="2275733"/>
          </a:xfrm>
          <a:prstGeom prst="wedgeEllipseCallout">
            <a:avLst>
              <a:gd name="adj1" fmla="val 45469"/>
              <a:gd name="adj2" fmla="val 64361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Create a SQL snippet using the file *** to determine how many patients were in A&amp;E last month.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9D0DD-B35D-4128-874F-35A316B52666}"/>
              </a:ext>
            </a:extLst>
          </p:cNvPr>
          <p:cNvSpPr txBox="1"/>
          <p:nvPr/>
        </p:nvSpPr>
        <p:spPr>
          <a:xfrm>
            <a:off x="4250266" y="3178878"/>
            <a:ext cx="4817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You are the reviewer! Not the agent!</a:t>
            </a:r>
          </a:p>
        </p:txBody>
      </p:sp>
    </p:spTree>
    <p:extLst>
      <p:ext uri="{BB962C8B-B14F-4D97-AF65-F5344CB8AC3E}">
        <p14:creationId xmlns:p14="http://schemas.microsoft.com/office/powerpoint/2010/main" val="262788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5050632F-9678-42A1-9DB8-DF0C387D14C1}"/>
              </a:ext>
            </a:extLst>
          </p:cNvPr>
          <p:cNvSpPr/>
          <p:nvPr/>
        </p:nvSpPr>
        <p:spPr>
          <a:xfrm>
            <a:off x="1947331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FEB78D-6787-4D0A-8CB6-ABC9D68FBD2A}"/>
              </a:ext>
            </a:extLst>
          </p:cNvPr>
          <p:cNvSpPr txBox="1"/>
          <p:nvPr/>
        </p:nvSpPr>
        <p:spPr>
          <a:xfrm>
            <a:off x="1344187" y="3518963"/>
            <a:ext cx="26710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Standard CoPilot response to prompts.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“What is this SQL script doing?”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CAFB85C-F6B2-4252-A800-C5205D6A8BDD}"/>
              </a:ext>
            </a:extLst>
          </p:cNvPr>
          <p:cNvSpPr/>
          <p:nvPr/>
        </p:nvSpPr>
        <p:spPr>
          <a:xfrm>
            <a:off x="5003800" y="2362200"/>
            <a:ext cx="2362200" cy="889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7C36C29-912A-497C-87E8-EF34007C3BA8}"/>
              </a:ext>
            </a:extLst>
          </p:cNvPr>
          <p:cNvSpPr/>
          <p:nvPr/>
        </p:nvSpPr>
        <p:spPr>
          <a:xfrm>
            <a:off x="3565471" y="1803400"/>
            <a:ext cx="899476" cy="855133"/>
          </a:xfrm>
          <a:prstGeom prst="wedgeEllipseCallout">
            <a:avLst>
              <a:gd name="adj1" fmla="val -104608"/>
              <a:gd name="adj2" fmla="val 75371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4464AC-08AA-4D76-95C6-DB702F8DF557}"/>
              </a:ext>
            </a:extLst>
          </p:cNvPr>
          <p:cNvSpPr txBox="1"/>
          <p:nvPr/>
        </p:nvSpPr>
        <p:spPr>
          <a:xfrm>
            <a:off x="7685721" y="3361266"/>
            <a:ext cx="26710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Agentic CoPilot can take a prompt, plan steps and complete actions to achieve this.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“Make my SQL script more efficient.”</a:t>
            </a:r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54261C53-DD3B-4DEB-AF63-9752CC9409AD}"/>
              </a:ext>
            </a:extLst>
          </p:cNvPr>
          <p:cNvSpPr/>
          <p:nvPr/>
        </p:nvSpPr>
        <p:spPr>
          <a:xfrm>
            <a:off x="8288865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7" name="Graphic 16" descr="Muscular arm with solid fill">
            <a:extLst>
              <a:ext uri="{FF2B5EF4-FFF2-40B4-BE49-F238E27FC236}">
                <a16:creationId xmlns:a16="http://schemas.microsoft.com/office/drawing/2014/main" id="{65FC4F21-BB02-4A19-AA7D-1C2660859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85" y="196532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3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27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3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In your participant folder in your feature branch, there is a .py script. Open this and work with CoPilot to understand and optimise the script.</a:t>
            </a:r>
          </a:p>
          <a:p>
            <a:pPr lvl="1"/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Open the PY file in your feature branch in GitHub.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Use the following prompt within CoPilot: </a:t>
            </a:r>
            <a:r>
              <a:rPr lang="en-GB" i="1" dirty="0">
                <a:solidFill>
                  <a:srgbClr val="2DAF75"/>
                </a:solidFill>
              </a:rPr>
              <a:t>please explain what this file is doing. </a:t>
            </a: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Ask CoPilot to make suggestions on how to improve the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Use the following prompt in Agent Mode to generate a technical document: </a:t>
            </a:r>
            <a:r>
              <a:rPr lang="en-GB" i="1" dirty="0">
                <a:solidFill>
                  <a:srgbClr val="2DAF75"/>
                </a:solidFill>
                <a:latin typeface="Mona Sans VF"/>
              </a:rPr>
              <a:t>create a technical document to explain this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The agent will potentially produce this within its new feature branch. Open a pull request to pull these changes into your feature branch.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70304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830997"/>
          </a:xfrm>
        </p:spPr>
        <p:txBody>
          <a:bodyPr/>
          <a:lstStyle/>
          <a:p>
            <a:r>
              <a:rPr lang="en-GB" dirty="0"/>
              <a:t>Codespaces</a:t>
            </a:r>
          </a:p>
        </p:txBody>
      </p:sp>
    </p:spTree>
    <p:extLst>
      <p:ext uri="{BB962C8B-B14F-4D97-AF65-F5344CB8AC3E}">
        <p14:creationId xmlns:p14="http://schemas.microsoft.com/office/powerpoint/2010/main" val="4053802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29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VS Code within the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ready-to-use development environment, opened from a repository in your browser.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Python packages and extensions are already pre-installed.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Integrated with CoPilot and GitHub. </a:t>
            </a:r>
          </a:p>
          <a:p>
            <a:endParaRPr lang="en-GB" dirty="0"/>
          </a:p>
          <a:p>
            <a:r>
              <a:rPr lang="en-GB" b="1" dirty="0"/>
              <a:t>Why use compared to local VS code?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Everyone in the team gets the same environment.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Great for onboarding, quick fixes and reviewing pull requests in one place. </a:t>
            </a:r>
          </a:p>
        </p:txBody>
      </p:sp>
      <p:pic>
        <p:nvPicPr>
          <p:cNvPr id="6" name="codespace_arch.png" descr="Diagram: a browser connects to a Codespace built from the devcontainer file in the repository">
            <a:extLst>
              <a:ext uri="{FF2B5EF4-FFF2-40B4-BE49-F238E27FC236}">
                <a16:creationId xmlns:a16="http://schemas.microsoft.com/office/drawing/2014/main" id="{49982548-BE8A-4D89-922E-546907C5B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05" y="3602960"/>
            <a:ext cx="3770694" cy="282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30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D14C2-A169-4D7D-8E9D-FA85404B5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8" y="2165384"/>
            <a:ext cx="5202556" cy="320866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C7E4C8-55F2-4ACF-B44F-2EEA112757D6}"/>
              </a:ext>
            </a:extLst>
          </p:cNvPr>
          <p:cNvCxnSpPr/>
          <p:nvPr/>
        </p:nvCxnSpPr>
        <p:spPr>
          <a:xfrm flipV="1">
            <a:off x="5926667" y="1879600"/>
            <a:ext cx="1701800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A722A9-377D-45F8-BC70-F071F2F43069}"/>
              </a:ext>
            </a:extLst>
          </p:cNvPr>
          <p:cNvCxnSpPr>
            <a:cxnSpLocks/>
          </p:cNvCxnSpPr>
          <p:nvPr/>
        </p:nvCxnSpPr>
        <p:spPr>
          <a:xfrm>
            <a:off x="6096000" y="4572000"/>
            <a:ext cx="1625600" cy="90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00615A2-E42F-4486-BD12-B7AA2C220AC2}"/>
              </a:ext>
            </a:extLst>
          </p:cNvPr>
          <p:cNvSpPr/>
          <p:nvPr/>
        </p:nvSpPr>
        <p:spPr>
          <a:xfrm>
            <a:off x="8009467" y="1261533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Will open in separate browser window for users without VS Code.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224040-E4E4-473A-848A-73DFF61E5A5F}"/>
              </a:ext>
            </a:extLst>
          </p:cNvPr>
          <p:cNvSpPr/>
          <p:nvPr/>
        </p:nvSpPr>
        <p:spPr>
          <a:xfrm>
            <a:off x="8009467" y="5101167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Can be accessed through VS Code locally.</a:t>
            </a:r>
          </a:p>
        </p:txBody>
      </p:sp>
    </p:spTree>
    <p:extLst>
      <p:ext uri="{BB962C8B-B14F-4D97-AF65-F5344CB8AC3E}">
        <p14:creationId xmlns:p14="http://schemas.microsoft.com/office/powerpoint/2010/main" val="959260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31</a:t>
            </a:fld>
            <a:endParaRPr lang="en-GB" dirty="0"/>
          </a:p>
        </p:txBody>
      </p:sp>
      <p:pic>
        <p:nvPicPr>
          <p:cNvPr id="11" name="sde_fit.png" descr="Diagram: code moves from GitHub to the Secure Data Environment; real data never leaves it">
            <a:extLst>
              <a:ext uri="{FF2B5EF4-FFF2-40B4-BE49-F238E27FC236}">
                <a16:creationId xmlns:a16="http://schemas.microsoft.com/office/drawing/2014/main" id="{7CC9D1C3-7383-4B34-B40C-23D046CA4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78" y="1653560"/>
            <a:ext cx="5583291" cy="41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23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1661993"/>
          </a:xfrm>
        </p:spPr>
        <p:txBody>
          <a:bodyPr/>
          <a:lstStyle/>
          <a:p>
            <a:r>
              <a:rPr lang="en-GB" dirty="0"/>
              <a:t>Codespace Walkthrough</a:t>
            </a:r>
          </a:p>
        </p:txBody>
      </p:sp>
    </p:spTree>
    <p:extLst>
      <p:ext uri="{BB962C8B-B14F-4D97-AF65-F5344CB8AC3E}">
        <p14:creationId xmlns:p14="http://schemas.microsoft.com/office/powerpoint/2010/main" val="1236093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33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4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Open up a codespace in your feature branch and use CoPilot as an agent to help troubleshoot a badly written SQL script.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Create a new codespace in your feature branch in GitHub. Your codespace URL is randomly generated so will not be the same as your neighbour!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your participant folder, there is a .sql file. Use CoPilot in Ask mode to review the file.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Revert CoPilot into Agent mode and prompt it to fix the errors in your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Ask CoPilot to generate a document to explain the SQL code.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Commit and push your changes out of the codespace into GitHub.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345070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products</a:t>
            </a:r>
          </a:p>
        </p:txBody>
      </p:sp>
    </p:spTree>
    <p:extLst>
      <p:ext uri="{BB962C8B-B14F-4D97-AF65-F5344CB8AC3E}">
        <p14:creationId xmlns:p14="http://schemas.microsoft.com/office/powerpoint/2010/main" val="13271752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Useful Resources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35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You should have access now to the full BIU_GithubTraining repo.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Halo ticket for new GitHub requirements: </a:t>
            </a:r>
            <a:r>
              <a:rPr lang="en-GB" dirty="0">
                <a:hlinkClick r:id="rId2"/>
              </a:rPr>
              <a:t>ABUHB Self-Service Portal – GitHub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NHS Wales Solution Exchange: </a:t>
            </a:r>
            <a:r>
              <a:rPr lang="fr-FR" dirty="0">
                <a:hlinkClick r:id="rId3"/>
              </a:rPr>
              <a:t>NHS Wales Solutions Exchange - Browse Solutions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Free public datasets to continue exploration: </a:t>
            </a:r>
            <a:r>
              <a:rPr lang="en-GB" dirty="0" err="1">
                <a:hlinkClick r:id="rId4"/>
              </a:rPr>
              <a:t>awesomedata</a:t>
            </a:r>
            <a:r>
              <a:rPr lang="en-GB" dirty="0">
                <a:hlinkClick r:id="rId4"/>
              </a:rPr>
              <a:t>/awesome-public-datasets: A topic-centric list of HQ open datasets.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Speak to a member of the GitHub Admin team! </a:t>
            </a:r>
            <a:endParaRPr lang="en-GB" dirty="0"/>
          </a:p>
        </p:txBody>
      </p:sp>
      <p:pic>
        <p:nvPicPr>
          <p:cNvPr id="5122" name="Picture 2" descr="Question clipart Images - Free Download on Magnific (formerly Freepik)">
            <a:extLst>
              <a:ext uri="{FF2B5EF4-FFF2-40B4-BE49-F238E27FC236}">
                <a16:creationId xmlns:a16="http://schemas.microsoft.com/office/drawing/2014/main" id="{F8F1E633-2C9D-4645-9367-80A403262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655" y="4226635"/>
            <a:ext cx="2204345" cy="2204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82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Thank you! </a:t>
            </a:r>
          </a:p>
        </p:txBody>
      </p:sp>
    </p:spTree>
    <p:extLst>
      <p:ext uri="{BB962C8B-B14F-4D97-AF65-F5344CB8AC3E}">
        <p14:creationId xmlns:p14="http://schemas.microsoft.com/office/powerpoint/2010/main" val="232695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BUHB colour palette 1">
      <a:dk1>
        <a:srgbClr val="0B385B"/>
      </a:dk1>
      <a:lt1>
        <a:srgbClr val="FFFFFF"/>
      </a:lt1>
      <a:dk2>
        <a:srgbClr val="0B385B"/>
      </a:dk2>
      <a:lt2>
        <a:srgbClr val="F5F5F5"/>
      </a:lt2>
      <a:accent1>
        <a:srgbClr val="EE4458"/>
      </a:accent1>
      <a:accent2>
        <a:srgbClr val="FE9C1F"/>
      </a:accent2>
      <a:accent3>
        <a:srgbClr val="C8E267"/>
      </a:accent3>
      <a:accent4>
        <a:srgbClr val="00C3D1"/>
      </a:accent4>
      <a:accent5>
        <a:srgbClr val="206C9F"/>
      </a:accent5>
      <a:accent6>
        <a:srgbClr val="853C7E"/>
      </a:accent6>
      <a:hlink>
        <a:srgbClr val="0B385B"/>
      </a:hlink>
      <a:folHlink>
        <a:srgbClr val="6450A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F7E8FA9F-3EA1-A04C-9735-7045C9D67254}" vid="{DF975FF4-3DC5-5E4C-B6CB-BAD29D1FF9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483428e-716d-4b33-b115-78d5a8925782">
      <Terms xmlns="http://schemas.microsoft.com/office/infopath/2007/PartnerControls"/>
    </lcf76f155ced4ddcb4097134ff3c332f>
    <TaxCatchAll xmlns="e55bf511-4ba5-4939-82c7-95fd6f39aefd">
      <Value>188</Value>
      <Value>16</Value>
      <Value>687</Value>
    </TaxCatchAll>
    <Owner xmlns="1483428e-716d-4b33-b115-78d5a8925782">
      <UserInfo>
        <DisplayName/>
        <AccountId xsi:nil="true"/>
        <AccountType/>
      </UserInfo>
    </Owner>
    <o614325ba7f549b1a8b8e19b035d94ff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Health Board (Corporate)</TermName>
          <TermId xmlns="http://schemas.microsoft.com/office/infopath/2007/PartnerControls">0c363e41-cf1f-4305-9014-97a1479fc32c</TermId>
        </TermInfo>
      </Terms>
    </o614325ba7f549b1a8b8e19b035d94ff>
    <ReviewSchedule_x0028_months_x0029_ xmlns="1483428e-716d-4b33-b115-78d5a8925782">3</ReviewSchedule_x0028_months_x0029_>
    <Published_x0020_Date xmlns="1483428e-716d-4b33-b115-78d5a8925782">2026-05-21T23:00:00+00:00</Published_x0020_Date>
    <d74cbe23f3244f26857e51a18e649bb1 xmlns="e55bf511-4ba5-4939-82c7-95fd6f39aefd">
      <Terms xmlns="http://schemas.microsoft.com/office/infopath/2007/PartnerControls"/>
    </d74cbe23f3244f26857e51a18e649bb1>
    <g9bb5d66ff7848828f62e2406995fd6a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Head of PMO ＆ Digital Engagement</TermName>
          <TermId xmlns="http://schemas.microsoft.com/office/infopath/2007/PartnerControls">8d983f83-8eb7-4a8e-9058-8ef2b063c7e8</TermId>
        </TermInfo>
      </Terms>
    </g9bb5d66ff7848828f62e2406995fd6a>
    <k35bb188367f4e7f84aa638d61a157e7 xmlns="1483428e-716d-4b33-b115-78d5a8925782">
      <Terms xmlns="http://schemas.microsoft.com/office/infopath/2007/PartnerControls"/>
    </k35bb188367f4e7f84aa638d61a157e7>
    <UnderReview xmlns="1483428e-716d-4b33-b115-78d5a8925782">false</UnderReview>
    <h4c8ae8ce7454af68b724828ae932791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Template</TermName>
          <TermId xmlns="http://schemas.microsoft.com/office/infopath/2007/PartnerControls">72ecb681-7f24-447b-bff2-3c3e16947b2d</TermId>
        </TermInfo>
      </Terms>
    </h4c8ae8ce7454af68b724828ae932791>
    <Author0 xmlns="1483428e-716d-4b33-b115-78d5a8925782">
      <UserInfo>
        <DisplayName/>
        <AccountId xsi:nil="true"/>
        <AccountType/>
      </UserInfo>
    </Author0>
    <SharedWithUsers xmlns="bd0481ee-721b-4901-9dea-7fae852e4c18">
      <UserInfo>
        <DisplayName/>
        <AccountId xsi:nil="true"/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C07746058E2B4780C48ADCCC13CF7E" ma:contentTypeVersion="65" ma:contentTypeDescription="Create a new document." ma:contentTypeScope="" ma:versionID="4ce23191b1d0f2551f14c1b35203a729">
  <xsd:schema xmlns:xsd="http://www.w3.org/2001/XMLSchema" xmlns:xs="http://www.w3.org/2001/XMLSchema" xmlns:p="http://schemas.microsoft.com/office/2006/metadata/properties" xmlns:ns2="1483428e-716d-4b33-b115-78d5a8925782" xmlns:ns3="bd0481ee-721b-4901-9dea-7fae852e4c18" xmlns:ns4="e55bf511-4ba5-4939-82c7-95fd6f39aefd" targetNamespace="http://schemas.microsoft.com/office/2006/metadata/properties" ma:root="true" ma:fieldsID="fc6c6fe6a11276e430e41fcdcb36170d" ns2:_="" ns3:_="" ns4:_="">
    <xsd:import namespace="1483428e-716d-4b33-b115-78d5a8925782"/>
    <xsd:import namespace="bd0481ee-721b-4901-9dea-7fae852e4c18"/>
    <xsd:import namespace="e55bf511-4ba5-4939-82c7-95fd6f39aefd"/>
    <xsd:element name="properties">
      <xsd:complexType>
        <xsd:sequence>
          <xsd:element name="documentManagement">
            <xsd:complexType>
              <xsd:all>
                <xsd:element ref="ns2:Author0" minOccurs="0"/>
                <xsd:element ref="ns2:Owner" minOccurs="0"/>
                <xsd:element ref="ns2:Published_x0020_Date" minOccurs="0"/>
                <xsd:element ref="ns2:ReviewSchedule_x0028_months_x0029_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Metadata" minOccurs="0"/>
                <xsd:element ref="ns2:MediaServiceFastMetadata" minOccurs="0"/>
                <xsd:element ref="ns4:TaxCatchAll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2:h4c8ae8ce7454af68b724828ae932791" minOccurs="0"/>
                <xsd:element ref="ns2:o614325ba7f549b1a8b8e19b035d94ff" minOccurs="0"/>
                <xsd:element ref="ns4:TaxCatchAllLabel" minOccurs="0"/>
                <xsd:element ref="ns4:d74cbe23f3244f26857e51a18e649bb1" minOccurs="0"/>
                <xsd:element ref="ns2:UnderReview" minOccurs="0"/>
                <xsd:element ref="ns2:g9bb5d66ff7848828f62e2406995fd6a" minOccurs="0"/>
                <xsd:element ref="ns2:k35bb188367f4e7f84aa638d61a157e7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83428e-716d-4b33-b115-78d5a8925782" elementFormDefault="qualified">
    <xsd:import namespace="http://schemas.microsoft.com/office/2006/documentManagement/types"/>
    <xsd:import namespace="http://schemas.microsoft.com/office/infopath/2007/PartnerControls"/>
    <xsd:element name="Author0" ma:index="2" nillable="true" ma:displayName="Author" ma:format="Dropdown" ma:list="UserInfo" ma:SharePointGroup="0" ma:internalName="Author0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wner" ma:index="3" nillable="true" ma:displayName="Owner" ma:description="This identifies the owner of the document - the person responsible for managing it's version status etc" ma:format="Dropdown" ma:list="UserInfo" ma:SharePointGroup="0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ublished_x0020_Date" ma:index="4" nillable="true" ma:displayName="Published Date" ma:format="DateOnly" ma:internalName="Published_x0020_Date" ma:readOnly="false">
      <xsd:simpleType>
        <xsd:restriction base="dms:DateTime"/>
      </xsd:simpleType>
    </xsd:element>
    <xsd:element name="ReviewSchedule_x0028_months_x0029_" ma:index="6" nillable="true" ma:displayName="Review Schedule (Years)" ma:default="3" ma:format="Dropdown" ma:internalName="ReviewSchedule_x0028_months_x0029_" ma:percentage="FALSE">
      <xsd:simpleType>
        <xsd:restriction base="dms:Number"/>
      </xsd:simpleType>
    </xsd:element>
    <xsd:element name="MediaServiceAutoKeyPoints" ma:index="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8" nillable="true" ma:displayName="KeyPoints" ma:hidden="true" ma:internalName="MediaServiceKeyPoints" ma:readOnly="true">
      <xsd:simpleType>
        <xsd:restriction base="dms:Note"/>
      </xsd:simpleType>
    </xsd:element>
    <xsd:element name="MediaServiceOCR" ma:index="11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Metadata" ma:index="1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efaef41-70dc-4075-804e-d4e4dbdaee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h4c8ae8ce7454af68b724828ae932791" ma:index="28" nillable="true" ma:taxonomy="true" ma:internalName="h4c8ae8ce7454af68b724828ae932791" ma:taxonomyFieldName="Document_x0020_Type" ma:displayName="AB - Document Type" ma:indexed="true" ma:default="" ma:fieldId="{14c8ae8c-e745-4af6-8b72-4828ae932791}" ma:sspId="cefaef41-70dc-4075-804e-d4e4dbdaeee0" ma:termSetId="7245b043-24e8-4a47-a571-e61992bff4f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o614325ba7f549b1a8b8e19b035d94ff" ma:index="30" nillable="true" ma:taxonomy="true" ma:internalName="o614325ba7f549b1a8b8e19b035d94ff" ma:taxonomyFieldName="Service" ma:displayName="AB - Service" ma:default="" ma:fieldId="{8614325b-a7f5-49b1-a8b8-e19b035d94ff}" ma:sspId="cefaef41-70dc-4075-804e-d4e4dbdaeee0" ma:termSetId="691e2636-b724-4c15-9826-68da7e1ced5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UnderReview" ma:index="34" nillable="true" ma:displayName="Under Review" ma:default="0" ma:format="Dropdown" ma:internalName="UnderReview">
      <xsd:simpleType>
        <xsd:restriction base="dms:Boolean"/>
      </xsd:simpleType>
    </xsd:element>
    <xsd:element name="g9bb5d66ff7848828f62e2406995fd6a" ma:index="36" nillable="true" ma:taxonomy="true" ma:internalName="g9bb5d66ff7848828f62e2406995fd6a" ma:taxonomyFieldName="Owner_x0020__x0028_Role_x0029_" ma:displayName="Owner (Role)" ma:default="" ma:fieldId="{09bb5d66-ff78-4882-8f62-e2406995fd6a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35bb188367f4e7f84aa638d61a157e7" ma:index="38" nillable="true" ma:taxonomy="true" ma:internalName="k35bb188367f4e7f84aa638d61a157e7" ma:taxonomyFieldName="Approver_x0020__x0028_Role_x0029_" ma:displayName="Approver (Role)" ma:default="" ma:fieldId="{435bb188-367f-4e7f-84aa-638d61a157e7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ediaServiceObjectDetectorVersions" ma:index="3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4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0481ee-721b-4901-9dea-7fae852e4c18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5bf511-4ba5-4939-82c7-95fd6f39aefd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319f7c0a-d1a9-4586-833d-cac689e52a8a}" ma:internalName="TaxCatchAll" ma:showField="CatchAllData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31" nillable="true" ma:displayName="Taxonomy Catch All Column1" ma:hidden="true" ma:list="{319f7c0a-d1a9-4586-833d-cac689e52a8a}" ma:internalName="TaxCatchAllLabel" ma:readOnly="true" ma:showField="CatchAllDataLabel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74cbe23f3244f26857e51a18e649bb1" ma:index="32" nillable="true" ma:taxonomy="true" ma:internalName="d74cbe23f3244f26857e51a18e649bb1" ma:taxonomyFieldName="AB_x0020__x002d__x0020_Team" ma:displayName="AB - Team" ma:default="" ma:fieldId="{d74cbe23-f324-4f26-857e-51a18e649bb1}" ma:taxonomyMulti="true" ma:sspId="cefaef41-70dc-4075-804e-d4e4dbdaeee0" ma:termSetId="312a8f12-3d85-4776-8b2c-0357e4ee5cf0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Document 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79169C-6CC4-432B-8D8A-84EDE4F2515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2BFFEF-C0F7-4036-B4E1-D454B3025A9E}">
  <ds:schemaRefs>
    <ds:schemaRef ds:uri="http://schemas.microsoft.com/office/2006/documentManagement/types"/>
    <ds:schemaRef ds:uri="http://purl.org/dc/elements/1.1/"/>
    <ds:schemaRef ds:uri="1483428e-716d-4b33-b115-78d5a8925782"/>
    <ds:schemaRef ds:uri="http://www.w3.org/XML/1998/namespace"/>
    <ds:schemaRef ds:uri="e55bf511-4ba5-4939-82c7-95fd6f39aefd"/>
    <ds:schemaRef ds:uri="bd0481ee-721b-4901-9dea-7fae852e4c18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12431A6-2122-481C-A8D7-9F7BB75B71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483428e-716d-4b33-b115-78d5a8925782"/>
    <ds:schemaRef ds:uri="bd0481ee-721b-4901-9dea-7fae852e4c18"/>
    <ds:schemaRef ds:uri="e55bf511-4ba5-4939-82c7-95fd6f39ae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1080 ABUHB PowerPoint Template FINAL</Template>
  <TotalTime>355</TotalTime>
  <Words>1809</Words>
  <Application>Microsoft Office PowerPoint</Application>
  <PresentationFormat>Widescreen</PresentationFormat>
  <Paragraphs>315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Arial</vt:lpstr>
      <vt:lpstr>Arial,Sans-Serif</vt:lpstr>
      <vt:lpstr>Courier New</vt:lpstr>
      <vt:lpstr>Helvetica Neue</vt:lpstr>
      <vt:lpstr>Mona Sans VF</vt:lpstr>
      <vt:lpstr>Wingdings</vt:lpstr>
      <vt:lpstr>Office Theme</vt:lpstr>
      <vt:lpstr>GitHub Training</vt:lpstr>
      <vt:lpstr>Modules to be covered</vt:lpstr>
      <vt:lpstr>GitHub Overview</vt:lpstr>
      <vt:lpstr>Git vs GitHub</vt:lpstr>
      <vt:lpstr>GitHub Enterprise Cloud</vt:lpstr>
      <vt:lpstr>Why GitHub for analytics?</vt:lpstr>
      <vt:lpstr>Why GitHub for analytics?</vt:lpstr>
      <vt:lpstr>GitHub Usage Best Practices</vt:lpstr>
      <vt:lpstr>Navigating a repository</vt:lpstr>
      <vt:lpstr>Exercise Checkpoint 1 </vt:lpstr>
      <vt:lpstr>Key Git Concepts</vt:lpstr>
      <vt:lpstr>How Git Stores Your Work</vt:lpstr>
      <vt:lpstr>How Git Stores Your Work</vt:lpstr>
      <vt:lpstr>How Git Stores Your Work</vt:lpstr>
      <vt:lpstr>How Git Stores Your Work</vt:lpstr>
      <vt:lpstr>Standard GitHub Files</vt:lpstr>
      <vt:lpstr>Exercise Checkpoint 2 </vt:lpstr>
      <vt:lpstr>Other GitHub Features</vt:lpstr>
      <vt:lpstr>Issues</vt:lpstr>
      <vt:lpstr>Projects</vt:lpstr>
      <vt:lpstr>Agents and Actions</vt:lpstr>
      <vt:lpstr>Security &amp; Quality</vt:lpstr>
      <vt:lpstr>Using CoPilot Effectively</vt:lpstr>
      <vt:lpstr>Using CoPilot Effectively</vt:lpstr>
      <vt:lpstr>Using CoPilot Effectively</vt:lpstr>
      <vt:lpstr>Using CoPilot Effectively</vt:lpstr>
      <vt:lpstr>Exercise Checkpoint 3 </vt:lpstr>
      <vt:lpstr>Codespaces</vt:lpstr>
      <vt:lpstr>Codespaces</vt:lpstr>
      <vt:lpstr>Codespaces</vt:lpstr>
      <vt:lpstr>Codespaces</vt:lpstr>
      <vt:lpstr>Codespace Walkthrough</vt:lpstr>
      <vt:lpstr>Exercise Checkpoint 4 </vt:lpstr>
      <vt:lpstr>Other GitHub products</vt:lpstr>
      <vt:lpstr>Useful Resources</vt:lpstr>
      <vt:lpstr>Thank you! </vt:lpstr>
    </vt:vector>
  </TitlesOfParts>
  <Company>Aneurin Bevan University Health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BigQuery SQL Training</dc:title>
  <dc:creator>Marie-Claire Griffiths (Aneurin Bevan UHB - Planning)</dc:creator>
  <cp:lastModifiedBy>Jessica Speake (Aneurin Bevan UHB - Digital Data and Technology)</cp:lastModifiedBy>
  <cp:revision>33</cp:revision>
  <cp:lastPrinted>2025-08-21T19:41:27Z</cp:lastPrinted>
  <dcterms:created xsi:type="dcterms:W3CDTF">2025-09-30T14:13:03Z</dcterms:created>
  <dcterms:modified xsi:type="dcterms:W3CDTF">2026-10-26T10:25:14Z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0x010100D3C07746058E2B4780C48ADCCC13CF7E</vt:lpwstr>
  </property>
  <property fmtid="{D5CDD505-2E9C-101B-9397-08002B2CF9AE}" pid="3" name="MediaServiceImageTags">
    <vt:lpwstr/>
  </property>
  <property fmtid="{D5CDD505-2E9C-101B-9397-08002B2CF9AE}" pid="4" name="Order">
    <vt:r8>578000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Document_x0020_Type">
    <vt:lpwstr>188;#Template|72ecb681-7f24-447b-bff2-3c3e16947b2d</vt:lpwstr>
  </property>
  <property fmtid="{D5CDD505-2E9C-101B-9397-08002B2CF9AE}" pid="12" name="Approver (Role)">
    <vt:lpwstr/>
  </property>
  <property fmtid="{D5CDD505-2E9C-101B-9397-08002B2CF9AE}" pid="13" name="Owner_x0020__x0028_Role_x0029_">
    <vt:lpwstr>687;#Head of PMO ＆ Digital Engagement|8d983f83-8eb7-4a8e-9058-8ef2b063c7e8</vt:lpwstr>
  </property>
  <property fmtid="{D5CDD505-2E9C-101B-9397-08002B2CF9AE}" pid="14" name="Approver_x0020__x0028_Role_x0029_">
    <vt:lpwstr/>
  </property>
  <property fmtid="{D5CDD505-2E9C-101B-9397-08002B2CF9AE}" pid="15" name="AB_x0020__x002d__x0020_Team">
    <vt:lpwstr/>
  </property>
  <property fmtid="{D5CDD505-2E9C-101B-9397-08002B2CF9AE}" pid="16" name="Service">
    <vt:lpwstr>16;#Health Board (Corporate)|0c363e41-cf1f-4305-9014-97a1479fc32c</vt:lpwstr>
  </property>
  <property fmtid="{D5CDD505-2E9C-101B-9397-08002B2CF9AE}" pid="17" name="AB - Team">
    <vt:lpwstr/>
  </property>
  <property fmtid="{D5CDD505-2E9C-101B-9397-08002B2CF9AE}" pid="18" name="Owner (Role)">
    <vt:lpwstr>687;#Head of PMO ＆ Digital Engagement|8d983f83-8eb7-4a8e-9058-8ef2b063c7e8</vt:lpwstr>
  </property>
  <property fmtid="{D5CDD505-2E9C-101B-9397-08002B2CF9AE}" pid="19" name="Document Type">
    <vt:lpwstr>188;#Template|72ecb681-7f24-447b-bff2-3c3e16947b2d</vt:lpwstr>
  </property>
  <property fmtid="{D5CDD505-2E9C-101B-9397-08002B2CF9AE}" pid="20" name="h73e8447ba3c4209afcade2bdc7b7702">
    <vt:lpwstr/>
  </property>
  <property fmtid="{D5CDD505-2E9C-101B-9397-08002B2CF9AE}" pid="21" name="AB_x0020__x002d__x0020_Status">
    <vt:lpwstr/>
  </property>
  <property fmtid="{D5CDD505-2E9C-101B-9397-08002B2CF9AE}" pid="22" name="AB_x0020__x002d__x0020_Domain">
    <vt:lpwstr/>
  </property>
  <property fmtid="{D5CDD505-2E9C-101B-9397-08002B2CF9AE}" pid="23" name="c9d02efa741e40f2994de831c3410112">
    <vt:lpwstr/>
  </property>
  <property fmtid="{D5CDD505-2E9C-101B-9397-08002B2CF9AE}" pid="24" name="AB_x0020__x002d__x0020_Programme">
    <vt:lpwstr/>
  </property>
  <property fmtid="{D5CDD505-2E9C-101B-9397-08002B2CF9AE}" pid="25" name="a8e7dbf1479e477ca90c732c03f2f52e">
    <vt:lpwstr/>
  </property>
  <property fmtid="{D5CDD505-2E9C-101B-9397-08002B2CF9AE}" pid="26" name="AB - Status">
    <vt:lpwstr/>
  </property>
  <property fmtid="{D5CDD505-2E9C-101B-9397-08002B2CF9AE}" pid="27" name="AB - Domain">
    <vt:lpwstr/>
  </property>
  <property fmtid="{D5CDD505-2E9C-101B-9397-08002B2CF9AE}" pid="28" name="AB - Programme">
    <vt:lpwstr/>
  </property>
</Properties>
</file>