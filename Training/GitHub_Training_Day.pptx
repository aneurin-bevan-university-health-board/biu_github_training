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Training/01_Session_1_Why_GitHub_for_Data_Teams.md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Training/02_Session_2_Introduction_to_GIT.md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Training/02_Session_2_Introduction_to_GIT.md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Training/02_Session_2_Introduction_to_GIT.md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Training/02_Session_2_Introduction_to_GIT.md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Training/02_Session_2_Introduction_to_GIT.md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Training/02_Session_2_Introduction_to_GIT.md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Training/02_Session_2_Introduction_to_GIT.md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Training/03_Session_3_Branching_and_Sync_Operations.md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Training/04_Session_4_GitHub_Cloud_Interface.md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Training/04_Session_4_GitHub_Cloud_Interface.md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Training/04_Session_4_GitHub_Cloud_Interface.md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Training/04_Session_4_GitHub_Cloud_Interface.md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Training/04_Session_4_GitHub_Cloud_Interface.md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Training/04_Session_4_GitHub_Cloud_Interface.md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Training/05_Session_5_Codespaces_Workspace_and_File_Management.md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Training/05_Session_5_Codespaces_Workspace_and_File_Management.md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Training/05_Session_5_Codespaces_Workspace_and_File_Management.md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Training/05_Session_5_Codespaces_Workspace_and_File_Management.md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Training/05_Session_5_Codespaces_Workspace_and_File_Management.md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Training/05_Session_5_Codespaces_Workspace_and_File_Management.md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Training/06_Session_6_VS_Code_Integration_and_Notebooks.md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Training/06_Session_6_VS_Code_Integration_and_Notebooks.md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Training/06_Session_6_VS_Code_Integration_and_Notebooks.md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Training/06_Session_6_VS_Code_Integration_and_Notebooks.md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Training/06_Session_6_VS_Code_Integration_and_Notebooks.md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Training/06_Session_6_VS_Code_Integration_and_Notebooks.md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Training/06_Session_6_VS_Code_Integration_and_Notebooks.md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Training/07_Session_7_Issues_Projects_and_Discussions.md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Training/08_Session_8_Codespaces_and_Copilot_Exercise.md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Training/09_Session_9_Group_Exercises_and_Consolidation.md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Training/09_Session_9_Group_Exercises_and_Consolidation.md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Training/09_Session_9_Group_Exercises_and_Consolidation.md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Training/09_Session_9_Group_Exercises_and_Consolidation.md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Training/09_Session_9_Group_Exercises_and_Consolidation.md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for this session: Training/09_Session_9_Group_Exercises_and_Consolidation.md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gi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1132"/>
          </a:solidFill>
          <a:ln cap="flat" cmpd="sng" w="12700">
            <a:solidFill>
              <a:srgbClr val="00113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>
            <p:ph type="ctrTitle"/>
          </p:nvPr>
        </p:nvSpPr>
        <p:spPr>
          <a:xfrm>
            <a:off x="863029" y="2373330"/>
            <a:ext cx="10453955" cy="27894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 Rounded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863029" y="5250094"/>
            <a:ext cx="10453955" cy="9965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CDCDC"/>
              </a:buClr>
              <a:buSzPts val="2400"/>
              <a:buNone/>
              <a:defRPr sz="2400">
                <a:solidFill>
                  <a:srgbClr val="DCDCDC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Velindre NHS HOSP logo (white on trans background).gif" id="17" name="Google Shape;17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3029" y="752650"/>
            <a:ext cx="3200399" cy="8031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472611" y="375516"/>
            <a:ext cx="11234792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" type="body"/>
          </p:nvPr>
        </p:nvSpPr>
        <p:spPr>
          <a:xfrm>
            <a:off x="472611" y="1825625"/>
            <a:ext cx="11234792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11132049" y="6356350"/>
            <a:ext cx="57535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1132"/>
          </a:solidFill>
          <a:ln cap="flat" cmpd="sng" w="12700">
            <a:solidFill>
              <a:srgbClr val="00113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874122"/>
            <a:ext cx="10515600" cy="32051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4400"/>
              <a:buFont typeface="Arial Rounded"/>
              <a:buNone/>
              <a:defRPr sz="4400">
                <a:solidFill>
                  <a:srgbClr val="D8D8D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5167607"/>
            <a:ext cx="10515600" cy="10864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type="title"/>
          </p:nvPr>
        </p:nvSpPr>
        <p:spPr>
          <a:xfrm>
            <a:off x="472611" y="375516"/>
            <a:ext cx="11234792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72611" y="1825625"/>
            <a:ext cx="11234792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11132049" y="6356350"/>
            <a:ext cx="57535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472611" y="375516"/>
            <a:ext cx="11234792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11132049" y="6356350"/>
            <a:ext cx="57535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11132049" y="6356350"/>
            <a:ext cx="57535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72611" y="375516"/>
            <a:ext cx="11234792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 Rounded"/>
              <a:buNone/>
              <a:defRPr b="1" i="0" sz="4000" u="none" cap="none" strike="noStrike">
                <a:solidFill>
                  <a:srgbClr val="002060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72611" y="1825625"/>
            <a:ext cx="11234792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11132049" y="6356350"/>
            <a:ext cx="57535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GitHub for Analytics and Data Teams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One-Day Training | ABUHB Business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Today's Sessions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09:00 - 09:30 | Why GitHub for Data Teams (30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09:30 - 10:15 | Introduction to GIT (45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10:15 - 11:00 | Branching and Sync Operations (45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11:00 - 11:30 | GitHub Cloud Interface (30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11:30 - 12:15 | Lunch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12:15 - 12:45 | Codespaces Workspace and File Management (30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12:45 - 13:15 | VS Code Integration and Notebooks (30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13:15 - 13:50 | Issues, Projects and Discussions (35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13:50 - 14:35 | Codespaces and Copilot Hands-On (45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14:35 - 15:00 | Group Exercises and Consolidation (25 minutes)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All hands-on work uses the training repository and synthetic data only. Never use real patient data in GitHub or Codespaces.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Why GitHub for Data Teams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1 | 30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What is GitHub?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Git — the engine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Version control system that tracks changes to files over time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Distributed — every user has a complete copy of the project history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Branching — separate lines of development for different pieces of work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GitHub — the platform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Web interface for working with Git repositories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Collaboration tools — issues, pull requests and project boards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Secure cloud hosting, with permissions and access control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Git is the engine. GitHub is the platform built around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Enterprise Cloud: What We Use (Not GitHub Free)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ABUHB uses GitHub Enterprise Cloud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Our organisation is a paid Enterprise Cloud account, not a personal GitHub Free account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You sign in with your ABUHB identity and access is controlled through the organisation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Admins set the policies for repositories, Codespaces, Copilot and security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What the paid plan gives us that Free does not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Enforced branch protection and required reviews on private repositories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Organisation-wide access control, single sign-on and an audit log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Copilot Business licences and organisation controls for Codespaces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Advanced Security products for private repositories (covered in Session 7)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Do your NHS work only in the ABUHB organisation. Never use a personal Free account for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Before You Start: Your Setup Checklist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 should already have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A GitHub account that is a member of the ABUHB organisation (Azure AD group ABB_BIU_GitHub_Users)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A browser that can open Codespaces (nothing else to install). GitHub Desktop and VS Code are optional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Signed in to GitHub, with single sign-on authorised for the organisation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Access to the ndr-hb-abuhb-academy Google Cloud project, through your training group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A GitHub personal access token, stored safely, if your trainer asks for one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If something is missing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Ask the GitHub admin team: ABB.BIU.GitHub.Admin@nhswales365.onmicrosoft.com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500" b="0">
                <a:solidFill>
                  <a:srgbClr val="44546A"/>
                </a:solidFill>
                <a:latin typeface="Arial"/>
              </a:rPr>
              <a:t>Every new repository needs an approved HALO ticket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Full step-by-step instructions are in Training/00_Setup_and_Access.md.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Creating a Personal Access Token (PAT)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 token is a password for one job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GitHub, then Settings, Developer settings, Personal access tokens, Fine-grained tokens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Choose Generate new token, name it, and pick the ABUHB organisation as resource owner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Set a short expiry and select only the repositories you need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Give the least access: Contents and Pull requests read and write, Metadata read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Copy the token once and save it in your credential manager or password manager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Never put a token in code, a notebook, an issue or a Copilot prompt. If one leaks, revoke it at once.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for Healthcare Analytics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Faster development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Remove technical barriers to collaborative work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Reuse shared code and resources instead of starting again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Enhanced security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Share code securely, within approved protocols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Controlled access and an audit trail for compliance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Improved insights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Efficient collaboration across teams and organisations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change log for every modification, surfaced in pull requests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Why GitHub for Data Teams?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Collaboration and auditability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SQL, Python and notebooks live in repositories — not email or personal folders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Every change is tracked, reviewed and documented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Notebooks gain version history and reproducibility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Single source of truth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One canonical repository per project or product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Protected main branch — only reviewed code reaches production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Tagged releases for specific versions (for example "Q1-2024-Report")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Rollback and Traceability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Rollback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production problem? Revert to the last working version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 manual restoring from backups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Traceability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Issue → Branch → Code → Tests → Pull Request → Review → Merge → Deploy → Issue closed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Supports regulatory audit, quality assurance and knowledge transfer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Setting Up Repositories for Success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Repository structure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README.md for project overview and setup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sql/ for extracts, transforms and reports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python/ for source code, notebooks and tests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docs/ for methodology, results and compliance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Naming conventions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Branches — feature/new_api_onboarding, bugfix/measure_count, hotfix/urgent_data_sync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messages — a clear summary line, then detail, then "Closes #123"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Repository Governance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Why govern new repositories?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Consistent naming, and private by default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Confirms data classification and security requirements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Least-privilege access from day one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Links purpose → approval → configuration for audit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 repository request covers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Name, purpose and maintainers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Data classification and visibility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Team access levels and compliance notes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No patient data in GitHub — ever.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How Access and New Repositories Work at ABUHB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Access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Access comes from the Azure AD group ABB_BIU_GitHub_Users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Questions go to the GitHub admin team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New repositories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Raise a HALO ticket with the name, purpose, data classification and access list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The admin team creates the repository once the ticket is approved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Find your area and open your workspace (5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Sign in to GitHub with your ABUHB account and open the training repository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the participants folder and find your folder, named firstname-lastname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On the repository page choose Code, Codespaces, Create codespace on main: this is your workspace for the whole day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Check that the terminal and editor open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running Codespace, and you know where your folder is: participants/&lt;your-folder&gt;</a:t>
            </a:r>
          </a:p>
        </p:txBody>
      </p:sp>
      <p:pic>
        <p:nvPicPr>
          <p:cNvPr id="4" name="repo_area.png" descr="Diagram of a participant area folder inside the shared training reposit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2093669"/>
            <a:ext cx="5583291" cy="381524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Introduction to GIT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2 | 45 minutes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 vs GitHub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distributed version control system, created in 2005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Fast — most operations are local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Data integrity — everything is checksummed before storage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Free and open source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GitHub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cloud platform built on top of GIT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Adds pull requests, issues, projects, team management and Actions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GIT is the engine that manages version control. GitHub adds collaboration.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How GIT Stores Your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object model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Blob — file content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Tree — directory structure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— a snapshot with metadata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Tag — a named reference to a commit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Snapshots and integrity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GIT stores snapshots of the whole project, not differences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Objects are addressed by a SHA-1 hash — any change gives a different hash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Nothing changes or corrupts undetected</a:t>
            </a:r>
          </a:p>
        </p:txBody>
      </p:sp>
      <p:pic>
        <p:nvPicPr>
          <p:cNvPr id="4" name="object_model.png" descr="Diagram: a commit points to a tree, which points to blobs and sub-tre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2000614"/>
            <a:ext cx="5583291" cy="40013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The Three-Tree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Three places your files live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Working directory — where you edit files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Staging area (index) — what will go into the next commit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Repository (HEAD) — the committed history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three states of a file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Modified → Staged → Committed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Staging lets you choose exactly which changes belong in each commit.</a:t>
            </a:r>
          </a:p>
        </p:txBody>
      </p:sp>
      <p:pic>
        <p:nvPicPr>
          <p:cNvPr id="4" name="three_trees.png" descr="Diagram: files move from working directory to staging area to reposit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2186724"/>
            <a:ext cx="5583291" cy="362913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Commits, Branches and HEAD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Core concepts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— the building block of history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Branch — a lightweight, movable pointer to a commit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Tag — a fixed pointer to a commit, used for releases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HEAD — your current position in the repository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Basic operations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init, add, commit and log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Branching creates a new line of work; merging brings it back together</a:t>
            </a:r>
          </a:p>
        </p:txBody>
      </p:sp>
      <p:pic>
        <p:nvPicPr>
          <p:cNvPr id="4" name="branch_merge.png" descr="Diagram: two branches diverge from main and merge ba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2140197"/>
            <a:ext cx="5583291" cy="372219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Why GIT's Design Matters for Data Teams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What you get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Data integrity — checksums protect history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Distributed reliability — every clone is a full backup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Speed — local operations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Safe experimentation — cheap branches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Complete history of every change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Everyone's laptop is a full copy of the project history.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Create your branch and fill in your README (5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In your Codespace terminal, create your branch: git switch -c training/&lt;your-folder&gt;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participants/&lt;your-folder&gt;/README.md (already created for you) and fill it in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Stage and commit with the message: Fill in my area README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Run git status and git log to see what you made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README.md filled in and committed on your own branch (local only for now)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Branching and Sync Operations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3 | 45 minutes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Branches and the Three-Stage Workflow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Branches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branch is a safe draft — changes don't affect anyone until merged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Short-lived branches for focused pieces of analytics work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Working directory → staging area → commit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Stage only the files that belong together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small, logical changes (atomic commits)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Write messages that say what changed and why, linked to an issue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Remotes — Clone, Fork, Push, Pull and Fetch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Getting the code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Origin — the default name for the shared repository on GitHub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Clone — for team members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Fork — for external contributors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Keeping in sync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Push — send your commits to GitHub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Pull — bring in colleagues' changes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Fetch — download changes without merging, so you can look first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Your Codespace signs you in to GitHub, so syncing is just pull and push. More on the daily workflow in Session 5.</a:t>
            </a:r>
          </a:p>
        </p:txBody>
      </p:sp>
      <p:pic>
        <p:nvPicPr>
          <p:cNvPr id="4" name="sync_flow.png" descr="Diagram: clone, fetch, pull and push between your computer and GitHu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1907560"/>
            <a:ext cx="5583291" cy="41874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.gitignore — Keeping Data 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Always exclude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Patient and sensitive data files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Credentials and connection files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Query result exports and local databases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Notebook checkpoints, Python caches and virtual environments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Make it a habit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.gitignore at the repository root on day one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Start from the team template and add project-specific exclusions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Never commit patient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Pull Requests and 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pull request workflow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branch → develop → open PR → automated checks → review → address feedback → approve and merge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What reviewers check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SQL — inclusion and exclusion criteria, date logic, aggregations, performance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Python — documented functions, error handling, stated assumptions, reproducible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Downstream impact on reports and dashboards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Conflicts and Rebasing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Why conflicts happen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Two people change the same lines of the same file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Notebooks conflict easily — JSON, metadata and outputs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Resolving safely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Pull often to prevent them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Edit the conflict markers, test the query, validate the results, then commit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Rebase to update your branch with the latest main</a:t>
            </a:r>
          </a:p>
        </p:txBody>
      </p:sp>
      <p:pic>
        <p:nvPicPr>
          <p:cNvPr id="4" name="conflict.png" descr="Diagram: two edits to the same line create a conflict, resolved in four step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1907560"/>
            <a:ext cx="5583291" cy="41874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Protected Branches and Branching Strategy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Protect main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Pull request and review required before merging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Status checks must pass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 direct pushes and no force pushes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Keep it simple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Simplified Git flow — main plus short-lived feature, bugfix and hotfix branches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Smaller pull requests get faster, better reviews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No data is stored in GitHub — code only.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Add your .gitignore and share it (5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Copy participants/_template/.gitignore into your folder and add one pattern of your own, for example *.log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notes.csv and check that git status does not list 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Commit, then push your branch (Codespaces signs you in for you)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a draft pull request into main (do not merge yet)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README.md and .gitignore on your pushed branch, with an open draft pull request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GitHub Cloud Interface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4 | 30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Finding Your Way Around a Repository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main tabs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Code — browse SQL, notebooks and documentation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Issues — data requests, bugs and tasks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Pull requests — review changes before merging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Actions — automated workflows and checks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Projects — boards for planning and tracking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Insights — contributor and activity statistics</a:t>
            </a:r>
          </a:p>
        </p:txBody>
      </p:sp>
      <p:pic>
        <p:nvPicPr>
          <p:cNvPr id="4" name="repo_mock.png" descr="Illustration of a repository page with its tabs: Code, Issues, Pull requests, Actions, Projects, Security, Insigh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2093669"/>
            <a:ext cx="5583291" cy="381524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Commits, Branches and Diffs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Understanding change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history — who changed what, when and why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Branches view — see and manage lines of work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Diffs — exactly what changed in a file or pull request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Blame — who last changed each line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Check a file's history before changing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Search and Navigation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Finding things fast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Repository search — code, issues, pull requests and commits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Global search across GitHub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File finder — press t inside a repository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Good daily habits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Check notifications for reviews and failed runs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Review diffs carefully in pull requests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Search for similar code before writing something new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Exercise: Repository Exploration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Steps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Clone the training repository and look at recent commits and pull requests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a branch named feature/yourname-exploration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Add a useful document or code snippet, then commit and push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a pull request and assign reviewers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Tick off each step on the checklist in the Session 4 notes.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See your work in the browser (3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your branch and your folder on github.com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Find your commits and read the diff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Use the web editor to add a link to your pull request in your README, committing to your branch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README.md updated from the browser, with a link to your pull request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Codespaces Workspace and File Management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5 | 30 minutes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Codespaces as Your Daily Workspace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Why Codespaces first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Nothing to install, so it works on locked-down NHS machines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Everyone gets the same Python tools and settings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Git is already signed in to your account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Your work stays on your branch in GitHub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 daily rhythm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your Codespace on your own branch and pull the latest main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Make small changes and commit often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Push before you finish, then stop the Codespace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Synthetic data only. A Codespace runs outside the Secure Data Environment.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Desktop (Optional)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 visual alternative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point-and-click way to clone, branch, commit and sync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Useful if you prefer it or work on a local machine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Why we start with Codespaces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Fewer installs and sign-in problems on training day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The same Git skills apply in both tools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Large Files and Git LFS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problem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GitHub recommends repositories under 1 GB, with a 100 MB limit per file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Datasets, models and reports quickly exceed this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Git LFS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Keeps small pointers in Git and the real file on a separate server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Use it for reference data and models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Never commit patient identifiable information — LFS does not change that.</a:t>
            </a:r>
          </a:p>
        </p:txBody>
      </p:sp>
      <p:pic>
        <p:nvPicPr>
          <p:cNvPr id="4" name="lfs.png" descr="Diagram: Git stores a small pointer file while LFS storage holds the large fi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2093669"/>
            <a:ext cx="5583291" cy="381524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Daily Workflow and Good Habits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 good day in a Codespace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Pull the latest main at the start of the day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Use focused feature branches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often with descriptive messages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Review the diff in the Source Control view before committing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Push at the end of the day, then stop your Codespace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Managing files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Clear notebook outputs before committing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Document data sources and dependencies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Add notes from your Codespace (4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Reopen your Codespace on your branch and run git pull to pick up the web edit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Copy Participant_Pack/04_My_Notes_Template.md into your folder as notes.md and fill in Sessions 1 to 5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data.csv with five made-up rows and check the Source Control view does not list 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and push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notes.md added; data.csv is ignored and never appears as a change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VS Code Integration and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6 | 30 minutes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Why VS Code + GitHub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One window for everything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Code, issues and pull requests side by side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Integrated terminal and linting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Commits and reviews captured alongside the code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Easier to enforce team standards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Essential extensions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GitHub Pull Requests and Issues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Python and Jupyter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GitHub Copilot, if licensed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Quick Start Workflow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From clone to merge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Clone the repository and create a feature branch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Make small changes, then stage and commit with a message referencing the issue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Sync changes (or publish the branch the first time)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the pull request from the GitHub Pull Requests view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Address review comments, merge, then pull the latest main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Notebook Hygiene and Security Checks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Notebooks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Clear outputs before you commit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Keep paths in environment variables, not code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Move reusable logic into .py modules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Top security checks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 identifiable patient data pushed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Secrets in environment variables or GitHub secrets — never in code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Branch protection with required reviews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Keep dependencies updated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Running SQL Against the Academy Dataset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ndr-hb-abuhb-academy project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Google Cloud project for training, with a SQL_Basic_Training dataset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Your SQL lives in Git as a file, so every change is tracked and reviewed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Three habits from the script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Preview with SELECT * and always add LIMIT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Name only the columns you need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Use SELECT DISTINCT for a unique list of values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BigQuery needs backticks round a table name with hyphens. Never commit results or data.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Codespaces vs Local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Prefer a Codespace when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Onboarding new joiners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Reviewing with identical tooling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You want least-privilege, scoped secrets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Prefer local when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Working with heavy compute or large datasets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The network is unreliable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We try Codespaces hands-on in Session 8.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Add a clean notebook and your SQL (7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starter.ipynb with one cell that prints a greeting, run it, then clear all outputs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Copy Training/exercises/sql-basics/referrals_basics.sql into your folder as referrals.sql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Run the queries in the BigQuery console, then change one and run it again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and push both files from the Source Control view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starter.ipynb with outputs cleared, and referrals.sql, committed and pushed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Issues, Projects and Discussions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7 | 35 minutes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Issues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team's to-do list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Track bugs, feature requests, data issues and project tasks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Assign owners, add labels and set milestones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Link to code: writing "closes #12" in a commit closes the issue on merge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Effective issues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Use templates — clinical context, description, acceptance criteria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Make the definition of done clear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The Issue Lifecycle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11234792" cy="2222500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From request to closure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and triage — categorise and assign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Investigate and plan — feasibility, data sources, governance review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Develop — feature branch linked to the issue, with review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Validate and deploy — stakeholder testing and data quality checks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Close — acceptance, documentation and lessons learned</a:t>
            </a:r>
          </a:p>
        </p:txBody>
      </p:sp>
      <p:pic>
        <p:nvPicPr>
          <p:cNvPr id="4" name="lifecycle.png" descr="Flow: issue, branch, commits, pull request, review, merge, issue clos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917" y="4111625"/>
            <a:ext cx="8136180" cy="206533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Projects: A Lightweight 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Five-minute setup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Columns: Backlog, In Progress, Review, Blocked, Done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Fields: priority, target date and owner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Keep labels to about 12 in total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Simple automation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New labelled issues go to Backlog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merged pull request moves its issue to Done</a:t>
            </a:r>
          </a:p>
        </p:txBody>
      </p:sp>
      <p:pic>
        <p:nvPicPr>
          <p:cNvPr id="4" name="kanban.png" descr="Illustration of a Kanban board with To do, In progress and Done colum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2093669"/>
            <a:ext cx="5583291" cy="381524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Actions for Automation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What can be automated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Data quality and freshness checks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Scheduled monthly or quarterly reports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Unit tests for calculations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Notifications to Teams or email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Actions are workflow files stored in the repository, so automation is reviewed like any other code.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Advanced Security: What It 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Two products, both for private repositories on paid plans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Secret Protection — secret scanning, push protection and custom patterns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Code Security — code scanning with CodeQL, Copilot Autofix, dependency review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Available on every plan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Dependency graph, Dependabot alerts and Dependabot updates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Both products are available to ABUHB private repositories. The GitHub admin team switches them on per repository.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How Advanced Security Protects Your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At each step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Push protection stops a secret before it reaches GitHub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Code scanning and dependency review check every pull request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Secret scanning and Dependabot keep watching after merge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Why it matters to us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pushed secret is exposed, so revoke it first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It helps keep credentials and patient data out of code</a:t>
            </a:r>
          </a:p>
        </p:txBody>
      </p:sp>
      <p:pic>
        <p:nvPicPr>
          <p:cNvPr id="4" name="security_pipeline.png" descr="Diagram: security checks when you write, push, open a pull request and after mer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1907560"/>
            <a:ext cx="5583291" cy="418746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Reading and Acting on Security Alerts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Where to look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The Security tab of the repository lists every alert, with severity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Pull request checks show new problems before they merge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What to do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Secret alert — revoke the secret, tell the admin team, then clean up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Code alert — read the explanation, fix it, or review a Copilot Autofix suggestion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Dependency alert — merge the Dependabot pull request after the tests pass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Dismiss only with a reason that a colleague could check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An alert is a prompt to act, not a verdict. A human decides.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Raise an issue and pin your tools (5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an issue titled Area: &lt;your-folder&gt; with a checklist of what you have added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Add requirements.txt listing pandas and matplotlib with the versions you choose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Link the issue from your pull request by writing Closes #&lt;issue number&gt;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the Security tab and note which alert types are switched on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requirements.txt added; your pull request linked to your issue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Codespaces and Copilot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8 | 45 minutes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What is a GitHub Codespace?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VS Code in the cloud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ready-to-use development environment, opened from a repository in your browser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Python, packages and extensions are installed for you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 local installation — start coding in minutes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Why use one?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Everyone gets the same environment — no "works on my machine"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Great for onboarding, quick fixes and reviewing pull requests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Your work is committed back to the repository with Git</a:t>
            </a:r>
          </a:p>
        </p:txBody>
      </p:sp>
      <p:pic>
        <p:nvPicPr>
          <p:cNvPr id="4" name="codespace_arch.png" descr="Diagram: a browser connects to a Codespace built from the devcontainer file in the reposit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1907560"/>
            <a:ext cx="5583291" cy="418746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Codespaces: Launching and Lifecycle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Launching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Repository → Code → Codespaces → Create codespace on main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a branch before you change anything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 2-core machine is plenty for today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Lifecycle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Running → Stopped → Deleted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Stop it when you finish — stopped Codespaces don't use compute time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and push first; uncommitted work is lost if a Codespace is deleted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Dev Containers: Same Environment for Everyone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One file defines the environment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.devcontainer/devcontainer.json lives in the repository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Sets the Python version, extensions, ports and setup commands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Change the file in a pull request, and everyone gets the new setup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Today's setup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Python 3.11 with pandas, matplotlib and Streamlit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Copilot and Pull Request extensions pre-installed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Port 8501 forwarded for the Streamlit app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What Belongs in a Codespace?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Safe to use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Code, documentation and notebooks with outputs cleared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Synthetic or fully anonymised sample data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Never use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Patient-identifiable data, extracts or NHS numbers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Passwords, tokens or keys in files — use Codespaces secrets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A Codespace runs in GitHub's cloud, outside the Secure Data Environment. Real data stays in the SDE.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GitHub Copilot: Suggest, Chat and Slash Commands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Inline suggestions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Write a comment or function name — Copilot suggests the code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Press Tab to accept, Esc to dismiss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Copilot Chat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Ask questions about your code, data or errors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/explain, /fix, /tests and /doc for common jobs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Shared repository instructions keep answers consistent (.github/copilot-instructions.md)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Prompting and Reviewing Copilot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Get better answers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Give context — the columns, the metric definition, the output you want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Work in small steps and iterate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Ask Copilot to explain code you don't understand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 are the reviewer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Never accept code you can't explain — Copilot can be confidently wrong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Check definitions, totals and invented functions, then test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No patient data or secrets in prompts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Exercise: Choose Your Track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scenario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Which clinics and patient groups have the highest DNA (did not attend) rates, and is it changing through the year?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Synthetic outpatient dataset — 3,000 appointments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Pick one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Track A — Analysis. Python script that checks the data, calculates DNA rates and saves a chart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Track B — UI. A Streamlit app with filters, headline numbers and charts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DNA rate = DNA ÷ (Attended + DNA). Cancelled appointments are excluded.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Exercise: Build with Copilot (25 minutes)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Steps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a Codespace and create your own branch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Ask Copilot to explain the data columns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Build your track in small steps, reading every suggestion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Run it — python for Track A, streamlit run for Track B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Commit, push and open a pull request for a neighbour to review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Stop your Codespace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Full guide: Training/exercises/codespaces-copilot/README.md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Exercise: Review and Share 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Check Copilot's work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Does the DNA rate exclude cancelled appointments?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Do the totals add up to 3,000 appointments?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Any invented columns or functions? Does it run?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Could you explain every line to a colleague?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Share back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Track chosen, and one thing Copilot did well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One thing Copilot got wrong or you had to fix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Would you use this at work?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How This Fits with the Secure Data Environment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611" y="1825625"/>
            <a:ext cx="5461000" cy="4351338"/>
          </a:xfrm>
        </p:spPr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Two places, two jobs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GitHub and Codespaces — code, documentation and synthetic data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Secure Data Environment on GCP — real data, queries and notebooks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The path to real data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Develop and test with Copilot on synthetic data in a Codespace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Review through a pull request and merge to main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Run the reviewed code inside the SDE, against real data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2060"/>
                </a:solidFill>
                <a:latin typeface="Arial"/>
              </a:rPr>
              <a:t>Code moves to the data. Data never moves to the code.</a:t>
            </a:r>
          </a:p>
        </p:txBody>
      </p:sp>
      <p:pic>
        <p:nvPicPr>
          <p:cNvPr id="4" name="sde_fit.png" descr="Diagram: code moves from GitHub to the Secure Data Environment; real data never leaves 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111" y="1907560"/>
            <a:ext cx="5583291" cy="418746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8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Do the exercise in your own folder (25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a Codespace on your branch training/&lt;your-folder&gt;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participants/&lt;your-folder&gt;/dna-analysis and work there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Commit at least twice with clear messages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Push when you have worked through the review checklist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dna-analysis with your code, a short README and a note of the Copilot prompts you used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Group Exercises and Consolidation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01B0FF"/>
                </a:solidFill>
                <a:latin typeface="Arial"/>
              </a:rPr>
              <a:t>Session 9 | 25 minutes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What We've Covered Today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Foundations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Why GitHub, and how GIT works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Branching, pull requests and conflict resolution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The web interface, GitHub Desktop and VS Code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Collaboration and tools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Issues, Projects and Actions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Codespaces and Copilot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Group Exercise: Issue to Merge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In groups of three or four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Choose ONE small scenario — a README checklist, a typo fix or a SQL snippet in the docs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an issue using the template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Create a feature branch and make a small change that references the issue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Open a pull request — a teammate reviews with one comment and approves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Merge and check the issue closes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4546A"/>
                </a:solidFill>
                <a:latin typeface="Arial"/>
              </a:rPr>
              <a:t>Use the provided training repository. No new repositories are needed.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Share 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Each team tells us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Which scenario you chose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How long it took from issue to merge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One friction point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One suggested improvement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In the next week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Make sure your GitHub account and organisation access are set up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Explore repositories relevant to your work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In the next month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Practise the basic workflow regularly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Use GitHub for at least one real work project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Find a colleague to learn with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Arial"/>
              </a:rPr>
              <a:t>Your Area: Checkpoint 9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Merge your area (15 minutes)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Update your pull request description with a summary of what your area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Review a partner's pull request with the checklist and leave one useful comment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Resolve any conflicts and merge once approved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Check that your row in the participants README matches what you built</a:t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44546A"/>
                </a:solidFill>
                <a:latin typeface="Arial"/>
              </a:rPr>
              <a:t/>
            </a: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2060"/>
                </a:solidFill>
                <a:latin typeface="Arial"/>
              </a:rPr>
              <a:t>Your folder now contains</a:t>
            </a:r>
          </a:p>
          <a:p>
            <a:pPr marL="3429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546A"/>
              </a:buClr>
              <a:buSzPts val="1600"/>
              <a:buFont typeface="Arial"/>
              <a:buChar char="•"/>
            </a:pPr>
            <a:r>
              <a:rPr sz="1600" b="0">
                <a:solidFill>
                  <a:srgbClr val="44546A"/>
                </a:solidFill>
                <a:latin typeface="Arial"/>
              </a:rPr>
              <a:t>Everything merged into main: a complete record of your day's work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Questions? Raise a GitHub issue or contact the GitHub admin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test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2060"/>
      </a:accent1>
      <a:accent2>
        <a:srgbClr val="A5A5A5"/>
      </a:accent2>
      <a:accent3>
        <a:srgbClr val="01B0FF"/>
      </a:accent3>
      <a:accent4>
        <a:srgbClr val="3271E2"/>
      </a:accent4>
      <a:accent5>
        <a:srgbClr val="26508E"/>
      </a:accent5>
      <a:accent6>
        <a:srgbClr val="DE0000"/>
      </a:accent6>
      <a:hlink>
        <a:srgbClr val="0000FF"/>
      </a:hlink>
      <a:folHlink>
        <a:srgbClr val="7030A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GitHub for Analytics and Data Teams</dc:title>
  <cp:lastModifiedBy>python-pptx</cp:lastModifiedBy>
  <cp:revision>1</cp:revision>
  <dcterms:modified xsi:type="dcterms:W3CDTF">2026-10-19T07:12:21Z</dcterms:modified>
  <dc:creator>ABUHB Business Intelligence</dc:creator>
</cp:coreProperties>
</file>